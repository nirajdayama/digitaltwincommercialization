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9" r:id="rId2"/>
    <p:sldId id="292" r:id="rId3"/>
    <p:sldId id="326" r:id="rId4"/>
    <p:sldId id="319" r:id="rId5"/>
    <p:sldId id="310" r:id="rId6"/>
    <p:sldId id="320" r:id="rId7"/>
    <p:sldId id="321" r:id="rId8"/>
    <p:sldId id="324" r:id="rId9"/>
    <p:sldId id="327" r:id="rId10"/>
    <p:sldId id="291" r:id="rId11"/>
    <p:sldId id="293" r:id="rId12"/>
    <p:sldId id="325" r:id="rId13"/>
    <p:sldId id="313" r:id="rId14"/>
    <p:sldId id="301" r:id="rId15"/>
    <p:sldId id="314" r:id="rId16"/>
    <p:sldId id="304" r:id="rId17"/>
    <p:sldId id="328" r:id="rId18"/>
    <p:sldId id="309" r:id="rId19"/>
    <p:sldId id="315" r:id="rId20"/>
    <p:sldId id="329" r:id="rId21"/>
    <p:sldId id="303" r:id="rId22"/>
    <p:sldId id="332" r:id="rId23"/>
    <p:sldId id="331" r:id="rId24"/>
    <p:sldId id="330" r:id="rId25"/>
    <p:sldId id="316" r:id="rId26"/>
    <p:sldId id="294" r:id="rId27"/>
    <p:sldId id="30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FFCC"/>
    <a:srgbClr val="CCFFCC"/>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52168-FB83-4C30-BD89-1B991B3C2419}" v="2" dt="2026-05-04T13:16:18.0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45" autoAdjust="0"/>
    <p:restoredTop sz="94660"/>
  </p:normalViewPr>
  <p:slideViewPr>
    <p:cSldViewPr snapToGrid="0">
      <p:cViewPr varScale="1">
        <p:scale>
          <a:sx n="111" d="100"/>
          <a:sy n="111" d="100"/>
        </p:scale>
        <p:origin x="66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Sheet1!$B$1</c:f>
              <c:strCache>
                <c:ptCount val="1"/>
                <c:pt idx="0">
                  <c:v>Large IT</c:v>
                </c:pt>
              </c:strCache>
            </c:strRef>
          </c:tx>
          <c:spPr>
            <a:ln w="28575" cap="rnd">
              <a:solidFill>
                <a:schemeClr val="accent1"/>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Sheet1!$B$2:$B$6</c:f>
              <c:numCache>
                <c:formatCode>General</c:formatCode>
                <c:ptCount val="5"/>
                <c:pt idx="0">
                  <c:v>10</c:v>
                </c:pt>
                <c:pt idx="1">
                  <c:v>3</c:v>
                </c:pt>
                <c:pt idx="2">
                  <c:v>2</c:v>
                </c:pt>
                <c:pt idx="3">
                  <c:v>1</c:v>
                </c:pt>
                <c:pt idx="4">
                  <c:v>7</c:v>
                </c:pt>
              </c:numCache>
            </c:numRef>
          </c:val>
          <c:extLst>
            <c:ext xmlns:c16="http://schemas.microsoft.com/office/drawing/2014/chart" uri="{C3380CC4-5D6E-409C-BE32-E72D297353CC}">
              <c16:uniqueId val="{00000000-F5D3-418E-8682-D9DE6FCA8B65}"/>
            </c:ext>
          </c:extLst>
        </c:ser>
        <c:ser>
          <c:idx val="1"/>
          <c:order val="1"/>
          <c:tx>
            <c:strRef>
              <c:f>Sheet1!$C$1</c:f>
              <c:strCache>
                <c:ptCount val="1"/>
                <c:pt idx="0">
                  <c:v>Niche</c:v>
                </c:pt>
              </c:strCache>
            </c:strRef>
          </c:tx>
          <c:spPr>
            <a:ln w="28575" cap="rnd">
              <a:solidFill>
                <a:schemeClr val="tx2">
                  <a:lumMod val="25000"/>
                  <a:lumOff val="75000"/>
                </a:schemeClr>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Sheet1!$C$2:$C$6</c:f>
              <c:numCache>
                <c:formatCode>General</c:formatCode>
                <c:ptCount val="5"/>
                <c:pt idx="0">
                  <c:v>6</c:v>
                </c:pt>
                <c:pt idx="1">
                  <c:v>6</c:v>
                </c:pt>
                <c:pt idx="2">
                  <c:v>10</c:v>
                </c:pt>
                <c:pt idx="3">
                  <c:v>7</c:v>
                </c:pt>
                <c:pt idx="4">
                  <c:v>5</c:v>
                </c:pt>
              </c:numCache>
            </c:numRef>
          </c:val>
          <c:extLst>
            <c:ext xmlns:c16="http://schemas.microsoft.com/office/drawing/2014/chart" uri="{C3380CC4-5D6E-409C-BE32-E72D297353CC}">
              <c16:uniqueId val="{00000001-F5D3-418E-8682-D9DE6FCA8B65}"/>
            </c:ext>
          </c:extLst>
        </c:ser>
        <c:ser>
          <c:idx val="2"/>
          <c:order val="2"/>
          <c:tx>
            <c:strRef>
              <c:f>Sheet1!$D$1</c:f>
              <c:strCache>
                <c:ptCount val="1"/>
                <c:pt idx="0">
                  <c:v>Experts</c:v>
                </c:pt>
              </c:strCache>
            </c:strRef>
          </c:tx>
          <c:spPr>
            <a:ln w="28575" cap="rnd">
              <a:solidFill>
                <a:srgbClr val="FFFF00"/>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Sheet1!$D$2:$D$6</c:f>
              <c:numCache>
                <c:formatCode>General</c:formatCode>
                <c:ptCount val="5"/>
                <c:pt idx="0">
                  <c:v>3</c:v>
                </c:pt>
                <c:pt idx="1">
                  <c:v>10</c:v>
                </c:pt>
                <c:pt idx="2">
                  <c:v>6</c:v>
                </c:pt>
                <c:pt idx="3">
                  <c:v>3</c:v>
                </c:pt>
                <c:pt idx="4">
                  <c:v>2</c:v>
                </c:pt>
              </c:numCache>
            </c:numRef>
          </c:val>
          <c:extLst>
            <c:ext xmlns:c16="http://schemas.microsoft.com/office/drawing/2014/chart" uri="{C3380CC4-5D6E-409C-BE32-E72D297353CC}">
              <c16:uniqueId val="{00000003-F5D3-418E-8682-D9DE6FCA8B65}"/>
            </c:ext>
          </c:extLst>
        </c:ser>
        <c:ser>
          <c:idx val="3"/>
          <c:order val="3"/>
          <c:tx>
            <c:strRef>
              <c:f>Sheet1!$E$1</c:f>
              <c:strCache>
                <c:ptCount val="1"/>
                <c:pt idx="0">
                  <c:v>Other</c:v>
                </c:pt>
              </c:strCache>
            </c:strRef>
          </c:tx>
          <c:spPr>
            <a:ln w="28575" cap="rnd">
              <a:solidFill>
                <a:schemeClr val="tx1">
                  <a:lumMod val="75000"/>
                  <a:lumOff val="25000"/>
                </a:schemeClr>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Sheet1!$E$2:$E$6</c:f>
              <c:numCache>
                <c:formatCode>General</c:formatCode>
                <c:ptCount val="5"/>
                <c:pt idx="0">
                  <c:v>1</c:v>
                </c:pt>
                <c:pt idx="1">
                  <c:v>4</c:v>
                </c:pt>
                <c:pt idx="2">
                  <c:v>8</c:v>
                </c:pt>
                <c:pt idx="3">
                  <c:v>2</c:v>
                </c:pt>
                <c:pt idx="4">
                  <c:v>10</c:v>
                </c:pt>
              </c:numCache>
            </c:numRef>
          </c:val>
          <c:extLst>
            <c:ext xmlns:c16="http://schemas.microsoft.com/office/drawing/2014/chart" uri="{C3380CC4-5D6E-409C-BE32-E72D297353CC}">
              <c16:uniqueId val="{00000005-F5D3-418E-8682-D9DE6FCA8B65}"/>
            </c:ext>
          </c:extLst>
        </c:ser>
        <c:ser>
          <c:idx val="4"/>
          <c:order val="4"/>
          <c:tx>
            <c:strRef>
              <c:f>Sheet1!$F$1</c:f>
              <c:strCache>
                <c:ptCount val="1"/>
                <c:pt idx="0">
                  <c:v>Aspired</c:v>
                </c:pt>
              </c:strCache>
            </c:strRef>
          </c:tx>
          <c:spPr>
            <a:ln w="28575" cap="rnd">
              <a:solidFill>
                <a:srgbClr val="00B050"/>
              </a:solidFill>
              <a:round/>
            </a:ln>
            <a:effectLst/>
          </c:spPr>
          <c:marker>
            <c:symbol val="none"/>
          </c:marker>
          <c:dPt>
            <c:idx val="4"/>
            <c:marker>
              <c:symbol val="none"/>
            </c:marker>
            <c:bubble3D val="0"/>
            <c:spPr>
              <a:ln w="57150" cap="rnd">
                <a:solidFill>
                  <a:srgbClr val="00B050"/>
                </a:solidFill>
                <a:round/>
              </a:ln>
              <a:effectLst/>
            </c:spPr>
            <c:extLst>
              <c:ext xmlns:c16="http://schemas.microsoft.com/office/drawing/2014/chart" uri="{C3380CC4-5D6E-409C-BE32-E72D297353CC}">
                <c16:uniqueId val="{00000007-F5D3-418E-8682-D9DE6FCA8B65}"/>
              </c:ext>
            </c:extLst>
          </c:dPt>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Sheet1!$F$2:$F$6</c:f>
              <c:numCache>
                <c:formatCode>General</c:formatCode>
                <c:ptCount val="5"/>
                <c:pt idx="0">
                  <c:v>4</c:v>
                </c:pt>
                <c:pt idx="1">
                  <c:v>8</c:v>
                </c:pt>
                <c:pt idx="2">
                  <c:v>9</c:v>
                </c:pt>
                <c:pt idx="3">
                  <c:v>10</c:v>
                </c:pt>
                <c:pt idx="4">
                  <c:v>7</c:v>
                </c:pt>
              </c:numCache>
            </c:numRef>
          </c:val>
          <c:extLst>
            <c:ext xmlns:c16="http://schemas.microsoft.com/office/drawing/2014/chart" uri="{C3380CC4-5D6E-409C-BE32-E72D297353CC}">
              <c16:uniqueId val="{00000006-F5D3-418E-8682-D9DE6FCA8B65}"/>
            </c:ext>
          </c:extLst>
        </c:ser>
        <c:dLbls>
          <c:showLegendKey val="0"/>
          <c:showVal val="0"/>
          <c:showCatName val="0"/>
          <c:showSerName val="0"/>
          <c:showPercent val="0"/>
          <c:showBubbleSize val="0"/>
        </c:dLbls>
        <c:axId val="721462991"/>
        <c:axId val="721448847"/>
      </c:radarChart>
      <c:catAx>
        <c:axId val="72146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721448847"/>
        <c:crosses val="autoZero"/>
        <c:auto val="1"/>
        <c:lblAlgn val="ctr"/>
        <c:lblOffset val="100"/>
        <c:noMultiLvlLbl val="0"/>
      </c:catAx>
      <c:valAx>
        <c:axId val="721448847"/>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21462991"/>
        <c:crosses val="autoZero"/>
        <c:crossBetween val="between"/>
      </c:valAx>
      <c:spPr>
        <a:noFill/>
        <a:ln>
          <a:noFill/>
        </a:ln>
        <a:effectLst/>
      </c:spPr>
    </c:plotArea>
    <c:legend>
      <c:legendPos val="b"/>
      <c:layout>
        <c:manualLayout>
          <c:xMode val="edge"/>
          <c:yMode val="edge"/>
          <c:x val="0.1218767713221456"/>
          <c:y val="0.91932390153831856"/>
          <c:w val="0.82742221906023194"/>
          <c:h val="6.119483476973869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AFDF4D-4719-4122-9831-93B4B62A0B0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ACF98E5A-7D8F-4CE8-873C-90F5D7EE61F4}">
      <dgm:prSet phldrT="[Text]"/>
      <dgm:spPr>
        <a:solidFill>
          <a:schemeClr val="bg1">
            <a:lumMod val="65000"/>
          </a:schemeClr>
        </a:solidFill>
      </dgm:spPr>
      <dgm:t>
        <a:bodyPr/>
        <a:lstStyle/>
        <a:p>
          <a:r>
            <a:rPr lang="en-US" dirty="0"/>
            <a:t>Understand current process</a:t>
          </a:r>
        </a:p>
      </dgm:t>
    </dgm:pt>
    <dgm:pt modelId="{26007166-2B9B-4C72-9440-30739FDEB0C3}" type="parTrans" cxnId="{CE5B923B-2AE1-4F52-9B4D-0FC68A7340DE}">
      <dgm:prSet/>
      <dgm:spPr/>
      <dgm:t>
        <a:bodyPr/>
        <a:lstStyle/>
        <a:p>
          <a:endParaRPr lang="en-US"/>
        </a:p>
      </dgm:t>
    </dgm:pt>
    <dgm:pt modelId="{A316F699-F880-482B-AAB7-A6F041706CE6}" type="sibTrans" cxnId="{CE5B923B-2AE1-4F52-9B4D-0FC68A7340DE}">
      <dgm:prSet/>
      <dgm:spPr>
        <a:solidFill>
          <a:schemeClr val="accent2">
            <a:lumMod val="75000"/>
          </a:schemeClr>
        </a:solidFill>
      </dgm:spPr>
      <dgm:t>
        <a:bodyPr/>
        <a:lstStyle/>
        <a:p>
          <a:endParaRPr lang="en-US"/>
        </a:p>
      </dgm:t>
    </dgm:pt>
    <dgm:pt modelId="{2DAFB895-7202-4314-8923-A3A49A6E8BEE}">
      <dgm:prSet phldrT="[Text]"/>
      <dgm:spPr/>
      <dgm:t>
        <a:bodyPr/>
        <a:lstStyle/>
        <a:p>
          <a:r>
            <a:rPr lang="en-US" dirty="0"/>
            <a:t>Develop a Digital Twin</a:t>
          </a:r>
        </a:p>
      </dgm:t>
    </dgm:pt>
    <dgm:pt modelId="{A6644480-D213-4609-85CD-3AC8E854FCA7}" type="parTrans" cxnId="{0E8FD283-8EE3-4E0B-AC8D-DD9CEE165019}">
      <dgm:prSet/>
      <dgm:spPr/>
      <dgm:t>
        <a:bodyPr/>
        <a:lstStyle/>
        <a:p>
          <a:endParaRPr lang="en-US"/>
        </a:p>
      </dgm:t>
    </dgm:pt>
    <dgm:pt modelId="{D280F034-0891-4079-A051-6E301BD8AD9E}" type="sibTrans" cxnId="{0E8FD283-8EE3-4E0B-AC8D-DD9CEE165019}">
      <dgm:prSet/>
      <dgm:spPr>
        <a:solidFill>
          <a:schemeClr val="accent2">
            <a:lumMod val="75000"/>
          </a:schemeClr>
        </a:solidFill>
      </dgm:spPr>
      <dgm:t>
        <a:bodyPr/>
        <a:lstStyle/>
        <a:p>
          <a:endParaRPr lang="en-US"/>
        </a:p>
      </dgm:t>
    </dgm:pt>
    <dgm:pt modelId="{FAB3EC1E-4B3B-41B1-9A73-C0C7A0069579}">
      <dgm:prSet phldrT="[Text]"/>
      <dgm:spPr>
        <a:solidFill>
          <a:schemeClr val="tx1">
            <a:lumMod val="65000"/>
            <a:lumOff val="35000"/>
          </a:schemeClr>
        </a:solidFill>
      </dgm:spPr>
      <dgm:t>
        <a:bodyPr/>
        <a:lstStyle/>
        <a:p>
          <a:r>
            <a:rPr lang="en-US" dirty="0"/>
            <a:t>Validate and confirm the twin</a:t>
          </a:r>
        </a:p>
      </dgm:t>
    </dgm:pt>
    <dgm:pt modelId="{39AA8E29-8850-436E-97BD-CC864053BD3B}" type="parTrans" cxnId="{CCB576B4-577F-46F9-9263-77216BCA2578}">
      <dgm:prSet/>
      <dgm:spPr/>
      <dgm:t>
        <a:bodyPr/>
        <a:lstStyle/>
        <a:p>
          <a:endParaRPr lang="en-US"/>
        </a:p>
      </dgm:t>
    </dgm:pt>
    <dgm:pt modelId="{6E21AAB9-315D-4A0C-A165-32CCCF0F13AE}" type="sibTrans" cxnId="{CCB576B4-577F-46F9-9263-77216BCA2578}">
      <dgm:prSet/>
      <dgm:spPr>
        <a:solidFill>
          <a:schemeClr val="accent2">
            <a:lumMod val="75000"/>
          </a:schemeClr>
        </a:solidFill>
      </dgm:spPr>
      <dgm:t>
        <a:bodyPr/>
        <a:lstStyle/>
        <a:p>
          <a:endParaRPr lang="en-US"/>
        </a:p>
      </dgm:t>
    </dgm:pt>
    <dgm:pt modelId="{A75A2429-C57F-4378-9AE8-8B1965B3B274}">
      <dgm:prSet phldrT="[Text]"/>
      <dgm:spPr>
        <a:solidFill>
          <a:schemeClr val="tx1">
            <a:lumMod val="65000"/>
            <a:lumOff val="35000"/>
          </a:schemeClr>
        </a:solidFill>
      </dgm:spPr>
      <dgm:t>
        <a:bodyPr/>
        <a:lstStyle/>
        <a:p>
          <a:r>
            <a:rPr lang="en-US" dirty="0"/>
            <a:t>Actual Optimization improvement</a:t>
          </a:r>
        </a:p>
      </dgm:t>
    </dgm:pt>
    <dgm:pt modelId="{98D75A5F-6B85-4907-A644-FE68787486F1}" type="parTrans" cxnId="{8ACC162C-AB8B-4824-820C-13ACB368390F}">
      <dgm:prSet/>
      <dgm:spPr/>
      <dgm:t>
        <a:bodyPr/>
        <a:lstStyle/>
        <a:p>
          <a:endParaRPr lang="en-US"/>
        </a:p>
      </dgm:t>
    </dgm:pt>
    <dgm:pt modelId="{0AB9FF3B-3C43-4CF6-95E6-E5C5FB9D6033}" type="sibTrans" cxnId="{8ACC162C-AB8B-4824-820C-13ACB368390F}">
      <dgm:prSet/>
      <dgm:spPr/>
      <dgm:t>
        <a:bodyPr/>
        <a:lstStyle/>
        <a:p>
          <a:endParaRPr lang="en-US"/>
        </a:p>
      </dgm:t>
    </dgm:pt>
    <dgm:pt modelId="{23E7BF6B-7779-4CBC-ABCE-E57B0B03B3D9}" type="pres">
      <dgm:prSet presAssocID="{9DAFDF4D-4719-4122-9831-93B4B62A0B05}" presName="Name0" presStyleCnt="0">
        <dgm:presLayoutVars>
          <dgm:dir/>
          <dgm:resizeHandles val="exact"/>
        </dgm:presLayoutVars>
      </dgm:prSet>
      <dgm:spPr/>
    </dgm:pt>
    <dgm:pt modelId="{A9B0B0C4-723C-4DE5-BE1A-2ADC8B251CBF}" type="pres">
      <dgm:prSet presAssocID="{ACF98E5A-7D8F-4CE8-873C-90F5D7EE61F4}" presName="node" presStyleLbl="node1" presStyleIdx="0" presStyleCnt="4">
        <dgm:presLayoutVars>
          <dgm:bulletEnabled val="1"/>
        </dgm:presLayoutVars>
      </dgm:prSet>
      <dgm:spPr/>
    </dgm:pt>
    <dgm:pt modelId="{E7762D72-A347-48FE-B6AB-72E1F7D1B7AB}" type="pres">
      <dgm:prSet presAssocID="{A316F699-F880-482B-AAB7-A6F041706CE6}" presName="sibTrans" presStyleLbl="sibTrans2D1" presStyleIdx="0" presStyleCnt="3"/>
      <dgm:spPr/>
    </dgm:pt>
    <dgm:pt modelId="{28B23DC4-9242-4F36-86C5-7895D5F8EAC5}" type="pres">
      <dgm:prSet presAssocID="{A316F699-F880-482B-AAB7-A6F041706CE6}" presName="connectorText" presStyleLbl="sibTrans2D1" presStyleIdx="0" presStyleCnt="3"/>
      <dgm:spPr/>
    </dgm:pt>
    <dgm:pt modelId="{0384B6B7-2599-4C3E-8257-FDB1935B8021}" type="pres">
      <dgm:prSet presAssocID="{2DAFB895-7202-4314-8923-A3A49A6E8BEE}" presName="node" presStyleLbl="node1" presStyleIdx="1" presStyleCnt="4">
        <dgm:presLayoutVars>
          <dgm:bulletEnabled val="1"/>
        </dgm:presLayoutVars>
      </dgm:prSet>
      <dgm:spPr/>
    </dgm:pt>
    <dgm:pt modelId="{B51EC7E7-8359-47B2-93F9-33D3A85183B6}" type="pres">
      <dgm:prSet presAssocID="{D280F034-0891-4079-A051-6E301BD8AD9E}" presName="sibTrans" presStyleLbl="sibTrans2D1" presStyleIdx="1" presStyleCnt="3"/>
      <dgm:spPr/>
    </dgm:pt>
    <dgm:pt modelId="{90537BDF-55F9-41CD-935A-922FD232C313}" type="pres">
      <dgm:prSet presAssocID="{D280F034-0891-4079-A051-6E301BD8AD9E}" presName="connectorText" presStyleLbl="sibTrans2D1" presStyleIdx="1" presStyleCnt="3"/>
      <dgm:spPr/>
    </dgm:pt>
    <dgm:pt modelId="{91C81891-6761-4910-9D18-8A65F2D09B6F}" type="pres">
      <dgm:prSet presAssocID="{FAB3EC1E-4B3B-41B1-9A73-C0C7A0069579}" presName="node" presStyleLbl="node1" presStyleIdx="2" presStyleCnt="4">
        <dgm:presLayoutVars>
          <dgm:bulletEnabled val="1"/>
        </dgm:presLayoutVars>
      </dgm:prSet>
      <dgm:spPr/>
    </dgm:pt>
    <dgm:pt modelId="{461A5BF1-48F6-4F9B-B565-CA9D348BB217}" type="pres">
      <dgm:prSet presAssocID="{6E21AAB9-315D-4A0C-A165-32CCCF0F13AE}" presName="sibTrans" presStyleLbl="sibTrans2D1" presStyleIdx="2" presStyleCnt="3"/>
      <dgm:spPr/>
    </dgm:pt>
    <dgm:pt modelId="{AC3F96A1-B879-4038-B2D3-137F084610C2}" type="pres">
      <dgm:prSet presAssocID="{6E21AAB9-315D-4A0C-A165-32CCCF0F13AE}" presName="connectorText" presStyleLbl="sibTrans2D1" presStyleIdx="2" presStyleCnt="3"/>
      <dgm:spPr/>
    </dgm:pt>
    <dgm:pt modelId="{11330062-9CEC-41AF-9B99-3BFECF754E1C}" type="pres">
      <dgm:prSet presAssocID="{A75A2429-C57F-4378-9AE8-8B1965B3B274}" presName="node" presStyleLbl="node1" presStyleIdx="3" presStyleCnt="4">
        <dgm:presLayoutVars>
          <dgm:bulletEnabled val="1"/>
        </dgm:presLayoutVars>
      </dgm:prSet>
      <dgm:spPr/>
    </dgm:pt>
  </dgm:ptLst>
  <dgm:cxnLst>
    <dgm:cxn modelId="{82AE6208-62F1-4C3C-B028-0CF2E56D102C}" type="presOf" srcId="{D280F034-0891-4079-A051-6E301BD8AD9E}" destId="{B51EC7E7-8359-47B2-93F9-33D3A85183B6}" srcOrd="0" destOrd="0" presId="urn:microsoft.com/office/officeart/2005/8/layout/process1"/>
    <dgm:cxn modelId="{5FD16509-DDDF-4005-8AE0-E0F725C7C172}" type="presOf" srcId="{6E21AAB9-315D-4A0C-A165-32CCCF0F13AE}" destId="{461A5BF1-48F6-4F9B-B565-CA9D348BB217}" srcOrd="0" destOrd="0" presId="urn:microsoft.com/office/officeart/2005/8/layout/process1"/>
    <dgm:cxn modelId="{4CE16324-E3D2-4E9C-907B-691A186C8266}" type="presOf" srcId="{6E21AAB9-315D-4A0C-A165-32CCCF0F13AE}" destId="{AC3F96A1-B879-4038-B2D3-137F084610C2}" srcOrd="1" destOrd="0" presId="urn:microsoft.com/office/officeart/2005/8/layout/process1"/>
    <dgm:cxn modelId="{8ACC162C-AB8B-4824-820C-13ACB368390F}" srcId="{9DAFDF4D-4719-4122-9831-93B4B62A0B05}" destId="{A75A2429-C57F-4378-9AE8-8B1965B3B274}" srcOrd="3" destOrd="0" parTransId="{98D75A5F-6B85-4907-A644-FE68787486F1}" sibTransId="{0AB9FF3B-3C43-4CF6-95E6-E5C5FB9D6033}"/>
    <dgm:cxn modelId="{CE5B923B-2AE1-4F52-9B4D-0FC68A7340DE}" srcId="{9DAFDF4D-4719-4122-9831-93B4B62A0B05}" destId="{ACF98E5A-7D8F-4CE8-873C-90F5D7EE61F4}" srcOrd="0" destOrd="0" parTransId="{26007166-2B9B-4C72-9440-30739FDEB0C3}" sibTransId="{A316F699-F880-482B-AAB7-A6F041706CE6}"/>
    <dgm:cxn modelId="{95F3185D-EDD0-475A-B8BD-9881F1C3B0C6}" type="presOf" srcId="{2DAFB895-7202-4314-8923-A3A49A6E8BEE}" destId="{0384B6B7-2599-4C3E-8257-FDB1935B8021}" srcOrd="0" destOrd="0" presId="urn:microsoft.com/office/officeart/2005/8/layout/process1"/>
    <dgm:cxn modelId="{B982E45E-1232-427B-B20F-4ECCA0AACB5B}" type="presOf" srcId="{9DAFDF4D-4719-4122-9831-93B4B62A0B05}" destId="{23E7BF6B-7779-4CBC-ABCE-E57B0B03B3D9}" srcOrd="0" destOrd="0" presId="urn:microsoft.com/office/officeart/2005/8/layout/process1"/>
    <dgm:cxn modelId="{CB521E41-2464-459C-8EB1-991EC607A9A4}" type="presOf" srcId="{A75A2429-C57F-4378-9AE8-8B1965B3B274}" destId="{11330062-9CEC-41AF-9B99-3BFECF754E1C}" srcOrd="0" destOrd="0" presId="urn:microsoft.com/office/officeart/2005/8/layout/process1"/>
    <dgm:cxn modelId="{22A0CE64-26E5-4841-BEFF-E3879CB61227}" type="presOf" srcId="{ACF98E5A-7D8F-4CE8-873C-90F5D7EE61F4}" destId="{A9B0B0C4-723C-4DE5-BE1A-2ADC8B251CBF}" srcOrd="0" destOrd="0" presId="urn:microsoft.com/office/officeart/2005/8/layout/process1"/>
    <dgm:cxn modelId="{8FC7274B-4033-4F4C-B6F7-DF8CE55B6F9D}" type="presOf" srcId="{D280F034-0891-4079-A051-6E301BD8AD9E}" destId="{90537BDF-55F9-41CD-935A-922FD232C313}" srcOrd="1" destOrd="0" presId="urn:microsoft.com/office/officeart/2005/8/layout/process1"/>
    <dgm:cxn modelId="{0E8FD283-8EE3-4E0B-AC8D-DD9CEE165019}" srcId="{9DAFDF4D-4719-4122-9831-93B4B62A0B05}" destId="{2DAFB895-7202-4314-8923-A3A49A6E8BEE}" srcOrd="1" destOrd="0" parTransId="{A6644480-D213-4609-85CD-3AC8E854FCA7}" sibTransId="{D280F034-0891-4079-A051-6E301BD8AD9E}"/>
    <dgm:cxn modelId="{645CEA83-A67E-4DC1-88E0-4348EA51DA74}" type="presOf" srcId="{A316F699-F880-482B-AAB7-A6F041706CE6}" destId="{E7762D72-A347-48FE-B6AB-72E1F7D1B7AB}" srcOrd="0" destOrd="0" presId="urn:microsoft.com/office/officeart/2005/8/layout/process1"/>
    <dgm:cxn modelId="{CCB576B4-577F-46F9-9263-77216BCA2578}" srcId="{9DAFDF4D-4719-4122-9831-93B4B62A0B05}" destId="{FAB3EC1E-4B3B-41B1-9A73-C0C7A0069579}" srcOrd="2" destOrd="0" parTransId="{39AA8E29-8850-436E-97BD-CC864053BD3B}" sibTransId="{6E21AAB9-315D-4A0C-A165-32CCCF0F13AE}"/>
    <dgm:cxn modelId="{6763FDDD-46CB-4C52-9998-28CCA2F795C8}" type="presOf" srcId="{A316F699-F880-482B-AAB7-A6F041706CE6}" destId="{28B23DC4-9242-4F36-86C5-7895D5F8EAC5}" srcOrd="1" destOrd="0" presId="urn:microsoft.com/office/officeart/2005/8/layout/process1"/>
    <dgm:cxn modelId="{6177B2FD-2515-4FC3-AA13-ED88A0E2FA81}" type="presOf" srcId="{FAB3EC1E-4B3B-41B1-9A73-C0C7A0069579}" destId="{91C81891-6761-4910-9D18-8A65F2D09B6F}" srcOrd="0" destOrd="0" presId="urn:microsoft.com/office/officeart/2005/8/layout/process1"/>
    <dgm:cxn modelId="{2281D463-59E6-4EE4-A939-24613246407D}" type="presParOf" srcId="{23E7BF6B-7779-4CBC-ABCE-E57B0B03B3D9}" destId="{A9B0B0C4-723C-4DE5-BE1A-2ADC8B251CBF}" srcOrd="0" destOrd="0" presId="urn:microsoft.com/office/officeart/2005/8/layout/process1"/>
    <dgm:cxn modelId="{6C2348DD-C069-491A-9FFF-29422A3466BC}" type="presParOf" srcId="{23E7BF6B-7779-4CBC-ABCE-E57B0B03B3D9}" destId="{E7762D72-A347-48FE-B6AB-72E1F7D1B7AB}" srcOrd="1" destOrd="0" presId="urn:microsoft.com/office/officeart/2005/8/layout/process1"/>
    <dgm:cxn modelId="{BFB0BD50-01D4-49D6-9164-F1C73D9DE00D}" type="presParOf" srcId="{E7762D72-A347-48FE-B6AB-72E1F7D1B7AB}" destId="{28B23DC4-9242-4F36-86C5-7895D5F8EAC5}" srcOrd="0" destOrd="0" presId="urn:microsoft.com/office/officeart/2005/8/layout/process1"/>
    <dgm:cxn modelId="{0A96F687-7B3E-489C-96DE-4F99A0B4056D}" type="presParOf" srcId="{23E7BF6B-7779-4CBC-ABCE-E57B0B03B3D9}" destId="{0384B6B7-2599-4C3E-8257-FDB1935B8021}" srcOrd="2" destOrd="0" presId="urn:microsoft.com/office/officeart/2005/8/layout/process1"/>
    <dgm:cxn modelId="{7858AD9D-2AF2-4C97-9756-A13361DE3B2D}" type="presParOf" srcId="{23E7BF6B-7779-4CBC-ABCE-E57B0B03B3D9}" destId="{B51EC7E7-8359-47B2-93F9-33D3A85183B6}" srcOrd="3" destOrd="0" presId="urn:microsoft.com/office/officeart/2005/8/layout/process1"/>
    <dgm:cxn modelId="{21345621-0A9F-431E-94E3-0EE224899D2B}" type="presParOf" srcId="{B51EC7E7-8359-47B2-93F9-33D3A85183B6}" destId="{90537BDF-55F9-41CD-935A-922FD232C313}" srcOrd="0" destOrd="0" presId="urn:microsoft.com/office/officeart/2005/8/layout/process1"/>
    <dgm:cxn modelId="{9BE6BCC3-2AFB-4B10-BD35-99FCC81C6425}" type="presParOf" srcId="{23E7BF6B-7779-4CBC-ABCE-E57B0B03B3D9}" destId="{91C81891-6761-4910-9D18-8A65F2D09B6F}" srcOrd="4" destOrd="0" presId="urn:microsoft.com/office/officeart/2005/8/layout/process1"/>
    <dgm:cxn modelId="{67DC6074-A6B6-46A9-B3EA-3816672A18ED}" type="presParOf" srcId="{23E7BF6B-7779-4CBC-ABCE-E57B0B03B3D9}" destId="{461A5BF1-48F6-4F9B-B565-CA9D348BB217}" srcOrd="5" destOrd="0" presId="urn:microsoft.com/office/officeart/2005/8/layout/process1"/>
    <dgm:cxn modelId="{B2BB4CE3-5EC4-458B-8DE8-06677B5036C6}" type="presParOf" srcId="{461A5BF1-48F6-4F9B-B565-CA9D348BB217}" destId="{AC3F96A1-B879-4038-B2D3-137F084610C2}" srcOrd="0" destOrd="0" presId="urn:microsoft.com/office/officeart/2005/8/layout/process1"/>
    <dgm:cxn modelId="{C5425302-68D5-4E84-A938-B00D03668A4D}" type="presParOf" srcId="{23E7BF6B-7779-4CBC-ABCE-E57B0B03B3D9}" destId="{11330062-9CEC-41AF-9B99-3BFECF754E1C}"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43E18D-F5A1-434F-ABAA-3754BAC12020}"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US"/>
        </a:p>
      </dgm:t>
    </dgm:pt>
    <dgm:pt modelId="{7E33E5CC-627E-47BE-BD6B-8B3876B45F17}">
      <dgm:prSet phldrT="[Text]"/>
      <dgm:spPr/>
      <dgm:t>
        <a:bodyPr/>
        <a:lstStyle/>
        <a:p>
          <a:r>
            <a:rPr lang="en-US" dirty="0">
              <a:solidFill>
                <a:srgbClr val="000000"/>
              </a:solidFill>
              <a:latin typeface="Calibri" panose="020F0502020204030204" pitchFamily="34" charset="0"/>
              <a:cs typeface="Calibri" panose="020F0502020204030204" pitchFamily="34" charset="0"/>
            </a:rPr>
            <a:t>Global </a:t>
          </a:r>
          <a:r>
            <a:rPr lang="en-US" b="1" dirty="0">
              <a:solidFill>
                <a:srgbClr val="000000"/>
              </a:solidFill>
              <a:latin typeface="Calibri" panose="020F0502020204030204" pitchFamily="34" charset="0"/>
              <a:cs typeface="Calibri" panose="020F0502020204030204" pitchFamily="34" charset="0"/>
            </a:rPr>
            <a:t>Simulation</a:t>
          </a:r>
          <a:r>
            <a:rPr lang="en-US" dirty="0">
              <a:solidFill>
                <a:srgbClr val="000000"/>
              </a:solidFill>
              <a:latin typeface="Calibri" panose="020F0502020204030204" pitchFamily="34" charset="0"/>
              <a:cs typeface="Calibri" panose="020F0502020204030204" pitchFamily="34" charset="0"/>
            </a:rPr>
            <a:t> Market</a:t>
          </a:r>
          <a:endParaRPr lang="en-US" dirty="0">
            <a:latin typeface="Calibri" panose="020F0502020204030204" pitchFamily="34" charset="0"/>
            <a:cs typeface="Calibri" panose="020F0502020204030204" pitchFamily="34" charset="0"/>
          </a:endParaRPr>
        </a:p>
      </dgm:t>
    </dgm:pt>
    <dgm:pt modelId="{7DA259F5-BBC6-47F2-B41F-0537DD8C15EB}" type="parTrans" cxnId="{ACA4120A-717C-4717-B7DF-BD6DC9E80055}">
      <dgm:prSet/>
      <dgm:spPr/>
      <dgm:t>
        <a:bodyPr/>
        <a:lstStyle/>
        <a:p>
          <a:endParaRPr lang="en-US">
            <a:latin typeface="Calibri" panose="020F0502020204030204" pitchFamily="34" charset="0"/>
            <a:cs typeface="Calibri" panose="020F0502020204030204" pitchFamily="34" charset="0"/>
          </a:endParaRPr>
        </a:p>
      </dgm:t>
    </dgm:pt>
    <dgm:pt modelId="{5596F185-07B2-4566-8126-0C15F44F48AE}" type="sibTrans" cxnId="{ACA4120A-717C-4717-B7DF-BD6DC9E80055}">
      <dgm:prSet/>
      <dgm:spPr/>
      <dgm:t>
        <a:bodyPr/>
        <a:lstStyle/>
        <a:p>
          <a:endParaRPr lang="en-US">
            <a:latin typeface="Calibri" panose="020F0502020204030204" pitchFamily="34" charset="0"/>
            <a:cs typeface="Calibri" panose="020F0502020204030204" pitchFamily="34" charset="0"/>
          </a:endParaRPr>
        </a:p>
      </dgm:t>
    </dgm:pt>
    <dgm:pt modelId="{E2665010-2AC3-4D3A-8A85-6C1D83476F39}">
      <dgm:prSet custT="1"/>
      <dgm:spPr/>
      <dgm:t>
        <a:bodyPr/>
        <a:lstStyle/>
        <a:p>
          <a:r>
            <a:rPr lang="en-US" sz="1000" dirty="0">
              <a:solidFill>
                <a:srgbClr val="000000"/>
              </a:solidFill>
              <a:latin typeface="Calibri" panose="020F0502020204030204" pitchFamily="34" charset="0"/>
              <a:cs typeface="Calibri" panose="020F0502020204030204" pitchFamily="34" charset="0"/>
            </a:rPr>
            <a:t>Valued at $13.25 billion in 2022 (Source: Grandview Research)</a:t>
          </a:r>
          <a:endParaRPr lang="en-US" sz="1000" dirty="0">
            <a:latin typeface="Calibri" panose="020F0502020204030204" pitchFamily="34" charset="0"/>
            <a:cs typeface="Calibri" panose="020F0502020204030204" pitchFamily="34" charset="0"/>
          </a:endParaRPr>
        </a:p>
      </dgm:t>
    </dgm:pt>
    <dgm:pt modelId="{ED67532A-866F-46FA-B65E-370F43CD4E2F}" type="parTrans" cxnId="{BAF57648-2A4F-4AE6-B73E-F81213DCFAE7}">
      <dgm:prSet/>
      <dgm:spPr/>
      <dgm:t>
        <a:bodyPr/>
        <a:lstStyle/>
        <a:p>
          <a:endParaRPr lang="en-US">
            <a:latin typeface="Calibri" panose="020F0502020204030204" pitchFamily="34" charset="0"/>
            <a:cs typeface="Calibri" panose="020F0502020204030204" pitchFamily="34" charset="0"/>
          </a:endParaRPr>
        </a:p>
      </dgm:t>
    </dgm:pt>
    <dgm:pt modelId="{9021BB5B-EEDC-4DA7-B8BF-0C1F33CFAD51}" type="sibTrans" cxnId="{BAF57648-2A4F-4AE6-B73E-F81213DCFAE7}">
      <dgm:prSet/>
      <dgm:spPr/>
      <dgm:t>
        <a:bodyPr/>
        <a:lstStyle/>
        <a:p>
          <a:endParaRPr lang="en-US">
            <a:latin typeface="Calibri" panose="020F0502020204030204" pitchFamily="34" charset="0"/>
            <a:cs typeface="Calibri" panose="020F0502020204030204" pitchFamily="34" charset="0"/>
          </a:endParaRPr>
        </a:p>
      </dgm:t>
    </dgm:pt>
    <dgm:pt modelId="{6AE148CD-127E-4D32-BC86-B908539DE88C}">
      <dgm:prSet custT="1"/>
      <dgm:spPr/>
      <dgm:t>
        <a:bodyPr/>
        <a:lstStyle/>
        <a:p>
          <a:r>
            <a:rPr lang="en-US" sz="1000" dirty="0">
              <a:solidFill>
                <a:srgbClr val="000000"/>
              </a:solidFill>
              <a:latin typeface="Calibri" panose="020F0502020204030204" pitchFamily="34" charset="0"/>
              <a:cs typeface="Calibri" panose="020F0502020204030204" pitchFamily="34" charset="0"/>
            </a:rPr>
            <a:t>CAGR 13% from 2024 to 2030 (Source: Markets and Markets)</a:t>
          </a:r>
          <a:endParaRPr lang="en-US" sz="1000" dirty="0">
            <a:latin typeface="Calibri" panose="020F0502020204030204" pitchFamily="34" charset="0"/>
            <a:cs typeface="Calibri" panose="020F0502020204030204" pitchFamily="34" charset="0"/>
          </a:endParaRPr>
        </a:p>
      </dgm:t>
    </dgm:pt>
    <dgm:pt modelId="{1C1D1A5F-C9B9-4BBC-823C-2E17C5439EDB}" type="parTrans" cxnId="{BEAE41A8-5B38-490F-82EC-0380EEB92D32}">
      <dgm:prSet/>
      <dgm:spPr/>
      <dgm:t>
        <a:bodyPr/>
        <a:lstStyle/>
        <a:p>
          <a:endParaRPr lang="en-US">
            <a:latin typeface="Calibri" panose="020F0502020204030204" pitchFamily="34" charset="0"/>
            <a:cs typeface="Calibri" panose="020F0502020204030204" pitchFamily="34" charset="0"/>
          </a:endParaRPr>
        </a:p>
      </dgm:t>
    </dgm:pt>
    <dgm:pt modelId="{3C917892-C9D2-4292-ABF0-4A3A4884247B}" type="sibTrans" cxnId="{BEAE41A8-5B38-490F-82EC-0380EEB92D32}">
      <dgm:prSet/>
      <dgm:spPr/>
      <dgm:t>
        <a:bodyPr/>
        <a:lstStyle/>
        <a:p>
          <a:endParaRPr lang="en-US">
            <a:latin typeface="Calibri" panose="020F0502020204030204" pitchFamily="34" charset="0"/>
            <a:cs typeface="Calibri" panose="020F0502020204030204" pitchFamily="34" charset="0"/>
          </a:endParaRPr>
        </a:p>
      </dgm:t>
    </dgm:pt>
    <dgm:pt modelId="{E3B231C4-A585-47AC-B19B-F6D76BF9107D}">
      <dgm:prSet custT="1"/>
      <dgm:spPr/>
      <dgm:t>
        <a:bodyPr/>
        <a:lstStyle/>
        <a:p>
          <a:r>
            <a:rPr lang="en-US" sz="1000" dirty="0">
              <a:solidFill>
                <a:srgbClr val="000000"/>
              </a:solidFill>
              <a:latin typeface="Calibri" panose="020F0502020204030204" pitchFamily="34" charset="0"/>
              <a:cs typeface="Calibri" panose="020F0502020204030204" pitchFamily="34" charset="0"/>
            </a:rPr>
            <a:t>Forecasted Market Size $31.6 billion by 2030 (Source: Statista)</a:t>
          </a:r>
          <a:endParaRPr lang="en-US" sz="1000" dirty="0">
            <a:latin typeface="Calibri" panose="020F0502020204030204" pitchFamily="34" charset="0"/>
            <a:cs typeface="Calibri" panose="020F0502020204030204" pitchFamily="34" charset="0"/>
          </a:endParaRPr>
        </a:p>
      </dgm:t>
    </dgm:pt>
    <dgm:pt modelId="{E1F65B9F-9081-41F2-98F3-CDCCD46202A9}" type="parTrans" cxnId="{FAE5EE7C-F6FB-4879-B872-3337BED614CC}">
      <dgm:prSet/>
      <dgm:spPr/>
      <dgm:t>
        <a:bodyPr/>
        <a:lstStyle/>
        <a:p>
          <a:endParaRPr lang="en-US">
            <a:latin typeface="Calibri" panose="020F0502020204030204" pitchFamily="34" charset="0"/>
            <a:cs typeface="Calibri" panose="020F0502020204030204" pitchFamily="34" charset="0"/>
          </a:endParaRPr>
        </a:p>
      </dgm:t>
    </dgm:pt>
    <dgm:pt modelId="{C0A9CBD9-4337-4652-9590-6B2A26EA2B84}" type="sibTrans" cxnId="{FAE5EE7C-F6FB-4879-B872-3337BED614CC}">
      <dgm:prSet/>
      <dgm:spPr/>
      <dgm:t>
        <a:bodyPr/>
        <a:lstStyle/>
        <a:p>
          <a:endParaRPr lang="en-US">
            <a:latin typeface="Calibri" panose="020F0502020204030204" pitchFamily="34" charset="0"/>
            <a:cs typeface="Calibri" panose="020F0502020204030204" pitchFamily="34" charset="0"/>
          </a:endParaRPr>
        </a:p>
      </dgm:t>
    </dgm:pt>
    <dgm:pt modelId="{AE8E22F8-61EC-48BE-B504-8DDCD76C2D90}" type="pres">
      <dgm:prSet presAssocID="{4B43E18D-F5A1-434F-ABAA-3754BAC12020}" presName="composite" presStyleCnt="0">
        <dgm:presLayoutVars>
          <dgm:chMax val="1"/>
          <dgm:dir/>
          <dgm:resizeHandles val="exact"/>
        </dgm:presLayoutVars>
      </dgm:prSet>
      <dgm:spPr/>
    </dgm:pt>
    <dgm:pt modelId="{BA4D5E1F-7B98-48C5-A8D2-181606E2DA1A}" type="pres">
      <dgm:prSet presAssocID="{4B43E18D-F5A1-434F-ABAA-3754BAC12020}" presName="radial" presStyleCnt="0">
        <dgm:presLayoutVars>
          <dgm:animLvl val="ctr"/>
        </dgm:presLayoutVars>
      </dgm:prSet>
      <dgm:spPr/>
    </dgm:pt>
    <dgm:pt modelId="{EEBB2BF9-D9C5-4292-9934-5093B2E7AB85}" type="pres">
      <dgm:prSet presAssocID="{7E33E5CC-627E-47BE-BD6B-8B3876B45F17}" presName="centerShape" presStyleLbl="vennNode1" presStyleIdx="0" presStyleCnt="4" custScaleY="78575" custLinFactNeighborY="-6048"/>
      <dgm:spPr/>
    </dgm:pt>
    <dgm:pt modelId="{AA13B0EE-DBB4-42E7-82B0-646E4EE19A8B}" type="pres">
      <dgm:prSet presAssocID="{E2665010-2AC3-4D3A-8A85-6C1D83476F39}" presName="node" presStyleLbl="vennNode1" presStyleIdx="1" presStyleCnt="4" custScaleX="139811">
        <dgm:presLayoutVars>
          <dgm:bulletEnabled val="1"/>
        </dgm:presLayoutVars>
      </dgm:prSet>
      <dgm:spPr/>
    </dgm:pt>
    <dgm:pt modelId="{1330BFC5-B27C-491F-87D4-28EACCFAE3D5}" type="pres">
      <dgm:prSet presAssocID="{6AE148CD-127E-4D32-BC86-B908539DE88C}" presName="node" presStyleLbl="vennNode1" presStyleIdx="2" presStyleCnt="4" custScaleX="139811">
        <dgm:presLayoutVars>
          <dgm:bulletEnabled val="1"/>
        </dgm:presLayoutVars>
      </dgm:prSet>
      <dgm:spPr/>
    </dgm:pt>
    <dgm:pt modelId="{7B00C448-B8C1-4EFF-B958-6B11A75FD401}" type="pres">
      <dgm:prSet presAssocID="{E3B231C4-A585-47AC-B19B-F6D76BF9107D}" presName="node" presStyleLbl="vennNode1" presStyleIdx="3" presStyleCnt="4" custScaleX="139811">
        <dgm:presLayoutVars>
          <dgm:bulletEnabled val="1"/>
        </dgm:presLayoutVars>
      </dgm:prSet>
      <dgm:spPr/>
    </dgm:pt>
  </dgm:ptLst>
  <dgm:cxnLst>
    <dgm:cxn modelId="{ACA4120A-717C-4717-B7DF-BD6DC9E80055}" srcId="{4B43E18D-F5A1-434F-ABAA-3754BAC12020}" destId="{7E33E5CC-627E-47BE-BD6B-8B3876B45F17}" srcOrd="0" destOrd="0" parTransId="{7DA259F5-BBC6-47F2-B41F-0537DD8C15EB}" sibTransId="{5596F185-07B2-4566-8126-0C15F44F48AE}"/>
    <dgm:cxn modelId="{7A63AD38-553C-4D56-BFB4-220783A01BB4}" type="presOf" srcId="{6AE148CD-127E-4D32-BC86-B908539DE88C}" destId="{1330BFC5-B27C-491F-87D4-28EACCFAE3D5}" srcOrd="0" destOrd="0" presId="urn:microsoft.com/office/officeart/2005/8/layout/radial3"/>
    <dgm:cxn modelId="{BAF57648-2A4F-4AE6-B73E-F81213DCFAE7}" srcId="{7E33E5CC-627E-47BE-BD6B-8B3876B45F17}" destId="{E2665010-2AC3-4D3A-8A85-6C1D83476F39}" srcOrd="0" destOrd="0" parTransId="{ED67532A-866F-46FA-B65E-370F43CD4E2F}" sibTransId="{9021BB5B-EEDC-4DA7-B8BF-0C1F33CFAD51}"/>
    <dgm:cxn modelId="{FAE5EE7C-F6FB-4879-B872-3337BED614CC}" srcId="{7E33E5CC-627E-47BE-BD6B-8B3876B45F17}" destId="{E3B231C4-A585-47AC-B19B-F6D76BF9107D}" srcOrd="2" destOrd="0" parTransId="{E1F65B9F-9081-41F2-98F3-CDCCD46202A9}" sibTransId="{C0A9CBD9-4337-4652-9590-6B2A26EA2B84}"/>
    <dgm:cxn modelId="{13811E84-025D-40E5-AE84-CE539CEC40A8}" type="presOf" srcId="{7E33E5CC-627E-47BE-BD6B-8B3876B45F17}" destId="{EEBB2BF9-D9C5-4292-9934-5093B2E7AB85}" srcOrd="0" destOrd="0" presId="urn:microsoft.com/office/officeart/2005/8/layout/radial3"/>
    <dgm:cxn modelId="{1FEC4F9B-501E-438F-B95D-36776645C8E9}" type="presOf" srcId="{E3B231C4-A585-47AC-B19B-F6D76BF9107D}" destId="{7B00C448-B8C1-4EFF-B958-6B11A75FD401}" srcOrd="0" destOrd="0" presId="urn:microsoft.com/office/officeart/2005/8/layout/radial3"/>
    <dgm:cxn modelId="{BEAE41A8-5B38-490F-82EC-0380EEB92D32}" srcId="{7E33E5CC-627E-47BE-BD6B-8B3876B45F17}" destId="{6AE148CD-127E-4D32-BC86-B908539DE88C}" srcOrd="1" destOrd="0" parTransId="{1C1D1A5F-C9B9-4BBC-823C-2E17C5439EDB}" sibTransId="{3C917892-C9D2-4292-ABF0-4A3A4884247B}"/>
    <dgm:cxn modelId="{06A6F4C1-31FC-4F0B-9870-56203F10642B}" type="presOf" srcId="{E2665010-2AC3-4D3A-8A85-6C1D83476F39}" destId="{AA13B0EE-DBB4-42E7-82B0-646E4EE19A8B}" srcOrd="0" destOrd="0" presId="urn:microsoft.com/office/officeart/2005/8/layout/radial3"/>
    <dgm:cxn modelId="{CCF0D7E2-A824-4AD7-B4C9-B0203D515001}" type="presOf" srcId="{4B43E18D-F5A1-434F-ABAA-3754BAC12020}" destId="{AE8E22F8-61EC-48BE-B504-8DDCD76C2D90}" srcOrd="0" destOrd="0" presId="urn:microsoft.com/office/officeart/2005/8/layout/radial3"/>
    <dgm:cxn modelId="{ACCDB237-577A-4317-89C2-E2461408A816}" type="presParOf" srcId="{AE8E22F8-61EC-48BE-B504-8DDCD76C2D90}" destId="{BA4D5E1F-7B98-48C5-A8D2-181606E2DA1A}" srcOrd="0" destOrd="0" presId="urn:microsoft.com/office/officeart/2005/8/layout/radial3"/>
    <dgm:cxn modelId="{68A29BF5-FBED-4884-A5CF-341B2777CD08}" type="presParOf" srcId="{BA4D5E1F-7B98-48C5-A8D2-181606E2DA1A}" destId="{EEBB2BF9-D9C5-4292-9934-5093B2E7AB85}" srcOrd="0" destOrd="0" presId="urn:microsoft.com/office/officeart/2005/8/layout/radial3"/>
    <dgm:cxn modelId="{63598DCB-6D12-429C-8975-6006712C6A3C}" type="presParOf" srcId="{BA4D5E1F-7B98-48C5-A8D2-181606E2DA1A}" destId="{AA13B0EE-DBB4-42E7-82B0-646E4EE19A8B}" srcOrd="1" destOrd="0" presId="urn:microsoft.com/office/officeart/2005/8/layout/radial3"/>
    <dgm:cxn modelId="{0D42EF51-F167-48F7-BE1E-8B4EFEC4ECAC}" type="presParOf" srcId="{BA4D5E1F-7B98-48C5-A8D2-181606E2DA1A}" destId="{1330BFC5-B27C-491F-87D4-28EACCFAE3D5}" srcOrd="2" destOrd="0" presId="urn:microsoft.com/office/officeart/2005/8/layout/radial3"/>
    <dgm:cxn modelId="{C9C88CF1-8971-41CA-AD11-F84ADFC6D5C6}" type="presParOf" srcId="{BA4D5E1F-7B98-48C5-A8D2-181606E2DA1A}" destId="{7B00C448-B8C1-4EFF-B958-6B11A75FD401}"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43E18D-F5A1-434F-ABAA-3754BAC12020}" type="doc">
      <dgm:prSet loTypeId="urn:microsoft.com/office/officeart/2005/8/layout/radial3" loCatId="relationship" qsTypeId="urn:microsoft.com/office/officeart/2005/8/quickstyle/simple1" qsCatId="simple" csTypeId="urn:microsoft.com/office/officeart/2005/8/colors/accent2_2" csCatId="accent2" phldr="1"/>
      <dgm:spPr/>
      <dgm:t>
        <a:bodyPr/>
        <a:lstStyle/>
        <a:p>
          <a:endParaRPr lang="en-US"/>
        </a:p>
      </dgm:t>
    </dgm:pt>
    <dgm:pt modelId="{7E33E5CC-627E-47BE-BD6B-8B3876B45F17}">
      <dgm:prSet phldrT="[Text]"/>
      <dgm:spPr/>
      <dgm:t>
        <a:bodyPr/>
        <a:lstStyle/>
        <a:p>
          <a:r>
            <a:rPr lang="en-US" b="1" dirty="0">
              <a:solidFill>
                <a:srgbClr val="FFFF00"/>
              </a:solidFill>
              <a:latin typeface="Calibri" panose="020F0502020204030204" pitchFamily="34" charset="0"/>
              <a:cs typeface="Calibri" panose="020F0502020204030204" pitchFamily="34" charset="0"/>
            </a:rPr>
            <a:t>AI in simulation</a:t>
          </a:r>
          <a:r>
            <a:rPr lang="en-US" dirty="0">
              <a:solidFill>
                <a:srgbClr val="FFFF00"/>
              </a:solidFill>
              <a:latin typeface="Calibri" panose="020F0502020204030204" pitchFamily="34" charset="0"/>
              <a:cs typeface="Calibri" panose="020F0502020204030204" pitchFamily="34" charset="0"/>
            </a:rPr>
            <a:t> market</a:t>
          </a:r>
        </a:p>
      </dgm:t>
    </dgm:pt>
    <dgm:pt modelId="{7DA259F5-BBC6-47F2-B41F-0537DD8C15EB}" type="parTrans" cxnId="{ACA4120A-717C-4717-B7DF-BD6DC9E80055}">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5596F185-07B2-4566-8126-0C15F44F48AE}" type="sibTrans" cxnId="{ACA4120A-717C-4717-B7DF-BD6DC9E80055}">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224D0C6A-CAB3-4528-9C95-FE2843C24BB9}">
      <dgm:prSet custT="1"/>
      <dgm:spPr/>
      <dgm:t>
        <a:bodyPr/>
        <a:lstStyle/>
        <a:p>
          <a:r>
            <a:rPr lang="en-US" sz="1000">
              <a:solidFill>
                <a:srgbClr val="FFFF00"/>
              </a:solidFill>
              <a:latin typeface="Calibri" panose="020F0502020204030204" pitchFamily="34" charset="0"/>
              <a:cs typeface="Calibri" panose="020F0502020204030204" pitchFamily="34" charset="0"/>
            </a:rPr>
            <a:t>Valued at $2 billion in 2022 (Source: Deloitte Insights)</a:t>
          </a:r>
          <a:endParaRPr lang="en-US" sz="1000" dirty="0">
            <a:solidFill>
              <a:srgbClr val="FFFF00"/>
            </a:solidFill>
            <a:latin typeface="Calibri" panose="020F0502020204030204" pitchFamily="34" charset="0"/>
            <a:cs typeface="Calibri" panose="020F0502020204030204" pitchFamily="34" charset="0"/>
          </a:endParaRPr>
        </a:p>
      </dgm:t>
    </dgm:pt>
    <dgm:pt modelId="{BBAF8F09-2630-442C-8977-2DAF81466342}" type="parTrans" cxnId="{7E583E8A-A965-45DA-B7D2-5414510C58B1}">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AB08DC7E-B48C-4E37-B0FC-E4DD1EF8D933}" type="sibTrans" cxnId="{7E583E8A-A965-45DA-B7D2-5414510C58B1}">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8D5FB6B3-D9CB-4753-8DAB-34D951926C91}">
      <dgm:prSet custT="1"/>
      <dgm:spPr/>
      <dgm:t>
        <a:bodyPr/>
        <a:lstStyle/>
        <a:p>
          <a:r>
            <a:rPr lang="en-US" sz="1000" dirty="0">
              <a:solidFill>
                <a:srgbClr val="FFFF00"/>
              </a:solidFill>
              <a:latin typeface="Calibri" panose="020F0502020204030204" pitchFamily="34" charset="0"/>
              <a:cs typeface="Calibri" panose="020F0502020204030204" pitchFamily="34" charset="0"/>
            </a:rPr>
            <a:t>CAGR over 20% (Source: McKinsey &amp; Co.)</a:t>
          </a:r>
        </a:p>
      </dgm:t>
    </dgm:pt>
    <dgm:pt modelId="{87C4B683-AF9D-416F-AD93-ECD1B3A6C7A6}" type="parTrans" cxnId="{48632C7A-9682-4B38-866C-A2FE8AA10426}">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3E7B22FE-91DC-45EF-9A7D-EBE574539719}" type="sibTrans" cxnId="{48632C7A-9682-4B38-866C-A2FE8AA10426}">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97656343-C129-4F75-95F5-9459EA757510}">
      <dgm:prSet custT="1"/>
      <dgm:spPr/>
      <dgm:t>
        <a:bodyPr/>
        <a:lstStyle/>
        <a:p>
          <a:r>
            <a:rPr lang="en-US" sz="1000" dirty="0">
              <a:solidFill>
                <a:srgbClr val="FFFF00"/>
              </a:solidFill>
              <a:latin typeface="Calibri" panose="020F0502020204030204" pitchFamily="34" charset="0"/>
              <a:cs typeface="Calibri" panose="020F0502020204030204" pitchFamily="34" charset="0"/>
            </a:rPr>
            <a:t>Forecasted Market Size $8.6 billion by 2030</a:t>
          </a:r>
        </a:p>
      </dgm:t>
    </dgm:pt>
    <dgm:pt modelId="{57FB8E70-BC65-41C0-80AC-5394D111C040}" type="parTrans" cxnId="{CB14FAC8-E8AB-4C70-BA3D-94CADF875029}">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049560D4-F602-4A61-8B95-D9DAD3D8DE9A}" type="sibTrans" cxnId="{CB14FAC8-E8AB-4C70-BA3D-94CADF875029}">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AE8E22F8-61EC-48BE-B504-8DDCD76C2D90}" type="pres">
      <dgm:prSet presAssocID="{4B43E18D-F5A1-434F-ABAA-3754BAC12020}" presName="composite" presStyleCnt="0">
        <dgm:presLayoutVars>
          <dgm:chMax val="1"/>
          <dgm:dir/>
          <dgm:resizeHandles val="exact"/>
        </dgm:presLayoutVars>
      </dgm:prSet>
      <dgm:spPr/>
    </dgm:pt>
    <dgm:pt modelId="{BA4D5E1F-7B98-48C5-A8D2-181606E2DA1A}" type="pres">
      <dgm:prSet presAssocID="{4B43E18D-F5A1-434F-ABAA-3754BAC12020}" presName="radial" presStyleCnt="0">
        <dgm:presLayoutVars>
          <dgm:animLvl val="ctr"/>
        </dgm:presLayoutVars>
      </dgm:prSet>
      <dgm:spPr/>
    </dgm:pt>
    <dgm:pt modelId="{EEBB2BF9-D9C5-4292-9934-5093B2E7AB85}" type="pres">
      <dgm:prSet presAssocID="{7E33E5CC-627E-47BE-BD6B-8B3876B45F17}" presName="centerShape" presStyleLbl="vennNode1" presStyleIdx="0" presStyleCnt="4" custScaleY="80500" custLinFactNeighborY="-4320"/>
      <dgm:spPr/>
    </dgm:pt>
    <dgm:pt modelId="{D0A3F941-A92B-4C76-B4E4-D71261B9478A}" type="pres">
      <dgm:prSet presAssocID="{224D0C6A-CAB3-4528-9C95-FE2843C24BB9}" presName="node" presStyleLbl="vennNode1" presStyleIdx="1" presStyleCnt="4" custScaleX="136533">
        <dgm:presLayoutVars>
          <dgm:bulletEnabled val="1"/>
        </dgm:presLayoutVars>
      </dgm:prSet>
      <dgm:spPr/>
    </dgm:pt>
    <dgm:pt modelId="{62D17C2A-45AD-4A04-BAC1-641FCA9E2E16}" type="pres">
      <dgm:prSet presAssocID="{8D5FB6B3-D9CB-4753-8DAB-34D951926C91}" presName="node" presStyleLbl="vennNode1" presStyleIdx="2" presStyleCnt="4" custScaleX="136533">
        <dgm:presLayoutVars>
          <dgm:bulletEnabled val="1"/>
        </dgm:presLayoutVars>
      </dgm:prSet>
      <dgm:spPr/>
    </dgm:pt>
    <dgm:pt modelId="{C7DC0C6D-BE0F-40EC-B274-A4B4DF2B63C8}" type="pres">
      <dgm:prSet presAssocID="{97656343-C129-4F75-95F5-9459EA757510}" presName="node" presStyleLbl="vennNode1" presStyleIdx="3" presStyleCnt="4" custScaleX="136533">
        <dgm:presLayoutVars>
          <dgm:bulletEnabled val="1"/>
        </dgm:presLayoutVars>
      </dgm:prSet>
      <dgm:spPr/>
    </dgm:pt>
  </dgm:ptLst>
  <dgm:cxnLst>
    <dgm:cxn modelId="{ACA4120A-717C-4717-B7DF-BD6DC9E80055}" srcId="{4B43E18D-F5A1-434F-ABAA-3754BAC12020}" destId="{7E33E5CC-627E-47BE-BD6B-8B3876B45F17}" srcOrd="0" destOrd="0" parTransId="{7DA259F5-BBC6-47F2-B41F-0537DD8C15EB}" sibTransId="{5596F185-07B2-4566-8126-0C15F44F48AE}"/>
    <dgm:cxn modelId="{688D1336-7285-4DCE-8229-8450D173019C}" type="presOf" srcId="{224D0C6A-CAB3-4528-9C95-FE2843C24BB9}" destId="{D0A3F941-A92B-4C76-B4E4-D71261B9478A}" srcOrd="0" destOrd="0" presId="urn:microsoft.com/office/officeart/2005/8/layout/radial3"/>
    <dgm:cxn modelId="{48632C7A-9682-4B38-866C-A2FE8AA10426}" srcId="{7E33E5CC-627E-47BE-BD6B-8B3876B45F17}" destId="{8D5FB6B3-D9CB-4753-8DAB-34D951926C91}" srcOrd="1" destOrd="0" parTransId="{87C4B683-AF9D-416F-AD93-ECD1B3A6C7A6}" sibTransId="{3E7B22FE-91DC-45EF-9A7D-EBE574539719}"/>
    <dgm:cxn modelId="{13811E84-025D-40E5-AE84-CE539CEC40A8}" type="presOf" srcId="{7E33E5CC-627E-47BE-BD6B-8B3876B45F17}" destId="{EEBB2BF9-D9C5-4292-9934-5093B2E7AB85}" srcOrd="0" destOrd="0" presId="urn:microsoft.com/office/officeart/2005/8/layout/radial3"/>
    <dgm:cxn modelId="{7E583E8A-A965-45DA-B7D2-5414510C58B1}" srcId="{7E33E5CC-627E-47BE-BD6B-8B3876B45F17}" destId="{224D0C6A-CAB3-4528-9C95-FE2843C24BB9}" srcOrd="0" destOrd="0" parTransId="{BBAF8F09-2630-442C-8977-2DAF81466342}" sibTransId="{AB08DC7E-B48C-4E37-B0FC-E4DD1EF8D933}"/>
    <dgm:cxn modelId="{F006B99F-BB07-4675-B0BF-9DF54F79C2E9}" type="presOf" srcId="{97656343-C129-4F75-95F5-9459EA757510}" destId="{C7DC0C6D-BE0F-40EC-B274-A4B4DF2B63C8}" srcOrd="0" destOrd="0" presId="urn:microsoft.com/office/officeart/2005/8/layout/radial3"/>
    <dgm:cxn modelId="{CA08C6AE-48A1-49E0-86EA-FD4FF6099E2C}" type="presOf" srcId="{8D5FB6B3-D9CB-4753-8DAB-34D951926C91}" destId="{62D17C2A-45AD-4A04-BAC1-641FCA9E2E16}" srcOrd="0" destOrd="0" presId="urn:microsoft.com/office/officeart/2005/8/layout/radial3"/>
    <dgm:cxn modelId="{CB14FAC8-E8AB-4C70-BA3D-94CADF875029}" srcId="{7E33E5CC-627E-47BE-BD6B-8B3876B45F17}" destId="{97656343-C129-4F75-95F5-9459EA757510}" srcOrd="2" destOrd="0" parTransId="{57FB8E70-BC65-41C0-80AC-5394D111C040}" sibTransId="{049560D4-F602-4A61-8B95-D9DAD3D8DE9A}"/>
    <dgm:cxn modelId="{CCF0D7E2-A824-4AD7-B4C9-B0203D515001}" type="presOf" srcId="{4B43E18D-F5A1-434F-ABAA-3754BAC12020}" destId="{AE8E22F8-61EC-48BE-B504-8DDCD76C2D90}" srcOrd="0" destOrd="0" presId="urn:microsoft.com/office/officeart/2005/8/layout/radial3"/>
    <dgm:cxn modelId="{ACCDB237-577A-4317-89C2-E2461408A816}" type="presParOf" srcId="{AE8E22F8-61EC-48BE-B504-8DDCD76C2D90}" destId="{BA4D5E1F-7B98-48C5-A8D2-181606E2DA1A}" srcOrd="0" destOrd="0" presId="urn:microsoft.com/office/officeart/2005/8/layout/radial3"/>
    <dgm:cxn modelId="{68A29BF5-FBED-4884-A5CF-341B2777CD08}" type="presParOf" srcId="{BA4D5E1F-7B98-48C5-A8D2-181606E2DA1A}" destId="{EEBB2BF9-D9C5-4292-9934-5093B2E7AB85}" srcOrd="0" destOrd="0" presId="urn:microsoft.com/office/officeart/2005/8/layout/radial3"/>
    <dgm:cxn modelId="{6F56358A-6323-46A8-8597-4AB52D35D3F9}" type="presParOf" srcId="{BA4D5E1F-7B98-48C5-A8D2-181606E2DA1A}" destId="{D0A3F941-A92B-4C76-B4E4-D71261B9478A}" srcOrd="1" destOrd="0" presId="urn:microsoft.com/office/officeart/2005/8/layout/radial3"/>
    <dgm:cxn modelId="{89A9F01A-CEF3-47A2-A8A3-07C3870312C4}" type="presParOf" srcId="{BA4D5E1F-7B98-48C5-A8D2-181606E2DA1A}" destId="{62D17C2A-45AD-4A04-BAC1-641FCA9E2E16}" srcOrd="2" destOrd="0" presId="urn:microsoft.com/office/officeart/2005/8/layout/radial3"/>
    <dgm:cxn modelId="{EE1C03BA-0FDD-4A35-9762-614C76E57F1E}" type="presParOf" srcId="{BA4D5E1F-7B98-48C5-A8D2-181606E2DA1A}" destId="{C7DC0C6D-BE0F-40EC-B274-A4B4DF2B63C8}" srcOrd="3" destOrd="0" presId="urn:microsoft.com/office/officeart/2005/8/layout/radial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07CEB2-BDB9-40DA-A649-10091BA10BFF}" type="doc">
      <dgm:prSet loTypeId="urn:microsoft.com/office/officeart/2005/8/layout/radial5" loCatId="cycle" qsTypeId="urn:microsoft.com/office/officeart/2005/8/quickstyle/simple1" qsCatId="simple" csTypeId="urn:microsoft.com/office/officeart/2005/8/colors/accent0_3" csCatId="mainScheme" phldr="1"/>
      <dgm:spPr/>
      <dgm:t>
        <a:bodyPr/>
        <a:lstStyle/>
        <a:p>
          <a:endParaRPr lang="en-US"/>
        </a:p>
      </dgm:t>
    </dgm:pt>
    <dgm:pt modelId="{9F8551F4-8408-4B9C-813F-2DBE342B50B2}">
      <dgm:prSet phldrT="[Text]"/>
      <dgm:spPr/>
      <dgm:t>
        <a:bodyPr/>
        <a:lstStyle/>
        <a:p>
          <a:r>
            <a:rPr lang="en-US" dirty="0">
              <a:latin typeface="Calibri" panose="020F0502020204030204" pitchFamily="34" charset="0"/>
              <a:cs typeface="Calibri" panose="020F0502020204030204" pitchFamily="34" charset="0"/>
            </a:rPr>
            <a:t>Our Competitors</a:t>
          </a:r>
        </a:p>
      </dgm:t>
    </dgm:pt>
    <dgm:pt modelId="{B0A3C061-41B0-4DB3-9228-1CDD5B9CBE15}" type="parTrans" cxnId="{34CCA7E7-16CD-4C8F-984D-1331A39B04EC}">
      <dgm:prSet/>
      <dgm:spPr/>
      <dgm:t>
        <a:bodyPr/>
        <a:lstStyle/>
        <a:p>
          <a:endParaRPr lang="en-US">
            <a:latin typeface="Calibri" panose="020F0502020204030204" pitchFamily="34" charset="0"/>
            <a:cs typeface="Calibri" panose="020F0502020204030204" pitchFamily="34" charset="0"/>
          </a:endParaRPr>
        </a:p>
      </dgm:t>
    </dgm:pt>
    <dgm:pt modelId="{23D1BD78-D42C-4367-AB02-14DCDF775514}" type="sibTrans" cxnId="{34CCA7E7-16CD-4C8F-984D-1331A39B04EC}">
      <dgm:prSet/>
      <dgm:spPr/>
      <dgm:t>
        <a:bodyPr/>
        <a:lstStyle/>
        <a:p>
          <a:endParaRPr lang="en-US">
            <a:latin typeface="Calibri" panose="020F0502020204030204" pitchFamily="34" charset="0"/>
            <a:cs typeface="Calibri" panose="020F0502020204030204" pitchFamily="34" charset="0"/>
          </a:endParaRPr>
        </a:p>
      </dgm:t>
    </dgm:pt>
    <dgm:pt modelId="{EB7CC008-D131-4BAC-A5F1-D6DE1C4F6C04}">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Large IT Platform/ Infra</a:t>
          </a:r>
        </a:p>
      </dgm:t>
    </dgm:pt>
    <dgm:pt modelId="{39A04C1A-15D8-4C39-834F-4FCB993812F7}" type="parTrans" cxnId="{20196C86-5B31-4DD5-B438-7E56D16F9802}">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5D75D751-1F1E-4AA4-880C-8F1E65D44FD9}" type="sibTrans" cxnId="{20196C86-5B31-4DD5-B438-7E56D16F9802}">
      <dgm:prSet/>
      <dgm:spPr/>
      <dgm:t>
        <a:bodyPr/>
        <a:lstStyle/>
        <a:p>
          <a:endParaRPr lang="en-US">
            <a:latin typeface="Calibri" panose="020F0502020204030204" pitchFamily="34" charset="0"/>
            <a:cs typeface="Calibri" panose="020F0502020204030204" pitchFamily="34" charset="0"/>
          </a:endParaRPr>
        </a:p>
      </dgm:t>
    </dgm:pt>
    <dgm:pt modelId="{3FB283C6-666E-49E2-A0AD-C69692011829}">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Niche Portfolio-specific </a:t>
          </a:r>
        </a:p>
      </dgm:t>
    </dgm:pt>
    <dgm:pt modelId="{EB06738C-C5F7-4EF9-A733-C9DCC0BFD01C}" type="parTrans" cxnId="{47E3B947-F791-4310-A6C5-7ACCA187A1A3}">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CAD41AEA-6AE1-4B6F-8E6A-4DF3E5062100}" type="sibTrans" cxnId="{47E3B947-F791-4310-A6C5-7ACCA187A1A3}">
      <dgm:prSet/>
      <dgm:spPr/>
      <dgm:t>
        <a:bodyPr/>
        <a:lstStyle/>
        <a:p>
          <a:endParaRPr lang="en-US">
            <a:latin typeface="Calibri" panose="020F0502020204030204" pitchFamily="34" charset="0"/>
            <a:cs typeface="Calibri" panose="020F0502020204030204" pitchFamily="34" charset="0"/>
          </a:endParaRPr>
        </a:p>
      </dgm:t>
    </dgm:pt>
    <dgm:pt modelId="{2A3188E5-40A7-4C91-AF7B-14F6F7EB98AB}">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Experts: Custom digital twins</a:t>
          </a:r>
        </a:p>
      </dgm:t>
    </dgm:pt>
    <dgm:pt modelId="{6E91AE72-EF8C-45E9-BF3F-93FAF58CE4C2}" type="parTrans" cxnId="{FBE86189-26DD-492A-99FA-80AB7E95101F}">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78307D50-0715-44B4-9BE8-844967C55F19}" type="sibTrans" cxnId="{FBE86189-26DD-492A-99FA-80AB7E95101F}">
      <dgm:prSet/>
      <dgm:spPr/>
      <dgm:t>
        <a:bodyPr/>
        <a:lstStyle/>
        <a:p>
          <a:endParaRPr lang="en-US">
            <a:latin typeface="Calibri" panose="020F0502020204030204" pitchFamily="34" charset="0"/>
            <a:cs typeface="Calibri" panose="020F0502020204030204" pitchFamily="34" charset="0"/>
          </a:endParaRPr>
        </a:p>
      </dgm:t>
    </dgm:pt>
    <dgm:pt modelId="{8F9545B2-AD83-4F52-B76F-7124E7F90C2E}">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Other/ Assorted</a:t>
          </a:r>
        </a:p>
      </dgm:t>
    </dgm:pt>
    <dgm:pt modelId="{8FF4588B-8D8E-48CE-B6B9-F9FE08E76A02}" type="parTrans" cxnId="{41960166-4ABA-463A-B29E-D9A997FB737B}">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CEE7B294-CD50-44F7-A9F3-DA9F75321910}" type="sibTrans" cxnId="{41960166-4ABA-463A-B29E-D9A997FB737B}">
      <dgm:prSet/>
      <dgm:spPr/>
      <dgm:t>
        <a:bodyPr/>
        <a:lstStyle/>
        <a:p>
          <a:endParaRPr lang="en-US">
            <a:latin typeface="Calibri" panose="020F0502020204030204" pitchFamily="34" charset="0"/>
            <a:cs typeface="Calibri" panose="020F0502020204030204" pitchFamily="34" charset="0"/>
          </a:endParaRPr>
        </a:p>
      </dgm:t>
    </dgm:pt>
    <dgm:pt modelId="{036CAC91-09BB-4D7A-ACD0-2013E69F031E}" type="pres">
      <dgm:prSet presAssocID="{F607CEB2-BDB9-40DA-A649-10091BA10BFF}" presName="Name0" presStyleCnt="0">
        <dgm:presLayoutVars>
          <dgm:chMax val="1"/>
          <dgm:dir/>
          <dgm:animLvl val="ctr"/>
          <dgm:resizeHandles val="exact"/>
        </dgm:presLayoutVars>
      </dgm:prSet>
      <dgm:spPr/>
    </dgm:pt>
    <dgm:pt modelId="{1E4D0934-F567-43B8-975D-9468BCCE3936}" type="pres">
      <dgm:prSet presAssocID="{9F8551F4-8408-4B9C-813F-2DBE342B50B2}" presName="centerShape" presStyleLbl="node0" presStyleIdx="0" presStyleCnt="1" custScaleX="128458" custScaleY="128458"/>
      <dgm:spPr/>
    </dgm:pt>
    <dgm:pt modelId="{C25358A4-781B-43EC-AC37-74688A224F68}" type="pres">
      <dgm:prSet presAssocID="{39A04C1A-15D8-4C39-834F-4FCB993812F7}" presName="parTrans" presStyleLbl="sibTrans2D1" presStyleIdx="0" presStyleCnt="4"/>
      <dgm:spPr/>
    </dgm:pt>
    <dgm:pt modelId="{FDF21066-71AE-413C-837B-A3F4B9598B05}" type="pres">
      <dgm:prSet presAssocID="{39A04C1A-15D8-4C39-834F-4FCB993812F7}" presName="connectorText" presStyleLbl="sibTrans2D1" presStyleIdx="0" presStyleCnt="4"/>
      <dgm:spPr/>
    </dgm:pt>
    <dgm:pt modelId="{5F46D186-A18C-4D19-B6FC-700E9BA6823E}" type="pres">
      <dgm:prSet presAssocID="{EB7CC008-D131-4BAC-A5F1-D6DE1C4F6C04}" presName="node" presStyleLbl="node1" presStyleIdx="0" presStyleCnt="4" custScaleX="92569" custScaleY="88578">
        <dgm:presLayoutVars>
          <dgm:bulletEnabled val="1"/>
        </dgm:presLayoutVars>
      </dgm:prSet>
      <dgm:spPr/>
    </dgm:pt>
    <dgm:pt modelId="{9100E985-D8B5-4D3C-A17F-6DE7D3B29E15}" type="pres">
      <dgm:prSet presAssocID="{EB06738C-C5F7-4EF9-A733-C9DCC0BFD01C}" presName="parTrans" presStyleLbl="sibTrans2D1" presStyleIdx="1" presStyleCnt="4"/>
      <dgm:spPr/>
    </dgm:pt>
    <dgm:pt modelId="{9D4F60EE-B13D-4F28-94BF-F7E97AAEFE1E}" type="pres">
      <dgm:prSet presAssocID="{EB06738C-C5F7-4EF9-A733-C9DCC0BFD01C}" presName="connectorText" presStyleLbl="sibTrans2D1" presStyleIdx="1" presStyleCnt="4"/>
      <dgm:spPr/>
    </dgm:pt>
    <dgm:pt modelId="{53FDA86B-5AB3-42FE-857D-C3937D543AF7}" type="pres">
      <dgm:prSet presAssocID="{3FB283C6-666E-49E2-A0AD-C69692011829}" presName="node" presStyleLbl="node1" presStyleIdx="1" presStyleCnt="4" custScaleX="92569" custScaleY="88578">
        <dgm:presLayoutVars>
          <dgm:bulletEnabled val="1"/>
        </dgm:presLayoutVars>
      </dgm:prSet>
      <dgm:spPr/>
    </dgm:pt>
    <dgm:pt modelId="{BD854DCD-B6DA-421A-8C7E-DD643B728DDE}" type="pres">
      <dgm:prSet presAssocID="{6E91AE72-EF8C-45E9-BF3F-93FAF58CE4C2}" presName="parTrans" presStyleLbl="sibTrans2D1" presStyleIdx="2" presStyleCnt="4"/>
      <dgm:spPr/>
    </dgm:pt>
    <dgm:pt modelId="{CBC51D0B-EA53-4802-838E-57B20E3B94F4}" type="pres">
      <dgm:prSet presAssocID="{6E91AE72-EF8C-45E9-BF3F-93FAF58CE4C2}" presName="connectorText" presStyleLbl="sibTrans2D1" presStyleIdx="2" presStyleCnt="4"/>
      <dgm:spPr/>
    </dgm:pt>
    <dgm:pt modelId="{F5EE47A5-B2C9-4F7D-BCCF-F3A60DEA0921}" type="pres">
      <dgm:prSet presAssocID="{2A3188E5-40A7-4C91-AF7B-14F6F7EB98AB}" presName="node" presStyleLbl="node1" presStyleIdx="2" presStyleCnt="4" custScaleX="92569" custScaleY="88578">
        <dgm:presLayoutVars>
          <dgm:bulletEnabled val="1"/>
        </dgm:presLayoutVars>
      </dgm:prSet>
      <dgm:spPr/>
    </dgm:pt>
    <dgm:pt modelId="{552E9669-430E-4757-BEEA-A296F88F1840}" type="pres">
      <dgm:prSet presAssocID="{8FF4588B-8D8E-48CE-B6B9-F9FE08E76A02}" presName="parTrans" presStyleLbl="sibTrans2D1" presStyleIdx="3" presStyleCnt="4"/>
      <dgm:spPr/>
    </dgm:pt>
    <dgm:pt modelId="{520BA3FF-0D7F-4E3F-BD17-2B24FBDA3053}" type="pres">
      <dgm:prSet presAssocID="{8FF4588B-8D8E-48CE-B6B9-F9FE08E76A02}" presName="connectorText" presStyleLbl="sibTrans2D1" presStyleIdx="3" presStyleCnt="4"/>
      <dgm:spPr/>
    </dgm:pt>
    <dgm:pt modelId="{A89602F0-F56E-4919-801E-B22FE4EE657F}" type="pres">
      <dgm:prSet presAssocID="{8F9545B2-AD83-4F52-B76F-7124E7F90C2E}" presName="node" presStyleLbl="node1" presStyleIdx="3" presStyleCnt="4" custScaleX="92569" custScaleY="88578">
        <dgm:presLayoutVars>
          <dgm:bulletEnabled val="1"/>
        </dgm:presLayoutVars>
      </dgm:prSet>
      <dgm:spPr/>
    </dgm:pt>
  </dgm:ptLst>
  <dgm:cxnLst>
    <dgm:cxn modelId="{93A22500-B4B8-4540-A852-F3B7B3F86811}" type="presOf" srcId="{EB06738C-C5F7-4EF9-A733-C9DCC0BFD01C}" destId="{9100E985-D8B5-4D3C-A17F-6DE7D3B29E15}" srcOrd="0" destOrd="0" presId="urn:microsoft.com/office/officeart/2005/8/layout/radial5"/>
    <dgm:cxn modelId="{0BDB3D01-C826-478C-9292-4251A805465C}" type="presOf" srcId="{39A04C1A-15D8-4C39-834F-4FCB993812F7}" destId="{C25358A4-781B-43EC-AC37-74688A224F68}" srcOrd="0" destOrd="0" presId="urn:microsoft.com/office/officeart/2005/8/layout/radial5"/>
    <dgm:cxn modelId="{4E45C40B-ADFE-40E8-85FA-7CFECD1D4BE7}" type="presOf" srcId="{6E91AE72-EF8C-45E9-BF3F-93FAF58CE4C2}" destId="{CBC51D0B-EA53-4802-838E-57B20E3B94F4}" srcOrd="1" destOrd="0" presId="urn:microsoft.com/office/officeart/2005/8/layout/radial5"/>
    <dgm:cxn modelId="{8208AC0C-4F4C-44F6-88D3-B70B6BC341E0}" type="presOf" srcId="{6E91AE72-EF8C-45E9-BF3F-93FAF58CE4C2}" destId="{BD854DCD-B6DA-421A-8C7E-DD643B728DDE}" srcOrd="0" destOrd="0" presId="urn:microsoft.com/office/officeart/2005/8/layout/radial5"/>
    <dgm:cxn modelId="{D7F5A716-6C98-49C7-A7EA-ABA7AA07E7D6}" type="presOf" srcId="{9F8551F4-8408-4B9C-813F-2DBE342B50B2}" destId="{1E4D0934-F567-43B8-975D-9468BCCE3936}" srcOrd="0" destOrd="0" presId="urn:microsoft.com/office/officeart/2005/8/layout/radial5"/>
    <dgm:cxn modelId="{3E9B361C-1368-4211-AAEF-C4A07FE2E3A0}" type="presOf" srcId="{39A04C1A-15D8-4C39-834F-4FCB993812F7}" destId="{FDF21066-71AE-413C-837B-A3F4B9598B05}" srcOrd="1" destOrd="0" presId="urn:microsoft.com/office/officeart/2005/8/layout/radial5"/>
    <dgm:cxn modelId="{CFCA5965-0F6A-4EA6-98A4-1CA46BC0AA4E}" type="presOf" srcId="{3FB283C6-666E-49E2-A0AD-C69692011829}" destId="{53FDA86B-5AB3-42FE-857D-C3937D543AF7}" srcOrd="0" destOrd="0" presId="urn:microsoft.com/office/officeart/2005/8/layout/radial5"/>
    <dgm:cxn modelId="{41960166-4ABA-463A-B29E-D9A997FB737B}" srcId="{9F8551F4-8408-4B9C-813F-2DBE342B50B2}" destId="{8F9545B2-AD83-4F52-B76F-7124E7F90C2E}" srcOrd="3" destOrd="0" parTransId="{8FF4588B-8D8E-48CE-B6B9-F9FE08E76A02}" sibTransId="{CEE7B294-CD50-44F7-A9F3-DA9F75321910}"/>
    <dgm:cxn modelId="{47E3B947-F791-4310-A6C5-7ACCA187A1A3}" srcId="{9F8551F4-8408-4B9C-813F-2DBE342B50B2}" destId="{3FB283C6-666E-49E2-A0AD-C69692011829}" srcOrd="1" destOrd="0" parTransId="{EB06738C-C5F7-4EF9-A733-C9DCC0BFD01C}" sibTransId="{CAD41AEA-6AE1-4B6F-8E6A-4DF3E5062100}"/>
    <dgm:cxn modelId="{5006AF57-6CE0-40CE-979C-5183736300DD}" type="presOf" srcId="{8FF4588B-8D8E-48CE-B6B9-F9FE08E76A02}" destId="{552E9669-430E-4757-BEEA-A296F88F1840}" srcOrd="0" destOrd="0" presId="urn:microsoft.com/office/officeart/2005/8/layout/radial5"/>
    <dgm:cxn modelId="{20196C86-5B31-4DD5-B438-7E56D16F9802}" srcId="{9F8551F4-8408-4B9C-813F-2DBE342B50B2}" destId="{EB7CC008-D131-4BAC-A5F1-D6DE1C4F6C04}" srcOrd="0" destOrd="0" parTransId="{39A04C1A-15D8-4C39-834F-4FCB993812F7}" sibTransId="{5D75D751-1F1E-4AA4-880C-8F1E65D44FD9}"/>
    <dgm:cxn modelId="{FBE86189-26DD-492A-99FA-80AB7E95101F}" srcId="{9F8551F4-8408-4B9C-813F-2DBE342B50B2}" destId="{2A3188E5-40A7-4C91-AF7B-14F6F7EB98AB}" srcOrd="2" destOrd="0" parTransId="{6E91AE72-EF8C-45E9-BF3F-93FAF58CE4C2}" sibTransId="{78307D50-0715-44B4-9BE8-844967C55F19}"/>
    <dgm:cxn modelId="{2D6DFCA4-7C08-4838-9448-298A200DD158}" type="presOf" srcId="{8F9545B2-AD83-4F52-B76F-7124E7F90C2E}" destId="{A89602F0-F56E-4919-801E-B22FE4EE657F}" srcOrd="0" destOrd="0" presId="urn:microsoft.com/office/officeart/2005/8/layout/radial5"/>
    <dgm:cxn modelId="{3B3336B5-2B5D-4FB5-AB18-6B840173F946}" type="presOf" srcId="{EB06738C-C5F7-4EF9-A733-C9DCC0BFD01C}" destId="{9D4F60EE-B13D-4F28-94BF-F7E97AAEFE1E}" srcOrd="1" destOrd="0" presId="urn:microsoft.com/office/officeart/2005/8/layout/radial5"/>
    <dgm:cxn modelId="{CA880DCA-B6F9-4155-8B98-9023D3E23ADA}" type="presOf" srcId="{F607CEB2-BDB9-40DA-A649-10091BA10BFF}" destId="{036CAC91-09BB-4D7A-ACD0-2013E69F031E}" srcOrd="0" destOrd="0" presId="urn:microsoft.com/office/officeart/2005/8/layout/radial5"/>
    <dgm:cxn modelId="{73091CCD-7156-4CC8-BDA6-E87ED00584F1}" type="presOf" srcId="{EB7CC008-D131-4BAC-A5F1-D6DE1C4F6C04}" destId="{5F46D186-A18C-4D19-B6FC-700E9BA6823E}" srcOrd="0" destOrd="0" presId="urn:microsoft.com/office/officeart/2005/8/layout/radial5"/>
    <dgm:cxn modelId="{C74A8ACE-A8B4-4EA6-BFF4-7AD4BC5B135D}" type="presOf" srcId="{2A3188E5-40A7-4C91-AF7B-14F6F7EB98AB}" destId="{F5EE47A5-B2C9-4F7D-BCCF-F3A60DEA0921}" srcOrd="0" destOrd="0" presId="urn:microsoft.com/office/officeart/2005/8/layout/radial5"/>
    <dgm:cxn modelId="{BC7690D0-6190-4377-A86E-FBB694D62A9D}" type="presOf" srcId="{8FF4588B-8D8E-48CE-B6B9-F9FE08E76A02}" destId="{520BA3FF-0D7F-4E3F-BD17-2B24FBDA3053}" srcOrd="1" destOrd="0" presId="urn:microsoft.com/office/officeart/2005/8/layout/radial5"/>
    <dgm:cxn modelId="{34CCA7E7-16CD-4C8F-984D-1331A39B04EC}" srcId="{F607CEB2-BDB9-40DA-A649-10091BA10BFF}" destId="{9F8551F4-8408-4B9C-813F-2DBE342B50B2}" srcOrd="0" destOrd="0" parTransId="{B0A3C061-41B0-4DB3-9228-1CDD5B9CBE15}" sibTransId="{23D1BD78-D42C-4367-AB02-14DCDF775514}"/>
    <dgm:cxn modelId="{C0C299D2-310D-4098-8112-3B15D8CC78B1}" type="presParOf" srcId="{036CAC91-09BB-4D7A-ACD0-2013E69F031E}" destId="{1E4D0934-F567-43B8-975D-9468BCCE3936}" srcOrd="0" destOrd="0" presId="urn:microsoft.com/office/officeart/2005/8/layout/radial5"/>
    <dgm:cxn modelId="{98824E41-A673-4F59-8D25-17618294FB9D}" type="presParOf" srcId="{036CAC91-09BB-4D7A-ACD0-2013E69F031E}" destId="{C25358A4-781B-43EC-AC37-74688A224F68}" srcOrd="1" destOrd="0" presId="urn:microsoft.com/office/officeart/2005/8/layout/radial5"/>
    <dgm:cxn modelId="{3EC74FDB-6AAE-4406-A6B8-5702956895D9}" type="presParOf" srcId="{C25358A4-781B-43EC-AC37-74688A224F68}" destId="{FDF21066-71AE-413C-837B-A3F4B9598B05}" srcOrd="0" destOrd="0" presId="urn:microsoft.com/office/officeart/2005/8/layout/radial5"/>
    <dgm:cxn modelId="{102C3DC5-F175-4DB9-AB3C-B0DCD70B5123}" type="presParOf" srcId="{036CAC91-09BB-4D7A-ACD0-2013E69F031E}" destId="{5F46D186-A18C-4D19-B6FC-700E9BA6823E}" srcOrd="2" destOrd="0" presId="urn:microsoft.com/office/officeart/2005/8/layout/radial5"/>
    <dgm:cxn modelId="{305299A8-6510-4741-AC8B-FF2B4E064872}" type="presParOf" srcId="{036CAC91-09BB-4D7A-ACD0-2013E69F031E}" destId="{9100E985-D8B5-4D3C-A17F-6DE7D3B29E15}" srcOrd="3" destOrd="0" presId="urn:microsoft.com/office/officeart/2005/8/layout/radial5"/>
    <dgm:cxn modelId="{DF506A31-DE76-44AA-AEB3-959EB42112C4}" type="presParOf" srcId="{9100E985-D8B5-4D3C-A17F-6DE7D3B29E15}" destId="{9D4F60EE-B13D-4F28-94BF-F7E97AAEFE1E}" srcOrd="0" destOrd="0" presId="urn:microsoft.com/office/officeart/2005/8/layout/radial5"/>
    <dgm:cxn modelId="{735AC6DD-CD32-403C-81B5-ECF5B908D674}" type="presParOf" srcId="{036CAC91-09BB-4D7A-ACD0-2013E69F031E}" destId="{53FDA86B-5AB3-42FE-857D-C3937D543AF7}" srcOrd="4" destOrd="0" presId="urn:microsoft.com/office/officeart/2005/8/layout/radial5"/>
    <dgm:cxn modelId="{FCF75AE2-B5D9-4E0F-AF06-E488B1D5E3D1}" type="presParOf" srcId="{036CAC91-09BB-4D7A-ACD0-2013E69F031E}" destId="{BD854DCD-B6DA-421A-8C7E-DD643B728DDE}" srcOrd="5" destOrd="0" presId="urn:microsoft.com/office/officeart/2005/8/layout/radial5"/>
    <dgm:cxn modelId="{38E21E25-3EF0-4206-959E-33055CA9DCB2}" type="presParOf" srcId="{BD854DCD-B6DA-421A-8C7E-DD643B728DDE}" destId="{CBC51D0B-EA53-4802-838E-57B20E3B94F4}" srcOrd="0" destOrd="0" presId="urn:microsoft.com/office/officeart/2005/8/layout/radial5"/>
    <dgm:cxn modelId="{77AB78C8-6E75-4C3C-8335-6AB4EC8B2BB1}" type="presParOf" srcId="{036CAC91-09BB-4D7A-ACD0-2013E69F031E}" destId="{F5EE47A5-B2C9-4F7D-BCCF-F3A60DEA0921}" srcOrd="6" destOrd="0" presId="urn:microsoft.com/office/officeart/2005/8/layout/radial5"/>
    <dgm:cxn modelId="{34075F5E-153A-4CFE-A900-9153E49B4549}" type="presParOf" srcId="{036CAC91-09BB-4D7A-ACD0-2013E69F031E}" destId="{552E9669-430E-4757-BEEA-A296F88F1840}" srcOrd="7" destOrd="0" presId="urn:microsoft.com/office/officeart/2005/8/layout/radial5"/>
    <dgm:cxn modelId="{D3677256-B05D-45C4-8066-E701CB713C73}" type="presParOf" srcId="{552E9669-430E-4757-BEEA-A296F88F1840}" destId="{520BA3FF-0D7F-4E3F-BD17-2B24FBDA3053}" srcOrd="0" destOrd="0" presId="urn:microsoft.com/office/officeart/2005/8/layout/radial5"/>
    <dgm:cxn modelId="{18A5C018-4897-41AD-AEA3-3B6A74DB3031}" type="presParOf" srcId="{036CAC91-09BB-4D7A-ACD0-2013E69F031E}" destId="{A89602F0-F56E-4919-801E-B22FE4EE657F}"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D8CFDE-DD2F-4DAC-910E-50EC1C445DF2}" type="doc">
      <dgm:prSet loTypeId="urn:microsoft.com/office/officeart/2005/8/layout/hProcess3" loCatId="process" qsTypeId="urn:microsoft.com/office/officeart/2005/8/quickstyle/simple1" qsCatId="simple" csTypeId="urn:microsoft.com/office/officeart/2005/8/colors/accent0_3" csCatId="mainScheme" phldr="1"/>
      <dgm:spPr/>
    </dgm:pt>
    <dgm:pt modelId="{F5E76076-C6F9-4A23-AE65-C57AA7950C20}">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Aug – Oct 2025</a:t>
          </a:r>
        </a:p>
      </dgm:t>
    </dgm:pt>
    <dgm:pt modelId="{6359A1D5-FBAD-4E0E-9F81-B594A73AED06}" type="parTrans" cxnId="{DEC6A904-AFA1-4430-8C62-99CE62B5A8BA}">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1A9D52B2-B1B1-4CD0-A610-AC51CBC1748C}" type="sibTrans" cxnId="{DEC6A904-AFA1-4430-8C62-99CE62B5A8BA}">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4C8C5DF0-F433-4543-BC13-5B6605A10C3B}">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Nov – Dec 2025</a:t>
          </a:r>
        </a:p>
      </dgm:t>
    </dgm:pt>
    <dgm:pt modelId="{3CF38707-151F-4689-93F1-BCDE8A5AEAA6}" type="parTrans" cxnId="{B23AF094-7824-4C60-9AF1-9B4A5E18EA70}">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EDFE8634-0339-4CB1-BE75-04A77CDDAF5B}" type="sibTrans" cxnId="{B23AF094-7824-4C60-9AF1-9B4A5E18EA70}">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788E6EA3-69C0-4ACE-9E26-77908AAADDBA}">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Jan – Mar 2026</a:t>
          </a:r>
        </a:p>
      </dgm:t>
    </dgm:pt>
    <dgm:pt modelId="{39E218F7-D642-4CB0-AE46-BA348EC206BF}" type="parTrans" cxnId="{E949708B-D8B9-4D1D-8FA3-F1ED42F202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A0E83897-965A-4D2E-981E-19F8F100E46E}" type="sibTrans" cxnId="{E949708B-D8B9-4D1D-8FA3-F1ED42F202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4AE03F4D-35C6-4C89-BF50-3CBDDC6E0977}">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Apr – Jun 2026</a:t>
          </a:r>
        </a:p>
      </dgm:t>
    </dgm:pt>
    <dgm:pt modelId="{0DAC5E52-F0CB-4BD2-A7DC-82F016ACEAE1}" type="parTrans" cxnId="{5B5B2035-FF40-4829-8587-0B995964E4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7F81807-F3CD-47FA-B028-32F81E11006D}" type="sibTrans" cxnId="{5B5B2035-FF40-4829-8587-0B995964E4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0FD184B5-A4C1-4E0A-BCCB-0073E2A3F8DD}">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Jul – Sep 2026</a:t>
          </a:r>
        </a:p>
      </dgm:t>
    </dgm:pt>
    <dgm:pt modelId="{51B94FD7-81CC-4D81-A6D3-6B0236F3B4E4}" type="parTrans" cxnId="{10E925A5-A8CA-4014-91CE-4123297EE27F}">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42DF1E9-3FB3-4E52-865E-22C4D3613BCA}" type="sibTrans" cxnId="{10E925A5-A8CA-4014-91CE-4123297EE27F}">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D4DBFC60-B637-4332-B13A-7983098ECD89}">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Oct – Dec 2026</a:t>
          </a:r>
        </a:p>
      </dgm:t>
    </dgm:pt>
    <dgm:pt modelId="{0C7E7878-912B-40D8-B018-FB9290D8361F}" type="parTrans" cxnId="{7BF9EA15-5B85-4D40-8765-7CF6F0A97D6D}">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7BE63D67-27B1-4691-82C5-15E42B57D53E}" type="sibTrans" cxnId="{7BF9EA15-5B85-4D40-8765-7CF6F0A97D6D}">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B3C434EF-798B-44DE-9AD6-91656880A130}">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Start-up</a:t>
          </a:r>
        </a:p>
      </dgm:t>
    </dgm:pt>
    <dgm:pt modelId="{79C01023-2194-4EB5-B974-B54D099A6CB8}" type="parTrans" cxnId="{0FE356F1-A6A6-41FB-A8EB-33BD981FF65B}">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0D94D2A-2382-4418-B94A-B49620AD6915}" type="sibTrans" cxnId="{0FE356F1-A6A6-41FB-A8EB-33BD981FF65B}">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54044CED-08B9-4E24-AD9D-E015E74B4007}" type="pres">
      <dgm:prSet presAssocID="{B7D8CFDE-DD2F-4DAC-910E-50EC1C445DF2}" presName="Name0" presStyleCnt="0">
        <dgm:presLayoutVars>
          <dgm:dir/>
          <dgm:animLvl val="lvl"/>
          <dgm:resizeHandles val="exact"/>
        </dgm:presLayoutVars>
      </dgm:prSet>
      <dgm:spPr/>
    </dgm:pt>
    <dgm:pt modelId="{4F2B7F8F-ADE6-4BCB-832A-1E9B6492DC55}" type="pres">
      <dgm:prSet presAssocID="{B7D8CFDE-DD2F-4DAC-910E-50EC1C445DF2}" presName="dummy" presStyleCnt="0"/>
      <dgm:spPr/>
    </dgm:pt>
    <dgm:pt modelId="{2988C105-2E9D-4450-8A3F-2D46F5097AB7}" type="pres">
      <dgm:prSet presAssocID="{B7D8CFDE-DD2F-4DAC-910E-50EC1C445DF2}" presName="linH" presStyleCnt="0"/>
      <dgm:spPr/>
    </dgm:pt>
    <dgm:pt modelId="{2F219BF7-8F36-45CB-A261-E12EC739A91F}" type="pres">
      <dgm:prSet presAssocID="{B7D8CFDE-DD2F-4DAC-910E-50EC1C445DF2}" presName="padding1" presStyleCnt="0"/>
      <dgm:spPr/>
    </dgm:pt>
    <dgm:pt modelId="{7C21B789-651E-48E0-96BF-81EE9E9F97DC}" type="pres">
      <dgm:prSet presAssocID="{F5E76076-C6F9-4A23-AE65-C57AA7950C20}" presName="linV" presStyleCnt="0"/>
      <dgm:spPr/>
    </dgm:pt>
    <dgm:pt modelId="{D1AE936D-6AC3-449A-85C5-BE7D9F04BE54}" type="pres">
      <dgm:prSet presAssocID="{F5E76076-C6F9-4A23-AE65-C57AA7950C20}" presName="spVertical1" presStyleCnt="0"/>
      <dgm:spPr/>
    </dgm:pt>
    <dgm:pt modelId="{383184D4-F1B7-4B9B-9558-4AC1EF6A622D}" type="pres">
      <dgm:prSet presAssocID="{F5E76076-C6F9-4A23-AE65-C57AA7950C20}" presName="parTx" presStyleLbl="revTx" presStyleIdx="0" presStyleCnt="7">
        <dgm:presLayoutVars>
          <dgm:chMax val="0"/>
          <dgm:chPref val="0"/>
          <dgm:bulletEnabled val="1"/>
        </dgm:presLayoutVars>
      </dgm:prSet>
      <dgm:spPr/>
    </dgm:pt>
    <dgm:pt modelId="{379579A7-A3DF-4B95-AD66-9B7C0285E88A}" type="pres">
      <dgm:prSet presAssocID="{F5E76076-C6F9-4A23-AE65-C57AA7950C20}" presName="spVertical2" presStyleCnt="0"/>
      <dgm:spPr/>
    </dgm:pt>
    <dgm:pt modelId="{0BD8B5D7-CAD9-4E93-9C93-C7A0F0B121A9}" type="pres">
      <dgm:prSet presAssocID="{F5E76076-C6F9-4A23-AE65-C57AA7950C20}" presName="spVertical3" presStyleCnt="0"/>
      <dgm:spPr/>
    </dgm:pt>
    <dgm:pt modelId="{EA9B4047-D111-40D1-9140-086FDFBAFB24}" type="pres">
      <dgm:prSet presAssocID="{1A9D52B2-B1B1-4CD0-A610-AC51CBC1748C}" presName="space" presStyleCnt="0"/>
      <dgm:spPr/>
    </dgm:pt>
    <dgm:pt modelId="{940EFEF5-56A1-4154-B3C1-D434E2CA82BB}" type="pres">
      <dgm:prSet presAssocID="{4C8C5DF0-F433-4543-BC13-5B6605A10C3B}" presName="linV" presStyleCnt="0"/>
      <dgm:spPr/>
    </dgm:pt>
    <dgm:pt modelId="{CB7B93D6-E9BA-41C7-ADF5-4153B0FE3930}" type="pres">
      <dgm:prSet presAssocID="{4C8C5DF0-F433-4543-BC13-5B6605A10C3B}" presName="spVertical1" presStyleCnt="0"/>
      <dgm:spPr/>
    </dgm:pt>
    <dgm:pt modelId="{5875BAC3-9C4F-42E7-8BB1-DC0EE42CF7ED}" type="pres">
      <dgm:prSet presAssocID="{4C8C5DF0-F433-4543-BC13-5B6605A10C3B}" presName="parTx" presStyleLbl="revTx" presStyleIdx="1" presStyleCnt="7">
        <dgm:presLayoutVars>
          <dgm:chMax val="0"/>
          <dgm:chPref val="0"/>
          <dgm:bulletEnabled val="1"/>
        </dgm:presLayoutVars>
      </dgm:prSet>
      <dgm:spPr/>
    </dgm:pt>
    <dgm:pt modelId="{86EC6F96-BF40-41AF-A578-A53FC3A7AD14}" type="pres">
      <dgm:prSet presAssocID="{4C8C5DF0-F433-4543-BC13-5B6605A10C3B}" presName="spVertical2" presStyleCnt="0"/>
      <dgm:spPr/>
    </dgm:pt>
    <dgm:pt modelId="{04AF6461-D92A-4D9D-800C-2B9663616AD1}" type="pres">
      <dgm:prSet presAssocID="{4C8C5DF0-F433-4543-BC13-5B6605A10C3B}" presName="spVertical3" presStyleCnt="0"/>
      <dgm:spPr/>
    </dgm:pt>
    <dgm:pt modelId="{766EAB0B-B1D2-4A7D-81D7-BE7CA0961A0E}" type="pres">
      <dgm:prSet presAssocID="{EDFE8634-0339-4CB1-BE75-04A77CDDAF5B}" presName="space" presStyleCnt="0"/>
      <dgm:spPr/>
    </dgm:pt>
    <dgm:pt modelId="{E437EF57-98AE-4240-B545-D0E97B16D9A1}" type="pres">
      <dgm:prSet presAssocID="{788E6EA3-69C0-4ACE-9E26-77908AAADDBA}" presName="linV" presStyleCnt="0"/>
      <dgm:spPr/>
    </dgm:pt>
    <dgm:pt modelId="{7995185E-3622-497D-8EAA-BF0E6F8F7AC7}" type="pres">
      <dgm:prSet presAssocID="{788E6EA3-69C0-4ACE-9E26-77908AAADDBA}" presName="spVertical1" presStyleCnt="0"/>
      <dgm:spPr/>
    </dgm:pt>
    <dgm:pt modelId="{0DCA8F88-5608-411E-8EC6-7855FF3A8B32}" type="pres">
      <dgm:prSet presAssocID="{788E6EA3-69C0-4ACE-9E26-77908AAADDBA}" presName="parTx" presStyleLbl="revTx" presStyleIdx="2" presStyleCnt="7">
        <dgm:presLayoutVars>
          <dgm:chMax val="0"/>
          <dgm:chPref val="0"/>
          <dgm:bulletEnabled val="1"/>
        </dgm:presLayoutVars>
      </dgm:prSet>
      <dgm:spPr/>
    </dgm:pt>
    <dgm:pt modelId="{7AEC6615-7CDA-4D4E-AA89-F44B66B6FF26}" type="pres">
      <dgm:prSet presAssocID="{788E6EA3-69C0-4ACE-9E26-77908AAADDBA}" presName="spVertical2" presStyleCnt="0"/>
      <dgm:spPr/>
    </dgm:pt>
    <dgm:pt modelId="{96F5E60E-6A8E-414B-9BB3-060071D36E62}" type="pres">
      <dgm:prSet presAssocID="{788E6EA3-69C0-4ACE-9E26-77908AAADDBA}" presName="spVertical3" presStyleCnt="0"/>
      <dgm:spPr/>
    </dgm:pt>
    <dgm:pt modelId="{A649F462-A6B2-498D-897C-894BC76FF138}" type="pres">
      <dgm:prSet presAssocID="{A0E83897-965A-4D2E-981E-19F8F100E46E}" presName="space" presStyleCnt="0"/>
      <dgm:spPr/>
    </dgm:pt>
    <dgm:pt modelId="{FA67D3B1-6E56-461B-9B81-19D887DE8031}" type="pres">
      <dgm:prSet presAssocID="{4AE03F4D-35C6-4C89-BF50-3CBDDC6E0977}" presName="linV" presStyleCnt="0"/>
      <dgm:spPr/>
    </dgm:pt>
    <dgm:pt modelId="{157510BC-1BD7-404F-88F8-5CD8B2CC1804}" type="pres">
      <dgm:prSet presAssocID="{4AE03F4D-35C6-4C89-BF50-3CBDDC6E0977}" presName="spVertical1" presStyleCnt="0"/>
      <dgm:spPr/>
    </dgm:pt>
    <dgm:pt modelId="{C9DD8342-5CA7-4065-932F-6976A146E1A8}" type="pres">
      <dgm:prSet presAssocID="{4AE03F4D-35C6-4C89-BF50-3CBDDC6E0977}" presName="parTx" presStyleLbl="revTx" presStyleIdx="3" presStyleCnt="7">
        <dgm:presLayoutVars>
          <dgm:chMax val="0"/>
          <dgm:chPref val="0"/>
          <dgm:bulletEnabled val="1"/>
        </dgm:presLayoutVars>
      </dgm:prSet>
      <dgm:spPr/>
    </dgm:pt>
    <dgm:pt modelId="{EF7660E7-AFEA-4227-95B4-733C2AD89140}" type="pres">
      <dgm:prSet presAssocID="{4AE03F4D-35C6-4C89-BF50-3CBDDC6E0977}" presName="spVertical2" presStyleCnt="0"/>
      <dgm:spPr/>
    </dgm:pt>
    <dgm:pt modelId="{C0AA47C3-C5D0-4EF4-82FF-5F34E10B81A1}" type="pres">
      <dgm:prSet presAssocID="{4AE03F4D-35C6-4C89-BF50-3CBDDC6E0977}" presName="spVertical3" presStyleCnt="0"/>
      <dgm:spPr/>
    </dgm:pt>
    <dgm:pt modelId="{57D54639-79D6-4A99-B1D8-54A1039369D5}" type="pres">
      <dgm:prSet presAssocID="{F7F81807-F3CD-47FA-B028-32F81E11006D}" presName="space" presStyleCnt="0"/>
      <dgm:spPr/>
    </dgm:pt>
    <dgm:pt modelId="{FED5DFF1-BD57-4292-91DA-B5AFC565B80E}" type="pres">
      <dgm:prSet presAssocID="{0FD184B5-A4C1-4E0A-BCCB-0073E2A3F8DD}" presName="linV" presStyleCnt="0"/>
      <dgm:spPr/>
    </dgm:pt>
    <dgm:pt modelId="{21096C9C-9AB4-435C-8229-98E27363E657}" type="pres">
      <dgm:prSet presAssocID="{0FD184B5-A4C1-4E0A-BCCB-0073E2A3F8DD}" presName="spVertical1" presStyleCnt="0"/>
      <dgm:spPr/>
    </dgm:pt>
    <dgm:pt modelId="{9D5250FA-FE7F-4A62-B344-8F841E3533E6}" type="pres">
      <dgm:prSet presAssocID="{0FD184B5-A4C1-4E0A-BCCB-0073E2A3F8DD}" presName="parTx" presStyleLbl="revTx" presStyleIdx="4" presStyleCnt="7">
        <dgm:presLayoutVars>
          <dgm:chMax val="0"/>
          <dgm:chPref val="0"/>
          <dgm:bulletEnabled val="1"/>
        </dgm:presLayoutVars>
      </dgm:prSet>
      <dgm:spPr/>
    </dgm:pt>
    <dgm:pt modelId="{7E56B51C-4555-4C0B-9554-154E4F5CC6CA}" type="pres">
      <dgm:prSet presAssocID="{0FD184B5-A4C1-4E0A-BCCB-0073E2A3F8DD}" presName="spVertical2" presStyleCnt="0"/>
      <dgm:spPr/>
    </dgm:pt>
    <dgm:pt modelId="{4A101DEC-50D7-4E92-B0BA-F2AFA26782C1}" type="pres">
      <dgm:prSet presAssocID="{0FD184B5-A4C1-4E0A-BCCB-0073E2A3F8DD}" presName="spVertical3" presStyleCnt="0"/>
      <dgm:spPr/>
    </dgm:pt>
    <dgm:pt modelId="{CA17FE98-F36D-45CB-A1F2-36B2785AF211}" type="pres">
      <dgm:prSet presAssocID="{F42DF1E9-3FB3-4E52-865E-22C4D3613BCA}" presName="space" presStyleCnt="0"/>
      <dgm:spPr/>
    </dgm:pt>
    <dgm:pt modelId="{47B2FDFD-5005-4A9B-9F69-3166953AACA2}" type="pres">
      <dgm:prSet presAssocID="{D4DBFC60-B637-4332-B13A-7983098ECD89}" presName="linV" presStyleCnt="0"/>
      <dgm:spPr/>
    </dgm:pt>
    <dgm:pt modelId="{02173C41-088F-4E49-BA20-8C60199D8BEB}" type="pres">
      <dgm:prSet presAssocID="{D4DBFC60-B637-4332-B13A-7983098ECD89}" presName="spVertical1" presStyleCnt="0"/>
      <dgm:spPr/>
    </dgm:pt>
    <dgm:pt modelId="{F0612A7A-50E2-408C-B1D0-6E8D78FC3BE1}" type="pres">
      <dgm:prSet presAssocID="{D4DBFC60-B637-4332-B13A-7983098ECD89}" presName="parTx" presStyleLbl="revTx" presStyleIdx="5" presStyleCnt="7">
        <dgm:presLayoutVars>
          <dgm:chMax val="0"/>
          <dgm:chPref val="0"/>
          <dgm:bulletEnabled val="1"/>
        </dgm:presLayoutVars>
      </dgm:prSet>
      <dgm:spPr/>
    </dgm:pt>
    <dgm:pt modelId="{D567C6D4-D023-40E4-AF7D-243624E04763}" type="pres">
      <dgm:prSet presAssocID="{D4DBFC60-B637-4332-B13A-7983098ECD89}" presName="spVertical2" presStyleCnt="0"/>
      <dgm:spPr/>
    </dgm:pt>
    <dgm:pt modelId="{24639732-1B93-4D3E-8049-CAC48289C977}" type="pres">
      <dgm:prSet presAssocID="{D4DBFC60-B637-4332-B13A-7983098ECD89}" presName="spVertical3" presStyleCnt="0"/>
      <dgm:spPr/>
    </dgm:pt>
    <dgm:pt modelId="{FA444608-962B-4440-AED8-3C978023CCD3}" type="pres">
      <dgm:prSet presAssocID="{7BE63D67-27B1-4691-82C5-15E42B57D53E}" presName="space" presStyleCnt="0"/>
      <dgm:spPr/>
    </dgm:pt>
    <dgm:pt modelId="{5763D157-7111-404A-9B0C-4C3384F9DE9E}" type="pres">
      <dgm:prSet presAssocID="{B3C434EF-798B-44DE-9AD6-91656880A130}" presName="linV" presStyleCnt="0"/>
      <dgm:spPr/>
    </dgm:pt>
    <dgm:pt modelId="{2E97F98D-7134-42F6-8607-51CE379646C0}" type="pres">
      <dgm:prSet presAssocID="{B3C434EF-798B-44DE-9AD6-91656880A130}" presName="spVertical1" presStyleCnt="0"/>
      <dgm:spPr/>
    </dgm:pt>
    <dgm:pt modelId="{95C8AB18-51AF-43E6-827C-7A81866562AD}" type="pres">
      <dgm:prSet presAssocID="{B3C434EF-798B-44DE-9AD6-91656880A130}" presName="parTx" presStyleLbl="revTx" presStyleIdx="6" presStyleCnt="7">
        <dgm:presLayoutVars>
          <dgm:chMax val="0"/>
          <dgm:chPref val="0"/>
          <dgm:bulletEnabled val="1"/>
        </dgm:presLayoutVars>
      </dgm:prSet>
      <dgm:spPr/>
    </dgm:pt>
    <dgm:pt modelId="{D12142CB-F77A-4270-B8D0-2DB882F69818}" type="pres">
      <dgm:prSet presAssocID="{B3C434EF-798B-44DE-9AD6-91656880A130}" presName="spVertical2" presStyleCnt="0"/>
      <dgm:spPr/>
    </dgm:pt>
    <dgm:pt modelId="{39833630-F352-4FC1-B69E-29AE69DE3312}" type="pres">
      <dgm:prSet presAssocID="{B3C434EF-798B-44DE-9AD6-91656880A130}" presName="spVertical3" presStyleCnt="0"/>
      <dgm:spPr/>
    </dgm:pt>
    <dgm:pt modelId="{F1721F1D-25FC-41AA-9849-E282FAB3F663}" type="pres">
      <dgm:prSet presAssocID="{B7D8CFDE-DD2F-4DAC-910E-50EC1C445DF2}" presName="padding2" presStyleCnt="0"/>
      <dgm:spPr/>
    </dgm:pt>
    <dgm:pt modelId="{4FC10BFB-4D73-43A6-9E48-7B53B6235AFA}" type="pres">
      <dgm:prSet presAssocID="{B7D8CFDE-DD2F-4DAC-910E-50EC1C445DF2}" presName="negArrow" presStyleCnt="0"/>
      <dgm:spPr/>
    </dgm:pt>
    <dgm:pt modelId="{94C20782-2DBA-4390-92E1-1E7EDA424DAE}" type="pres">
      <dgm:prSet presAssocID="{B7D8CFDE-DD2F-4DAC-910E-50EC1C445DF2}" presName="backgroundArrow" presStyleLbl="node1" presStyleIdx="0" presStyleCnt="1"/>
      <dgm:spPr/>
    </dgm:pt>
  </dgm:ptLst>
  <dgm:cxnLst>
    <dgm:cxn modelId="{DEC6A904-AFA1-4430-8C62-99CE62B5A8BA}" srcId="{B7D8CFDE-DD2F-4DAC-910E-50EC1C445DF2}" destId="{F5E76076-C6F9-4A23-AE65-C57AA7950C20}" srcOrd="0" destOrd="0" parTransId="{6359A1D5-FBAD-4E0E-9F81-B594A73AED06}" sibTransId="{1A9D52B2-B1B1-4CD0-A610-AC51CBC1748C}"/>
    <dgm:cxn modelId="{7BF9EA15-5B85-4D40-8765-7CF6F0A97D6D}" srcId="{B7D8CFDE-DD2F-4DAC-910E-50EC1C445DF2}" destId="{D4DBFC60-B637-4332-B13A-7983098ECD89}" srcOrd="5" destOrd="0" parTransId="{0C7E7878-912B-40D8-B018-FB9290D8361F}" sibTransId="{7BE63D67-27B1-4691-82C5-15E42B57D53E}"/>
    <dgm:cxn modelId="{5B5B2035-FF40-4829-8587-0B995964E422}" srcId="{B7D8CFDE-DD2F-4DAC-910E-50EC1C445DF2}" destId="{4AE03F4D-35C6-4C89-BF50-3CBDDC6E0977}" srcOrd="3" destOrd="0" parTransId="{0DAC5E52-F0CB-4BD2-A7DC-82F016ACEAE1}" sibTransId="{F7F81807-F3CD-47FA-B028-32F81E11006D}"/>
    <dgm:cxn modelId="{51F7C45E-0B29-45BF-A1F2-002E053C0BEF}" type="presOf" srcId="{F5E76076-C6F9-4A23-AE65-C57AA7950C20}" destId="{383184D4-F1B7-4B9B-9558-4AC1EF6A622D}" srcOrd="0" destOrd="0" presId="urn:microsoft.com/office/officeart/2005/8/layout/hProcess3"/>
    <dgm:cxn modelId="{58F8755F-65E7-4D17-91E2-B32890D49399}" type="presOf" srcId="{B3C434EF-798B-44DE-9AD6-91656880A130}" destId="{95C8AB18-51AF-43E6-827C-7A81866562AD}" srcOrd="0" destOrd="0" presId="urn:microsoft.com/office/officeart/2005/8/layout/hProcess3"/>
    <dgm:cxn modelId="{583D776A-6420-4078-A8AC-BBD67AC1CAB8}" type="presOf" srcId="{D4DBFC60-B637-4332-B13A-7983098ECD89}" destId="{F0612A7A-50E2-408C-B1D0-6E8D78FC3BE1}" srcOrd="0" destOrd="0" presId="urn:microsoft.com/office/officeart/2005/8/layout/hProcess3"/>
    <dgm:cxn modelId="{98DA6F8A-CF3C-4F8A-AA3B-B366764F8854}" type="presOf" srcId="{B7D8CFDE-DD2F-4DAC-910E-50EC1C445DF2}" destId="{54044CED-08B9-4E24-AD9D-E015E74B4007}" srcOrd="0" destOrd="0" presId="urn:microsoft.com/office/officeart/2005/8/layout/hProcess3"/>
    <dgm:cxn modelId="{E949708B-D8B9-4D1D-8FA3-F1ED42F20222}" srcId="{B7D8CFDE-DD2F-4DAC-910E-50EC1C445DF2}" destId="{788E6EA3-69C0-4ACE-9E26-77908AAADDBA}" srcOrd="2" destOrd="0" parTransId="{39E218F7-D642-4CB0-AE46-BA348EC206BF}" sibTransId="{A0E83897-965A-4D2E-981E-19F8F100E46E}"/>
    <dgm:cxn modelId="{B23AF094-7824-4C60-9AF1-9B4A5E18EA70}" srcId="{B7D8CFDE-DD2F-4DAC-910E-50EC1C445DF2}" destId="{4C8C5DF0-F433-4543-BC13-5B6605A10C3B}" srcOrd="1" destOrd="0" parTransId="{3CF38707-151F-4689-93F1-BCDE8A5AEAA6}" sibTransId="{EDFE8634-0339-4CB1-BE75-04A77CDDAF5B}"/>
    <dgm:cxn modelId="{72665395-20EF-4AF5-A1FD-772C4BB8CAF7}" type="presOf" srcId="{4C8C5DF0-F433-4543-BC13-5B6605A10C3B}" destId="{5875BAC3-9C4F-42E7-8BB1-DC0EE42CF7ED}" srcOrd="0" destOrd="0" presId="urn:microsoft.com/office/officeart/2005/8/layout/hProcess3"/>
    <dgm:cxn modelId="{10E925A5-A8CA-4014-91CE-4123297EE27F}" srcId="{B7D8CFDE-DD2F-4DAC-910E-50EC1C445DF2}" destId="{0FD184B5-A4C1-4E0A-BCCB-0073E2A3F8DD}" srcOrd="4" destOrd="0" parTransId="{51B94FD7-81CC-4D81-A6D3-6B0236F3B4E4}" sibTransId="{F42DF1E9-3FB3-4E52-865E-22C4D3613BCA}"/>
    <dgm:cxn modelId="{F0ED6CB9-7A2A-41AA-83DC-D06139CBE221}" type="presOf" srcId="{4AE03F4D-35C6-4C89-BF50-3CBDDC6E0977}" destId="{C9DD8342-5CA7-4065-932F-6976A146E1A8}" srcOrd="0" destOrd="0" presId="urn:microsoft.com/office/officeart/2005/8/layout/hProcess3"/>
    <dgm:cxn modelId="{D52FACBF-248D-4371-90C1-0D3557D2FF12}" type="presOf" srcId="{0FD184B5-A4C1-4E0A-BCCB-0073E2A3F8DD}" destId="{9D5250FA-FE7F-4A62-B344-8F841E3533E6}" srcOrd="0" destOrd="0" presId="urn:microsoft.com/office/officeart/2005/8/layout/hProcess3"/>
    <dgm:cxn modelId="{5BC9ADCF-6542-4BED-9B08-F08A39DE33C4}" type="presOf" srcId="{788E6EA3-69C0-4ACE-9E26-77908AAADDBA}" destId="{0DCA8F88-5608-411E-8EC6-7855FF3A8B32}" srcOrd="0" destOrd="0" presId="urn:microsoft.com/office/officeart/2005/8/layout/hProcess3"/>
    <dgm:cxn modelId="{0FE356F1-A6A6-41FB-A8EB-33BD981FF65B}" srcId="{B7D8CFDE-DD2F-4DAC-910E-50EC1C445DF2}" destId="{B3C434EF-798B-44DE-9AD6-91656880A130}" srcOrd="6" destOrd="0" parTransId="{79C01023-2194-4EB5-B974-B54D099A6CB8}" sibTransId="{F0D94D2A-2382-4418-B94A-B49620AD6915}"/>
    <dgm:cxn modelId="{B1BC5C65-CD64-4EAA-9386-2AD0BD6CA8EF}" type="presParOf" srcId="{54044CED-08B9-4E24-AD9D-E015E74B4007}" destId="{4F2B7F8F-ADE6-4BCB-832A-1E9B6492DC55}" srcOrd="0" destOrd="0" presId="urn:microsoft.com/office/officeart/2005/8/layout/hProcess3"/>
    <dgm:cxn modelId="{21F5E4E5-7051-4A41-8C3F-96DF2AED7B54}" type="presParOf" srcId="{54044CED-08B9-4E24-AD9D-E015E74B4007}" destId="{2988C105-2E9D-4450-8A3F-2D46F5097AB7}" srcOrd="1" destOrd="0" presId="urn:microsoft.com/office/officeart/2005/8/layout/hProcess3"/>
    <dgm:cxn modelId="{2ECEC9FF-6854-40F1-86DA-5A55F0C22BD2}" type="presParOf" srcId="{2988C105-2E9D-4450-8A3F-2D46F5097AB7}" destId="{2F219BF7-8F36-45CB-A261-E12EC739A91F}" srcOrd="0" destOrd="0" presId="urn:microsoft.com/office/officeart/2005/8/layout/hProcess3"/>
    <dgm:cxn modelId="{E002BD9E-7637-4B52-BBF1-B9E973FE4FCB}" type="presParOf" srcId="{2988C105-2E9D-4450-8A3F-2D46F5097AB7}" destId="{7C21B789-651E-48E0-96BF-81EE9E9F97DC}" srcOrd="1" destOrd="0" presId="urn:microsoft.com/office/officeart/2005/8/layout/hProcess3"/>
    <dgm:cxn modelId="{4D20DDAC-E2C1-40FE-8ED8-DEE5E07AAD6E}" type="presParOf" srcId="{7C21B789-651E-48E0-96BF-81EE9E9F97DC}" destId="{D1AE936D-6AC3-449A-85C5-BE7D9F04BE54}" srcOrd="0" destOrd="0" presId="urn:microsoft.com/office/officeart/2005/8/layout/hProcess3"/>
    <dgm:cxn modelId="{590319D7-D607-449B-9EB0-5F23F5190502}" type="presParOf" srcId="{7C21B789-651E-48E0-96BF-81EE9E9F97DC}" destId="{383184D4-F1B7-4B9B-9558-4AC1EF6A622D}" srcOrd="1" destOrd="0" presId="urn:microsoft.com/office/officeart/2005/8/layout/hProcess3"/>
    <dgm:cxn modelId="{0BB4F352-C1F4-48CD-8E5F-5AD461055923}" type="presParOf" srcId="{7C21B789-651E-48E0-96BF-81EE9E9F97DC}" destId="{379579A7-A3DF-4B95-AD66-9B7C0285E88A}" srcOrd="2" destOrd="0" presId="urn:microsoft.com/office/officeart/2005/8/layout/hProcess3"/>
    <dgm:cxn modelId="{030FAD0A-8C4B-4547-BEB0-B6A7B3DF15F9}" type="presParOf" srcId="{7C21B789-651E-48E0-96BF-81EE9E9F97DC}" destId="{0BD8B5D7-CAD9-4E93-9C93-C7A0F0B121A9}" srcOrd="3" destOrd="0" presId="urn:microsoft.com/office/officeart/2005/8/layout/hProcess3"/>
    <dgm:cxn modelId="{36D22E3F-866B-4557-927B-CAC62BA83279}" type="presParOf" srcId="{2988C105-2E9D-4450-8A3F-2D46F5097AB7}" destId="{EA9B4047-D111-40D1-9140-086FDFBAFB24}" srcOrd="2" destOrd="0" presId="urn:microsoft.com/office/officeart/2005/8/layout/hProcess3"/>
    <dgm:cxn modelId="{4B242412-5C00-4BC0-B53A-39CD5D73D59D}" type="presParOf" srcId="{2988C105-2E9D-4450-8A3F-2D46F5097AB7}" destId="{940EFEF5-56A1-4154-B3C1-D434E2CA82BB}" srcOrd="3" destOrd="0" presId="urn:microsoft.com/office/officeart/2005/8/layout/hProcess3"/>
    <dgm:cxn modelId="{14954ECC-DFF4-41C3-96FF-954EA712E73D}" type="presParOf" srcId="{940EFEF5-56A1-4154-B3C1-D434E2CA82BB}" destId="{CB7B93D6-E9BA-41C7-ADF5-4153B0FE3930}" srcOrd="0" destOrd="0" presId="urn:microsoft.com/office/officeart/2005/8/layout/hProcess3"/>
    <dgm:cxn modelId="{F16145EC-243E-461B-870B-8EF293F55BEF}" type="presParOf" srcId="{940EFEF5-56A1-4154-B3C1-D434E2CA82BB}" destId="{5875BAC3-9C4F-42E7-8BB1-DC0EE42CF7ED}" srcOrd="1" destOrd="0" presId="urn:microsoft.com/office/officeart/2005/8/layout/hProcess3"/>
    <dgm:cxn modelId="{9BAEAA2E-3AC3-4864-AA38-BA4323473BB1}" type="presParOf" srcId="{940EFEF5-56A1-4154-B3C1-D434E2CA82BB}" destId="{86EC6F96-BF40-41AF-A578-A53FC3A7AD14}" srcOrd="2" destOrd="0" presId="urn:microsoft.com/office/officeart/2005/8/layout/hProcess3"/>
    <dgm:cxn modelId="{1687E2E4-4DAE-4AE2-B0AB-7AC00DFC5A55}" type="presParOf" srcId="{940EFEF5-56A1-4154-B3C1-D434E2CA82BB}" destId="{04AF6461-D92A-4D9D-800C-2B9663616AD1}" srcOrd="3" destOrd="0" presId="urn:microsoft.com/office/officeart/2005/8/layout/hProcess3"/>
    <dgm:cxn modelId="{697EF759-05EC-49BE-895D-F453DC77D027}" type="presParOf" srcId="{2988C105-2E9D-4450-8A3F-2D46F5097AB7}" destId="{766EAB0B-B1D2-4A7D-81D7-BE7CA0961A0E}" srcOrd="4" destOrd="0" presId="urn:microsoft.com/office/officeart/2005/8/layout/hProcess3"/>
    <dgm:cxn modelId="{5B5A04A9-E245-4C53-892E-C7F37234E4CF}" type="presParOf" srcId="{2988C105-2E9D-4450-8A3F-2D46F5097AB7}" destId="{E437EF57-98AE-4240-B545-D0E97B16D9A1}" srcOrd="5" destOrd="0" presId="urn:microsoft.com/office/officeart/2005/8/layout/hProcess3"/>
    <dgm:cxn modelId="{ACEF3D87-E0AE-4747-95BB-78CBDFFBA6AF}" type="presParOf" srcId="{E437EF57-98AE-4240-B545-D0E97B16D9A1}" destId="{7995185E-3622-497D-8EAA-BF0E6F8F7AC7}" srcOrd="0" destOrd="0" presId="urn:microsoft.com/office/officeart/2005/8/layout/hProcess3"/>
    <dgm:cxn modelId="{66EB3CE0-B281-4B96-A269-3820C81D394C}" type="presParOf" srcId="{E437EF57-98AE-4240-B545-D0E97B16D9A1}" destId="{0DCA8F88-5608-411E-8EC6-7855FF3A8B32}" srcOrd="1" destOrd="0" presId="urn:microsoft.com/office/officeart/2005/8/layout/hProcess3"/>
    <dgm:cxn modelId="{3877CECF-4094-4E2B-8113-1C146637D8B8}" type="presParOf" srcId="{E437EF57-98AE-4240-B545-D0E97B16D9A1}" destId="{7AEC6615-7CDA-4D4E-AA89-F44B66B6FF26}" srcOrd="2" destOrd="0" presId="urn:microsoft.com/office/officeart/2005/8/layout/hProcess3"/>
    <dgm:cxn modelId="{39B38686-7581-444C-AD45-025AE28D2052}" type="presParOf" srcId="{E437EF57-98AE-4240-B545-D0E97B16D9A1}" destId="{96F5E60E-6A8E-414B-9BB3-060071D36E62}" srcOrd="3" destOrd="0" presId="urn:microsoft.com/office/officeart/2005/8/layout/hProcess3"/>
    <dgm:cxn modelId="{76C90D85-DF7C-4B23-A114-F30748AC25BE}" type="presParOf" srcId="{2988C105-2E9D-4450-8A3F-2D46F5097AB7}" destId="{A649F462-A6B2-498D-897C-894BC76FF138}" srcOrd="6" destOrd="0" presId="urn:microsoft.com/office/officeart/2005/8/layout/hProcess3"/>
    <dgm:cxn modelId="{4EC3B4B3-43A8-4AE9-901C-C027EE4B1E2B}" type="presParOf" srcId="{2988C105-2E9D-4450-8A3F-2D46F5097AB7}" destId="{FA67D3B1-6E56-461B-9B81-19D887DE8031}" srcOrd="7" destOrd="0" presId="urn:microsoft.com/office/officeart/2005/8/layout/hProcess3"/>
    <dgm:cxn modelId="{F818F3C8-C2ED-42DF-84E8-F2017C7E1576}" type="presParOf" srcId="{FA67D3B1-6E56-461B-9B81-19D887DE8031}" destId="{157510BC-1BD7-404F-88F8-5CD8B2CC1804}" srcOrd="0" destOrd="0" presId="urn:microsoft.com/office/officeart/2005/8/layout/hProcess3"/>
    <dgm:cxn modelId="{CE52C65A-6D92-43FF-874E-63D146501CDF}" type="presParOf" srcId="{FA67D3B1-6E56-461B-9B81-19D887DE8031}" destId="{C9DD8342-5CA7-4065-932F-6976A146E1A8}" srcOrd="1" destOrd="0" presId="urn:microsoft.com/office/officeart/2005/8/layout/hProcess3"/>
    <dgm:cxn modelId="{B8A79451-4DBB-4111-88E0-74A1A0E38BBB}" type="presParOf" srcId="{FA67D3B1-6E56-461B-9B81-19D887DE8031}" destId="{EF7660E7-AFEA-4227-95B4-733C2AD89140}" srcOrd="2" destOrd="0" presId="urn:microsoft.com/office/officeart/2005/8/layout/hProcess3"/>
    <dgm:cxn modelId="{0FDEA700-719D-4961-880E-D2C0AD3C09C0}" type="presParOf" srcId="{FA67D3B1-6E56-461B-9B81-19D887DE8031}" destId="{C0AA47C3-C5D0-4EF4-82FF-5F34E10B81A1}" srcOrd="3" destOrd="0" presId="urn:microsoft.com/office/officeart/2005/8/layout/hProcess3"/>
    <dgm:cxn modelId="{230E6F4B-A1CB-4217-ADC2-EA98999B06C9}" type="presParOf" srcId="{2988C105-2E9D-4450-8A3F-2D46F5097AB7}" destId="{57D54639-79D6-4A99-B1D8-54A1039369D5}" srcOrd="8" destOrd="0" presId="urn:microsoft.com/office/officeart/2005/8/layout/hProcess3"/>
    <dgm:cxn modelId="{EA95EC98-3596-48C2-B502-7DC6486D6722}" type="presParOf" srcId="{2988C105-2E9D-4450-8A3F-2D46F5097AB7}" destId="{FED5DFF1-BD57-4292-91DA-B5AFC565B80E}" srcOrd="9" destOrd="0" presId="urn:microsoft.com/office/officeart/2005/8/layout/hProcess3"/>
    <dgm:cxn modelId="{3D8E8114-3EDE-4633-B3C9-8F9D4BF657A7}" type="presParOf" srcId="{FED5DFF1-BD57-4292-91DA-B5AFC565B80E}" destId="{21096C9C-9AB4-435C-8229-98E27363E657}" srcOrd="0" destOrd="0" presId="urn:microsoft.com/office/officeart/2005/8/layout/hProcess3"/>
    <dgm:cxn modelId="{30AEF97B-20C2-4AD9-9400-F23CFE84AC06}" type="presParOf" srcId="{FED5DFF1-BD57-4292-91DA-B5AFC565B80E}" destId="{9D5250FA-FE7F-4A62-B344-8F841E3533E6}" srcOrd="1" destOrd="0" presId="urn:microsoft.com/office/officeart/2005/8/layout/hProcess3"/>
    <dgm:cxn modelId="{B98CC1C1-669C-4FA6-B655-CF0124678A27}" type="presParOf" srcId="{FED5DFF1-BD57-4292-91DA-B5AFC565B80E}" destId="{7E56B51C-4555-4C0B-9554-154E4F5CC6CA}" srcOrd="2" destOrd="0" presId="urn:microsoft.com/office/officeart/2005/8/layout/hProcess3"/>
    <dgm:cxn modelId="{F442894E-8851-42B5-B0E6-C9547860C292}" type="presParOf" srcId="{FED5DFF1-BD57-4292-91DA-B5AFC565B80E}" destId="{4A101DEC-50D7-4E92-B0BA-F2AFA26782C1}" srcOrd="3" destOrd="0" presId="urn:microsoft.com/office/officeart/2005/8/layout/hProcess3"/>
    <dgm:cxn modelId="{02A16679-7FC7-4C72-AB08-656862B74B32}" type="presParOf" srcId="{2988C105-2E9D-4450-8A3F-2D46F5097AB7}" destId="{CA17FE98-F36D-45CB-A1F2-36B2785AF211}" srcOrd="10" destOrd="0" presId="urn:microsoft.com/office/officeart/2005/8/layout/hProcess3"/>
    <dgm:cxn modelId="{BAEE0D27-C8B2-4D42-95C5-ED56F7C9011B}" type="presParOf" srcId="{2988C105-2E9D-4450-8A3F-2D46F5097AB7}" destId="{47B2FDFD-5005-4A9B-9F69-3166953AACA2}" srcOrd="11" destOrd="0" presId="urn:microsoft.com/office/officeart/2005/8/layout/hProcess3"/>
    <dgm:cxn modelId="{F3C9A954-9D4D-411B-A8EC-638A69B0C1E0}" type="presParOf" srcId="{47B2FDFD-5005-4A9B-9F69-3166953AACA2}" destId="{02173C41-088F-4E49-BA20-8C60199D8BEB}" srcOrd="0" destOrd="0" presId="urn:microsoft.com/office/officeart/2005/8/layout/hProcess3"/>
    <dgm:cxn modelId="{EECF3F20-2B5F-424F-8A4C-D7B7B42B294B}" type="presParOf" srcId="{47B2FDFD-5005-4A9B-9F69-3166953AACA2}" destId="{F0612A7A-50E2-408C-B1D0-6E8D78FC3BE1}" srcOrd="1" destOrd="0" presId="urn:microsoft.com/office/officeart/2005/8/layout/hProcess3"/>
    <dgm:cxn modelId="{3B427828-B881-4C23-BA3D-E63C3FF1A1C6}" type="presParOf" srcId="{47B2FDFD-5005-4A9B-9F69-3166953AACA2}" destId="{D567C6D4-D023-40E4-AF7D-243624E04763}" srcOrd="2" destOrd="0" presId="urn:microsoft.com/office/officeart/2005/8/layout/hProcess3"/>
    <dgm:cxn modelId="{A366EB5A-CD79-4259-9DFF-066C5A61559D}" type="presParOf" srcId="{47B2FDFD-5005-4A9B-9F69-3166953AACA2}" destId="{24639732-1B93-4D3E-8049-CAC48289C977}" srcOrd="3" destOrd="0" presId="urn:microsoft.com/office/officeart/2005/8/layout/hProcess3"/>
    <dgm:cxn modelId="{5D54D69A-898C-4CF6-BBA7-E4FC70ED9FF8}" type="presParOf" srcId="{2988C105-2E9D-4450-8A3F-2D46F5097AB7}" destId="{FA444608-962B-4440-AED8-3C978023CCD3}" srcOrd="12" destOrd="0" presId="urn:microsoft.com/office/officeart/2005/8/layout/hProcess3"/>
    <dgm:cxn modelId="{915FA63A-2B28-4C1D-9044-E854517CAFAD}" type="presParOf" srcId="{2988C105-2E9D-4450-8A3F-2D46F5097AB7}" destId="{5763D157-7111-404A-9B0C-4C3384F9DE9E}" srcOrd="13" destOrd="0" presId="urn:microsoft.com/office/officeart/2005/8/layout/hProcess3"/>
    <dgm:cxn modelId="{B2755063-A509-4B07-AD89-6569B3B68288}" type="presParOf" srcId="{5763D157-7111-404A-9B0C-4C3384F9DE9E}" destId="{2E97F98D-7134-42F6-8607-51CE379646C0}" srcOrd="0" destOrd="0" presId="urn:microsoft.com/office/officeart/2005/8/layout/hProcess3"/>
    <dgm:cxn modelId="{6D8679ED-0F3E-4140-9F1E-1E437411809D}" type="presParOf" srcId="{5763D157-7111-404A-9B0C-4C3384F9DE9E}" destId="{95C8AB18-51AF-43E6-827C-7A81866562AD}" srcOrd="1" destOrd="0" presId="urn:microsoft.com/office/officeart/2005/8/layout/hProcess3"/>
    <dgm:cxn modelId="{7B647CA2-AA66-4531-AFC3-29792D0D5129}" type="presParOf" srcId="{5763D157-7111-404A-9B0C-4C3384F9DE9E}" destId="{D12142CB-F77A-4270-B8D0-2DB882F69818}" srcOrd="2" destOrd="0" presId="urn:microsoft.com/office/officeart/2005/8/layout/hProcess3"/>
    <dgm:cxn modelId="{4A169D0E-D75F-4A3D-B198-431ABB75B058}" type="presParOf" srcId="{5763D157-7111-404A-9B0C-4C3384F9DE9E}" destId="{39833630-F352-4FC1-B69E-29AE69DE3312}" srcOrd="3" destOrd="0" presId="urn:microsoft.com/office/officeart/2005/8/layout/hProcess3"/>
    <dgm:cxn modelId="{AB0E0177-7F8F-48D6-8DC1-69DF92B6FE0C}" type="presParOf" srcId="{2988C105-2E9D-4450-8A3F-2D46F5097AB7}" destId="{F1721F1D-25FC-41AA-9849-E282FAB3F663}" srcOrd="14" destOrd="0" presId="urn:microsoft.com/office/officeart/2005/8/layout/hProcess3"/>
    <dgm:cxn modelId="{0B8B2A6E-C9F6-47E1-9E51-7AFF417161B5}" type="presParOf" srcId="{2988C105-2E9D-4450-8A3F-2D46F5097AB7}" destId="{4FC10BFB-4D73-43A6-9E48-7B53B6235AFA}" srcOrd="15" destOrd="0" presId="urn:microsoft.com/office/officeart/2005/8/layout/hProcess3"/>
    <dgm:cxn modelId="{6E17FE64-68F7-4F57-A8C0-C3BD7BF38742}" type="presParOf" srcId="{2988C105-2E9D-4450-8A3F-2D46F5097AB7}" destId="{94C20782-2DBA-4390-92E1-1E7EDA424DAE}" srcOrd="16"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F75D7D3-861F-43A1-B8E7-26C584EF330C}" type="doc">
      <dgm:prSet loTypeId="urn:microsoft.com/office/officeart/2005/8/layout/radial4" loCatId="relationship" qsTypeId="urn:microsoft.com/office/officeart/2005/8/quickstyle/simple1" qsCatId="simple" csTypeId="urn:microsoft.com/office/officeart/2005/8/colors/accent0_3" csCatId="mainScheme" phldr="1"/>
      <dgm:spPr/>
      <dgm:t>
        <a:bodyPr/>
        <a:lstStyle/>
        <a:p>
          <a:endParaRPr lang="en-US"/>
        </a:p>
      </dgm:t>
    </dgm:pt>
    <dgm:pt modelId="{B8C35A45-904C-4AD3-B000-89441B03E323}">
      <dgm:prSet phldrT="[Text]" custT="1"/>
      <dgm:spPr/>
      <dgm:t>
        <a:bodyPr lIns="0" rIns="0"/>
        <a:lstStyle/>
        <a:p>
          <a:r>
            <a:rPr lang="en-US" sz="1700" dirty="0">
              <a:latin typeface="Calibri" panose="020F0502020204030204" pitchFamily="34" charset="0"/>
              <a:cs typeface="Calibri" panose="020F0502020204030204" pitchFamily="34" charset="0"/>
            </a:rPr>
            <a:t>Commercialization Options</a:t>
          </a:r>
        </a:p>
      </dgm:t>
    </dgm:pt>
    <dgm:pt modelId="{D10E6964-682E-4C73-BDF0-AF457D661FA4}" type="parTrans" cxnId="{29454A92-6BDC-494F-8D60-E60F3793F78C}">
      <dgm:prSet/>
      <dgm:spPr/>
      <dgm:t>
        <a:bodyPr/>
        <a:lstStyle/>
        <a:p>
          <a:endParaRPr lang="en-US" sz="2000">
            <a:latin typeface="Calibri" panose="020F0502020204030204" pitchFamily="34" charset="0"/>
            <a:cs typeface="Calibri" panose="020F0502020204030204" pitchFamily="34" charset="0"/>
          </a:endParaRPr>
        </a:p>
      </dgm:t>
    </dgm:pt>
    <dgm:pt modelId="{68F4D1CC-AD80-4AB6-B3F2-ECB4E003D07F}" type="sibTrans" cxnId="{29454A92-6BDC-494F-8D60-E60F3793F78C}">
      <dgm:prSet/>
      <dgm:spPr/>
      <dgm:t>
        <a:bodyPr/>
        <a:lstStyle/>
        <a:p>
          <a:endParaRPr lang="en-US" sz="2000">
            <a:latin typeface="Calibri" panose="020F0502020204030204" pitchFamily="34" charset="0"/>
            <a:cs typeface="Calibri" panose="020F0502020204030204" pitchFamily="34" charset="0"/>
          </a:endParaRPr>
        </a:p>
      </dgm:t>
    </dgm:pt>
    <dgm:pt modelId="{D96C9DD3-DE0D-4AC9-9639-1825B1CE3880}">
      <dgm:prSet phldrT="[Text]" custT="1"/>
      <dgm:spPr/>
      <dgm:t>
        <a:bodyPr/>
        <a:lstStyle/>
        <a:p>
          <a:r>
            <a:rPr lang="en-US" sz="2000" b="1">
              <a:solidFill>
                <a:srgbClr val="FFFF00"/>
              </a:solidFill>
              <a:latin typeface="Calibri" panose="020F0502020204030204" pitchFamily="34" charset="0"/>
              <a:cs typeface="Calibri" panose="020F0502020204030204" pitchFamily="34" charset="0"/>
            </a:rPr>
            <a:t>Start-up</a:t>
          </a:r>
          <a:endParaRPr lang="en-US" sz="2000" b="1" dirty="0">
            <a:solidFill>
              <a:srgbClr val="FFFF00"/>
            </a:solidFill>
            <a:latin typeface="Calibri" panose="020F0502020204030204" pitchFamily="34" charset="0"/>
            <a:cs typeface="Calibri" panose="020F0502020204030204" pitchFamily="34" charset="0"/>
          </a:endParaRPr>
        </a:p>
      </dgm:t>
    </dgm:pt>
    <dgm:pt modelId="{218A97DE-2517-4C55-BE25-677D3854B5D2}" type="parTrans" cxnId="{9869D58C-2FBD-4730-BAC9-7641D1820F69}">
      <dgm:prSet/>
      <dgm:spPr/>
      <dgm:t>
        <a:bodyPr/>
        <a:lstStyle/>
        <a:p>
          <a:endParaRPr lang="en-US" sz="2000">
            <a:latin typeface="Calibri" panose="020F0502020204030204" pitchFamily="34" charset="0"/>
            <a:cs typeface="Calibri" panose="020F0502020204030204" pitchFamily="34" charset="0"/>
          </a:endParaRPr>
        </a:p>
      </dgm:t>
    </dgm:pt>
    <dgm:pt modelId="{AB629F98-422E-4B0C-8627-9DA9D483B2BD}" type="sibTrans" cxnId="{9869D58C-2FBD-4730-BAC9-7641D1820F69}">
      <dgm:prSet/>
      <dgm:spPr/>
      <dgm:t>
        <a:bodyPr/>
        <a:lstStyle/>
        <a:p>
          <a:endParaRPr lang="en-US" sz="2000">
            <a:latin typeface="Calibri" panose="020F0502020204030204" pitchFamily="34" charset="0"/>
            <a:cs typeface="Calibri" panose="020F0502020204030204" pitchFamily="34" charset="0"/>
          </a:endParaRPr>
        </a:p>
      </dgm:t>
    </dgm:pt>
    <dgm:pt modelId="{FD40FA72-8880-4423-A2ED-DA5546EA4B19}">
      <dgm:prSet phldrT="[Text]" custT="1"/>
      <dgm:spPr/>
      <dgm:t>
        <a:bodyPr/>
        <a:lstStyle/>
        <a:p>
          <a:r>
            <a:rPr lang="en-US" sz="1600" dirty="0">
              <a:latin typeface="Calibri" panose="020F0502020204030204" pitchFamily="34" charset="0"/>
              <a:cs typeface="Calibri" panose="020F0502020204030204" pitchFamily="34" charset="0"/>
            </a:rPr>
            <a:t>Acquisition</a:t>
          </a:r>
        </a:p>
      </dgm:t>
    </dgm:pt>
    <dgm:pt modelId="{CC7A78F1-A285-4D11-B0F7-9126E9450E77}" type="parTrans" cxnId="{32FBA596-D158-4C84-9C79-F14DB48EF20B}">
      <dgm:prSet/>
      <dgm:spPr/>
      <dgm:t>
        <a:bodyPr/>
        <a:lstStyle/>
        <a:p>
          <a:endParaRPr lang="en-US" sz="2000">
            <a:latin typeface="Calibri" panose="020F0502020204030204" pitchFamily="34" charset="0"/>
            <a:cs typeface="Calibri" panose="020F0502020204030204" pitchFamily="34" charset="0"/>
          </a:endParaRPr>
        </a:p>
      </dgm:t>
    </dgm:pt>
    <dgm:pt modelId="{A3F225D0-539F-4D65-ABD5-FC8AD9AE0943}" type="sibTrans" cxnId="{32FBA596-D158-4C84-9C79-F14DB48EF20B}">
      <dgm:prSet/>
      <dgm:spPr/>
      <dgm:t>
        <a:bodyPr/>
        <a:lstStyle/>
        <a:p>
          <a:endParaRPr lang="en-US" sz="2000">
            <a:latin typeface="Calibri" panose="020F0502020204030204" pitchFamily="34" charset="0"/>
            <a:cs typeface="Calibri" panose="020F0502020204030204" pitchFamily="34" charset="0"/>
          </a:endParaRPr>
        </a:p>
      </dgm:t>
    </dgm:pt>
    <dgm:pt modelId="{FBB26336-B8FD-41F5-A8C0-08BFC425B413}">
      <dgm:prSet phldrT="[Text]" custT="1"/>
      <dgm:spPr/>
      <dgm:t>
        <a:bodyPr/>
        <a:lstStyle/>
        <a:p>
          <a:r>
            <a:rPr lang="en-US" sz="1600" dirty="0">
              <a:latin typeface="Calibri" panose="020F0502020204030204" pitchFamily="34" charset="0"/>
              <a:cs typeface="Calibri" panose="020F0502020204030204" pitchFamily="34" charset="0"/>
            </a:rPr>
            <a:t>Direct Sale</a:t>
          </a:r>
        </a:p>
      </dgm:t>
    </dgm:pt>
    <dgm:pt modelId="{BC3DA6D2-362F-47E5-8A82-0385FF75755B}" type="parTrans" cxnId="{9C4441FF-5F99-4914-8EE8-FCDF633C2CAA}">
      <dgm:prSet/>
      <dgm:spPr/>
      <dgm:t>
        <a:bodyPr/>
        <a:lstStyle/>
        <a:p>
          <a:endParaRPr lang="en-US" sz="2000">
            <a:latin typeface="Calibri" panose="020F0502020204030204" pitchFamily="34" charset="0"/>
            <a:cs typeface="Calibri" panose="020F0502020204030204" pitchFamily="34" charset="0"/>
          </a:endParaRPr>
        </a:p>
      </dgm:t>
    </dgm:pt>
    <dgm:pt modelId="{C19389B9-07C9-4BB3-B419-B61CB5E15A87}" type="sibTrans" cxnId="{9C4441FF-5F99-4914-8EE8-FCDF633C2CAA}">
      <dgm:prSet/>
      <dgm:spPr/>
      <dgm:t>
        <a:bodyPr/>
        <a:lstStyle/>
        <a:p>
          <a:endParaRPr lang="en-US" sz="2000">
            <a:latin typeface="Calibri" panose="020F0502020204030204" pitchFamily="34" charset="0"/>
            <a:cs typeface="Calibri" panose="020F0502020204030204" pitchFamily="34" charset="0"/>
          </a:endParaRPr>
        </a:p>
      </dgm:t>
    </dgm:pt>
    <dgm:pt modelId="{4ECE7AEF-2859-446C-86F9-54A3251C6EBA}" type="pres">
      <dgm:prSet presAssocID="{FF75D7D3-861F-43A1-B8E7-26C584EF330C}" presName="cycle" presStyleCnt="0">
        <dgm:presLayoutVars>
          <dgm:chMax val="1"/>
          <dgm:dir/>
          <dgm:animLvl val="ctr"/>
          <dgm:resizeHandles val="exact"/>
        </dgm:presLayoutVars>
      </dgm:prSet>
      <dgm:spPr/>
    </dgm:pt>
    <dgm:pt modelId="{C7CE11E4-8D21-42A7-9A26-C19EBCC441CE}" type="pres">
      <dgm:prSet presAssocID="{B8C35A45-904C-4AD3-B000-89441B03E323}" presName="centerShape" presStyleLbl="node0" presStyleIdx="0" presStyleCnt="1" custScaleX="178881"/>
      <dgm:spPr/>
    </dgm:pt>
    <dgm:pt modelId="{C4712EF8-2E85-446B-8610-94D5EC52851F}" type="pres">
      <dgm:prSet presAssocID="{218A97DE-2517-4C55-BE25-677D3854B5D2}" presName="parTrans" presStyleLbl="bgSibTrans2D1" presStyleIdx="0" presStyleCnt="3"/>
      <dgm:spPr/>
    </dgm:pt>
    <dgm:pt modelId="{ECACE816-AAC3-41E8-8645-C3BB873E6CDA}" type="pres">
      <dgm:prSet presAssocID="{D96C9DD3-DE0D-4AC9-9639-1825B1CE3880}" presName="node" presStyleLbl="node1" presStyleIdx="0" presStyleCnt="3" custScaleY="56768" custRadScaleRad="156534" custRadScaleInc="-27211">
        <dgm:presLayoutVars>
          <dgm:bulletEnabled val="1"/>
        </dgm:presLayoutVars>
      </dgm:prSet>
      <dgm:spPr/>
    </dgm:pt>
    <dgm:pt modelId="{EF4DBEB8-2882-4C01-9187-B0BBADEA3750}" type="pres">
      <dgm:prSet presAssocID="{CC7A78F1-A285-4D11-B0F7-9126E9450E77}" presName="parTrans" presStyleLbl="bgSibTrans2D1" presStyleIdx="1" presStyleCnt="3"/>
      <dgm:spPr/>
    </dgm:pt>
    <dgm:pt modelId="{68AAF02C-A05A-4617-81F2-396513300701}" type="pres">
      <dgm:prSet presAssocID="{FD40FA72-8880-4423-A2ED-DA5546EA4B19}" presName="node" presStyleLbl="node1" presStyleIdx="1" presStyleCnt="3" custScaleY="56768">
        <dgm:presLayoutVars>
          <dgm:bulletEnabled val="1"/>
        </dgm:presLayoutVars>
      </dgm:prSet>
      <dgm:spPr/>
    </dgm:pt>
    <dgm:pt modelId="{53810E58-0246-4553-9F5F-E0CADE7FA48F}" type="pres">
      <dgm:prSet presAssocID="{BC3DA6D2-362F-47E5-8A82-0385FF75755B}" presName="parTrans" presStyleLbl="bgSibTrans2D1" presStyleIdx="2" presStyleCnt="3"/>
      <dgm:spPr/>
    </dgm:pt>
    <dgm:pt modelId="{7BEBAEBD-F07B-4963-B974-1A16022A0517}" type="pres">
      <dgm:prSet presAssocID="{FBB26336-B8FD-41F5-A8C0-08BFC425B413}" presName="node" presStyleLbl="node1" presStyleIdx="2" presStyleCnt="3" custScaleY="56768" custRadScaleRad="159107" custRadScaleInc="23196">
        <dgm:presLayoutVars>
          <dgm:bulletEnabled val="1"/>
        </dgm:presLayoutVars>
      </dgm:prSet>
      <dgm:spPr/>
    </dgm:pt>
  </dgm:ptLst>
  <dgm:cxnLst>
    <dgm:cxn modelId="{ECD7A812-C043-4F01-8584-C9A1A5E57B7D}" type="presOf" srcId="{CC7A78F1-A285-4D11-B0F7-9126E9450E77}" destId="{EF4DBEB8-2882-4C01-9187-B0BBADEA3750}" srcOrd="0" destOrd="0" presId="urn:microsoft.com/office/officeart/2005/8/layout/radial4"/>
    <dgm:cxn modelId="{3CB20130-FAB8-4DF1-8576-7C4AF2823C76}" type="presOf" srcId="{218A97DE-2517-4C55-BE25-677D3854B5D2}" destId="{C4712EF8-2E85-446B-8610-94D5EC52851F}" srcOrd="0" destOrd="0" presId="urn:microsoft.com/office/officeart/2005/8/layout/radial4"/>
    <dgm:cxn modelId="{6F2A0F5D-58A3-47CE-9178-DA7236730109}" type="presOf" srcId="{FBB26336-B8FD-41F5-A8C0-08BFC425B413}" destId="{7BEBAEBD-F07B-4963-B974-1A16022A0517}" srcOrd="0" destOrd="0" presId="urn:microsoft.com/office/officeart/2005/8/layout/radial4"/>
    <dgm:cxn modelId="{20FD6F53-7717-4681-8D0C-760D8FADE0D3}" type="presOf" srcId="{FF75D7D3-861F-43A1-B8E7-26C584EF330C}" destId="{4ECE7AEF-2859-446C-86F9-54A3251C6EBA}" srcOrd="0" destOrd="0" presId="urn:microsoft.com/office/officeart/2005/8/layout/radial4"/>
    <dgm:cxn modelId="{9869D58C-2FBD-4730-BAC9-7641D1820F69}" srcId="{B8C35A45-904C-4AD3-B000-89441B03E323}" destId="{D96C9DD3-DE0D-4AC9-9639-1825B1CE3880}" srcOrd="0" destOrd="0" parTransId="{218A97DE-2517-4C55-BE25-677D3854B5D2}" sibTransId="{AB629F98-422E-4B0C-8627-9DA9D483B2BD}"/>
    <dgm:cxn modelId="{29454A92-6BDC-494F-8D60-E60F3793F78C}" srcId="{FF75D7D3-861F-43A1-B8E7-26C584EF330C}" destId="{B8C35A45-904C-4AD3-B000-89441B03E323}" srcOrd="0" destOrd="0" parTransId="{D10E6964-682E-4C73-BDF0-AF457D661FA4}" sibTransId="{68F4D1CC-AD80-4AB6-B3F2-ECB4E003D07F}"/>
    <dgm:cxn modelId="{32FBA596-D158-4C84-9C79-F14DB48EF20B}" srcId="{B8C35A45-904C-4AD3-B000-89441B03E323}" destId="{FD40FA72-8880-4423-A2ED-DA5546EA4B19}" srcOrd="1" destOrd="0" parTransId="{CC7A78F1-A285-4D11-B0F7-9126E9450E77}" sibTransId="{A3F225D0-539F-4D65-ABD5-FC8AD9AE0943}"/>
    <dgm:cxn modelId="{AE0FFCB4-5928-4668-8C53-5BE57269E328}" type="presOf" srcId="{B8C35A45-904C-4AD3-B000-89441B03E323}" destId="{C7CE11E4-8D21-42A7-9A26-C19EBCC441CE}" srcOrd="0" destOrd="0" presId="urn:microsoft.com/office/officeart/2005/8/layout/radial4"/>
    <dgm:cxn modelId="{14F2E5BE-FE9C-4A77-B6CB-699EEB364D68}" type="presOf" srcId="{D96C9DD3-DE0D-4AC9-9639-1825B1CE3880}" destId="{ECACE816-AAC3-41E8-8645-C3BB873E6CDA}" srcOrd="0" destOrd="0" presId="urn:microsoft.com/office/officeart/2005/8/layout/radial4"/>
    <dgm:cxn modelId="{0C5D3BE4-87E6-4627-BD5D-5FCFE1357B6F}" type="presOf" srcId="{BC3DA6D2-362F-47E5-8A82-0385FF75755B}" destId="{53810E58-0246-4553-9F5F-E0CADE7FA48F}" srcOrd="0" destOrd="0" presId="urn:microsoft.com/office/officeart/2005/8/layout/radial4"/>
    <dgm:cxn modelId="{2BD956FD-4A62-4494-A20F-9D171D4F405F}" type="presOf" srcId="{FD40FA72-8880-4423-A2ED-DA5546EA4B19}" destId="{68AAF02C-A05A-4617-81F2-396513300701}" srcOrd="0" destOrd="0" presId="urn:microsoft.com/office/officeart/2005/8/layout/radial4"/>
    <dgm:cxn modelId="{9C4441FF-5F99-4914-8EE8-FCDF633C2CAA}" srcId="{B8C35A45-904C-4AD3-B000-89441B03E323}" destId="{FBB26336-B8FD-41F5-A8C0-08BFC425B413}" srcOrd="2" destOrd="0" parTransId="{BC3DA6D2-362F-47E5-8A82-0385FF75755B}" sibTransId="{C19389B9-07C9-4BB3-B419-B61CB5E15A87}"/>
    <dgm:cxn modelId="{2F673292-2AAD-45B2-B217-1D1CFCF7E789}" type="presParOf" srcId="{4ECE7AEF-2859-446C-86F9-54A3251C6EBA}" destId="{C7CE11E4-8D21-42A7-9A26-C19EBCC441CE}" srcOrd="0" destOrd="0" presId="urn:microsoft.com/office/officeart/2005/8/layout/radial4"/>
    <dgm:cxn modelId="{E01246DD-BE92-40A2-A6B1-A6EA425A3526}" type="presParOf" srcId="{4ECE7AEF-2859-446C-86F9-54A3251C6EBA}" destId="{C4712EF8-2E85-446B-8610-94D5EC52851F}" srcOrd="1" destOrd="0" presId="urn:microsoft.com/office/officeart/2005/8/layout/radial4"/>
    <dgm:cxn modelId="{66410A6A-DC1D-4C55-86FB-9C44DED1AC0A}" type="presParOf" srcId="{4ECE7AEF-2859-446C-86F9-54A3251C6EBA}" destId="{ECACE816-AAC3-41E8-8645-C3BB873E6CDA}" srcOrd="2" destOrd="0" presId="urn:microsoft.com/office/officeart/2005/8/layout/radial4"/>
    <dgm:cxn modelId="{B577EF71-8406-4122-8F19-F62BCDD63D09}" type="presParOf" srcId="{4ECE7AEF-2859-446C-86F9-54A3251C6EBA}" destId="{EF4DBEB8-2882-4C01-9187-B0BBADEA3750}" srcOrd="3" destOrd="0" presId="urn:microsoft.com/office/officeart/2005/8/layout/radial4"/>
    <dgm:cxn modelId="{E59787DC-DDAA-479B-86AF-C897B28B80BF}" type="presParOf" srcId="{4ECE7AEF-2859-446C-86F9-54A3251C6EBA}" destId="{68AAF02C-A05A-4617-81F2-396513300701}" srcOrd="4" destOrd="0" presId="urn:microsoft.com/office/officeart/2005/8/layout/radial4"/>
    <dgm:cxn modelId="{9EC85949-D608-4D6B-8DB2-9AED51FCD148}" type="presParOf" srcId="{4ECE7AEF-2859-446C-86F9-54A3251C6EBA}" destId="{53810E58-0246-4553-9F5F-E0CADE7FA48F}" srcOrd="5" destOrd="0" presId="urn:microsoft.com/office/officeart/2005/8/layout/radial4"/>
    <dgm:cxn modelId="{02A8BFA5-DA88-4756-8510-DE6818D76568}" type="presParOf" srcId="{4ECE7AEF-2859-446C-86F9-54A3251C6EBA}" destId="{7BEBAEBD-F07B-4963-B974-1A16022A051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7CF209-9278-40BE-889C-05E2F8D7C69D}"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en-US"/>
        </a:p>
      </dgm:t>
    </dgm:pt>
    <dgm:pt modelId="{01F6EA48-D1D5-4D4F-A338-F93E4C7CA6AB}">
      <dgm:prSet phldrT="[Text]" custT="1"/>
      <dgm:spPr/>
      <dgm:t>
        <a:bodyPr/>
        <a:lstStyle/>
        <a:p>
          <a:r>
            <a:rPr lang="en-US" sz="1600" dirty="0"/>
            <a:t>Dr Niraj Ramesh</a:t>
          </a:r>
        </a:p>
      </dgm:t>
    </dgm:pt>
    <dgm:pt modelId="{3BA4AD7A-C92D-484C-9FF5-12B3FEAF6705}" type="parTrans" cxnId="{CBAC8CAD-7462-4846-9F35-747DDD58FA8E}">
      <dgm:prSet/>
      <dgm:spPr/>
      <dgm:t>
        <a:bodyPr/>
        <a:lstStyle/>
        <a:p>
          <a:endParaRPr lang="en-US"/>
        </a:p>
      </dgm:t>
    </dgm:pt>
    <dgm:pt modelId="{B72780E6-2BAE-4DF6-8487-152412DCDAD9}" type="sibTrans" cxnId="{CBAC8CAD-7462-4846-9F35-747DDD58FA8E}">
      <dgm:prSet/>
      <dgm:spPr/>
      <dgm:t>
        <a:bodyPr/>
        <a:lstStyle/>
        <a:p>
          <a:endParaRPr lang="en-US"/>
        </a:p>
      </dgm:t>
    </dgm:pt>
    <dgm:pt modelId="{1869B82B-ECC1-4196-9353-C2459BC6A71B}">
      <dgm:prSet phldrT="[Text]" custT="1"/>
      <dgm:spPr/>
      <dgm:t>
        <a:bodyPr/>
        <a:lstStyle/>
        <a:p>
          <a:r>
            <a:rPr lang="en-US" sz="1600" dirty="0"/>
            <a:t>We need this TODAY!</a:t>
          </a:r>
        </a:p>
      </dgm:t>
    </dgm:pt>
    <dgm:pt modelId="{293BE9D3-C268-4FCE-B22C-4AB244A209E5}" type="parTrans" cxnId="{5CCAC5DA-452F-41F6-B723-673CAA9EC53A}">
      <dgm:prSet/>
      <dgm:spPr/>
      <dgm:t>
        <a:bodyPr/>
        <a:lstStyle/>
        <a:p>
          <a:endParaRPr lang="en-US"/>
        </a:p>
      </dgm:t>
    </dgm:pt>
    <dgm:pt modelId="{C0E09A3A-001C-4646-B12B-5FEB1470EE94}" type="sibTrans" cxnId="{5CCAC5DA-452F-41F6-B723-673CAA9EC53A}">
      <dgm:prSet/>
      <dgm:spPr/>
      <dgm:t>
        <a:bodyPr/>
        <a:lstStyle/>
        <a:p>
          <a:endParaRPr lang="en-US"/>
        </a:p>
      </dgm:t>
    </dgm:pt>
    <dgm:pt modelId="{8FE04094-01D6-480F-A836-8E8C7F0FA07F}">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Technical Expertise and execution lead</a:t>
          </a:r>
        </a:p>
      </dgm:t>
    </dgm:pt>
    <dgm:pt modelId="{C0F46A28-F097-429D-950C-ECAA5E2FA957}" type="parTrans" cxnId="{8E24EDD7-E343-4199-9DDE-D7CF10EE485A}">
      <dgm:prSet/>
      <dgm:spPr/>
      <dgm:t>
        <a:bodyPr/>
        <a:lstStyle/>
        <a:p>
          <a:endParaRPr lang="en-US"/>
        </a:p>
      </dgm:t>
    </dgm:pt>
    <dgm:pt modelId="{F23FB248-66D0-4593-A5A3-9C7E31E41A64}" type="sibTrans" cxnId="{8E24EDD7-E343-4199-9DDE-D7CF10EE485A}">
      <dgm:prSet/>
      <dgm:spPr/>
      <dgm:t>
        <a:bodyPr/>
        <a:lstStyle/>
        <a:p>
          <a:endParaRPr lang="en-US"/>
        </a:p>
      </dgm:t>
    </dgm:pt>
    <dgm:pt modelId="{C80BF1E9-2A6D-4A6C-8D5A-FCA961798E96}">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Simulation and Optimization</a:t>
          </a:r>
        </a:p>
      </dgm:t>
    </dgm:pt>
    <dgm:pt modelId="{8283D722-E64E-4B31-9BD4-CFB6621A39E7}" type="parTrans" cxnId="{F27FB17A-B8E5-4665-98FD-77F4DBF923F6}">
      <dgm:prSet/>
      <dgm:spPr/>
      <dgm:t>
        <a:bodyPr/>
        <a:lstStyle/>
        <a:p>
          <a:endParaRPr lang="en-US"/>
        </a:p>
      </dgm:t>
    </dgm:pt>
    <dgm:pt modelId="{6452EC98-5035-421B-AB60-FC00E102CCC8}" type="sibTrans" cxnId="{F27FB17A-B8E5-4665-98FD-77F4DBF923F6}">
      <dgm:prSet/>
      <dgm:spPr/>
      <dgm:t>
        <a:bodyPr/>
        <a:lstStyle/>
        <a:p>
          <a:endParaRPr lang="en-US"/>
        </a:p>
      </dgm:t>
    </dgm:pt>
    <dgm:pt modelId="{DD9144DD-BBF6-4B6D-BC77-E4BA95C3FE45}">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Commercialization expertise</a:t>
          </a:r>
        </a:p>
      </dgm:t>
    </dgm:pt>
    <dgm:pt modelId="{3D905857-2CB1-4B32-A590-65FB3735A763}" type="parTrans" cxnId="{6CE14535-CBAF-4862-B1AC-E942E3C4F11F}">
      <dgm:prSet/>
      <dgm:spPr/>
      <dgm:t>
        <a:bodyPr/>
        <a:lstStyle/>
        <a:p>
          <a:endParaRPr lang="en-US"/>
        </a:p>
      </dgm:t>
    </dgm:pt>
    <dgm:pt modelId="{F26C635C-C636-4241-8041-7317F93B6DDB}" type="sibTrans" cxnId="{6CE14535-CBAF-4862-B1AC-E942E3C4F11F}">
      <dgm:prSet/>
      <dgm:spPr/>
      <dgm:t>
        <a:bodyPr/>
        <a:lstStyle/>
        <a:p>
          <a:endParaRPr lang="en-US"/>
        </a:p>
      </dgm:t>
    </dgm:pt>
    <dgm:pt modelId="{A72BBF92-1D54-4A04-98FE-F57B4388F08F}">
      <dgm:prSet phldrT="[Text]" custT="1"/>
      <dgm:spPr>
        <a:solidFill>
          <a:schemeClr val="bg2">
            <a:alpha val="90000"/>
          </a:schemeClr>
        </a:solidFill>
      </dgm:spPr>
      <dgm:t>
        <a:bodyPr anchor="ctr" anchorCtr="0"/>
        <a:lstStyle/>
        <a:p>
          <a:pPr rtl="0"/>
          <a:r>
            <a:rPr lang="en-US" sz="1600" dirty="0">
              <a:latin typeface="Calibri" panose="020F0502020204030204" pitchFamily="34" charset="0"/>
              <a:ea typeface="Calibri" panose="020F0502020204030204" pitchFamily="34" charset="0"/>
              <a:cs typeface="Calibri" panose="020F0502020204030204" pitchFamily="34" charset="0"/>
            </a:rPr>
            <a:t>Marketing and Financial</a:t>
          </a:r>
        </a:p>
      </dgm:t>
    </dgm:pt>
    <dgm:pt modelId="{85E13847-D1CE-4921-AD70-52D949FDBA2B}" type="parTrans" cxnId="{67071539-7C3F-4C0F-A813-8FA61A93616B}">
      <dgm:prSet/>
      <dgm:spPr/>
      <dgm:t>
        <a:bodyPr/>
        <a:lstStyle/>
        <a:p>
          <a:endParaRPr lang="en-US"/>
        </a:p>
      </dgm:t>
    </dgm:pt>
    <dgm:pt modelId="{4E5B5452-5646-4D20-9FE3-4AD598092614}" type="sibTrans" cxnId="{67071539-7C3F-4C0F-A813-8FA61A93616B}">
      <dgm:prSet/>
      <dgm:spPr/>
      <dgm:t>
        <a:bodyPr/>
        <a:lstStyle/>
        <a:p>
          <a:endParaRPr lang="en-US"/>
        </a:p>
      </dgm:t>
    </dgm:pt>
    <dgm:pt modelId="{CE1059B7-09DE-4599-BEF7-CE22ABAB7186}">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Deep Learning Expert</a:t>
          </a:r>
        </a:p>
      </dgm:t>
    </dgm:pt>
    <dgm:pt modelId="{657A239C-460B-4E73-A9F5-1235EBE277AE}" type="parTrans" cxnId="{35CF7C5D-D633-45D7-8074-4C5EEE3C5501}">
      <dgm:prSet/>
      <dgm:spPr/>
      <dgm:t>
        <a:bodyPr/>
        <a:lstStyle/>
        <a:p>
          <a:endParaRPr lang="en-US"/>
        </a:p>
      </dgm:t>
    </dgm:pt>
    <dgm:pt modelId="{E48EDE3D-B8C0-4EEA-98E9-B7A67549117B}" type="sibTrans" cxnId="{35CF7C5D-D633-45D7-8074-4C5EEE3C5501}">
      <dgm:prSet/>
      <dgm:spPr/>
      <dgm:t>
        <a:bodyPr/>
        <a:lstStyle/>
        <a:p>
          <a:endParaRPr lang="en-US"/>
        </a:p>
      </dgm:t>
    </dgm:pt>
    <dgm:pt modelId="{71DF5A7E-2A21-4DBF-A163-CD6FCFB26F61}">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Building the core digital twin factory</a:t>
          </a:r>
        </a:p>
      </dgm:t>
    </dgm:pt>
    <dgm:pt modelId="{BC8805EE-006A-4EAB-8B0F-30E1277BB10F}" type="parTrans" cxnId="{6E14A8DA-0C55-4FB9-8BBC-630D60057669}">
      <dgm:prSet/>
      <dgm:spPr/>
      <dgm:t>
        <a:bodyPr/>
        <a:lstStyle/>
        <a:p>
          <a:endParaRPr lang="en-US"/>
        </a:p>
      </dgm:t>
    </dgm:pt>
    <dgm:pt modelId="{EE3BC212-0BF1-4875-A91E-5EB70EC39F5F}" type="sibTrans" cxnId="{6E14A8DA-0C55-4FB9-8BBC-630D60057669}">
      <dgm:prSet/>
      <dgm:spPr/>
      <dgm:t>
        <a:bodyPr/>
        <a:lstStyle/>
        <a:p>
          <a:endParaRPr lang="en-US"/>
        </a:p>
      </dgm:t>
    </dgm:pt>
    <dgm:pt modelId="{1A955F05-EFD0-45B2-82F2-BB19302F309B}">
      <dgm:prSet phldrT="[Text]" custT="1"/>
      <dgm:spPr/>
      <dgm:t>
        <a:bodyPr/>
        <a:lstStyle/>
        <a:p>
          <a:r>
            <a:rPr lang="en-US" sz="1600" dirty="0"/>
            <a:t>Dr Ganesh Soni</a:t>
          </a:r>
        </a:p>
      </dgm:t>
    </dgm:pt>
    <dgm:pt modelId="{13D27662-2353-4CC5-A54A-B20510AD164A}" type="parTrans" cxnId="{748BB8F6-AFD5-4196-A7BF-B22924A2B905}">
      <dgm:prSet/>
      <dgm:spPr/>
      <dgm:t>
        <a:bodyPr/>
        <a:lstStyle/>
        <a:p>
          <a:endParaRPr lang="en-US"/>
        </a:p>
      </dgm:t>
    </dgm:pt>
    <dgm:pt modelId="{8BF59637-9BD2-4C63-9B6E-6E26D0532238}" type="sibTrans" cxnId="{748BB8F6-AFD5-4196-A7BF-B22924A2B905}">
      <dgm:prSet/>
      <dgm:spPr/>
      <dgm:t>
        <a:bodyPr/>
        <a:lstStyle/>
        <a:p>
          <a:endParaRPr lang="en-US"/>
        </a:p>
      </dgm:t>
    </dgm:pt>
    <dgm:pt modelId="{2494FBCB-0ADE-4591-A76A-EE2B9F62A14A}">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Industrial processes expert</a:t>
          </a:r>
        </a:p>
      </dgm:t>
    </dgm:pt>
    <dgm:pt modelId="{5D0D3AD0-4D11-4FF0-AA80-04C07B30913D}" type="parTrans" cxnId="{CAF707E8-90C3-4BB2-9236-6A7A4FEA5DA5}">
      <dgm:prSet/>
      <dgm:spPr/>
      <dgm:t>
        <a:bodyPr/>
        <a:lstStyle/>
        <a:p>
          <a:endParaRPr lang="en-US"/>
        </a:p>
      </dgm:t>
    </dgm:pt>
    <dgm:pt modelId="{ECEFAD7D-E6BE-4089-B753-C98BDC0CF751}" type="sibTrans" cxnId="{CAF707E8-90C3-4BB2-9236-6A7A4FEA5DA5}">
      <dgm:prSet/>
      <dgm:spPr/>
      <dgm:t>
        <a:bodyPr/>
        <a:lstStyle/>
        <a:p>
          <a:endParaRPr lang="en-US"/>
        </a:p>
      </dgm:t>
    </dgm:pt>
    <dgm:pt modelId="{94222C0B-3EDB-40B9-9EB1-B39491957579}">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Building the domain-specific interfaces</a:t>
          </a:r>
        </a:p>
      </dgm:t>
    </dgm:pt>
    <dgm:pt modelId="{DE232706-35D1-4154-810B-91AA494525D7}" type="parTrans" cxnId="{ECF250D9-E332-459C-A3A5-4D71F5ECE9E5}">
      <dgm:prSet/>
      <dgm:spPr/>
      <dgm:t>
        <a:bodyPr/>
        <a:lstStyle/>
        <a:p>
          <a:endParaRPr lang="en-US"/>
        </a:p>
      </dgm:t>
    </dgm:pt>
    <dgm:pt modelId="{6C54A581-72C0-4B30-BBF8-F57B260ECBBF}" type="sibTrans" cxnId="{ECF250D9-E332-459C-A3A5-4D71F5ECE9E5}">
      <dgm:prSet/>
      <dgm:spPr/>
      <dgm:t>
        <a:bodyPr/>
        <a:lstStyle/>
        <a:p>
          <a:endParaRPr lang="en-US"/>
        </a:p>
      </dgm:t>
    </dgm:pt>
    <dgm:pt modelId="{4D5E067B-216E-443C-A8C4-440DABA5B337}">
      <dgm:prSet phldrT="[Text]" custT="1"/>
      <dgm:spPr/>
      <dgm:t>
        <a:bodyPr/>
        <a:lstStyle/>
        <a:p>
          <a:r>
            <a:rPr lang="en-US" sz="1600" dirty="0"/>
            <a:t>Searching</a:t>
          </a:r>
        </a:p>
      </dgm:t>
    </dgm:pt>
    <dgm:pt modelId="{3B06E9B7-293E-4A95-853C-E05702FA264A}" type="sibTrans" cxnId="{B15B89FB-827F-49EF-8A1C-B25B0D24C3F4}">
      <dgm:prSet/>
      <dgm:spPr/>
      <dgm:t>
        <a:bodyPr/>
        <a:lstStyle/>
        <a:p>
          <a:endParaRPr lang="en-US"/>
        </a:p>
      </dgm:t>
    </dgm:pt>
    <dgm:pt modelId="{24EEFE48-C829-43A1-AD2E-D4960111162E}" type="parTrans" cxnId="{B15B89FB-827F-49EF-8A1C-B25B0D24C3F4}">
      <dgm:prSet/>
      <dgm:spPr/>
      <dgm:t>
        <a:bodyPr/>
        <a:lstStyle/>
        <a:p>
          <a:endParaRPr lang="en-US"/>
        </a:p>
      </dgm:t>
    </dgm:pt>
    <dgm:pt modelId="{E6E982D9-958B-4C57-B0AA-86855EC3845E}" type="pres">
      <dgm:prSet presAssocID="{B87CF209-9278-40BE-889C-05E2F8D7C69D}" presName="Name0" presStyleCnt="0">
        <dgm:presLayoutVars>
          <dgm:dir/>
          <dgm:animLvl val="lvl"/>
          <dgm:resizeHandles/>
        </dgm:presLayoutVars>
      </dgm:prSet>
      <dgm:spPr/>
    </dgm:pt>
    <dgm:pt modelId="{AD0001E5-69C5-4AF9-A68F-C117B0E2E980}" type="pres">
      <dgm:prSet presAssocID="{01F6EA48-D1D5-4D4F-A338-F93E4C7CA6AB}" presName="linNode" presStyleCnt="0"/>
      <dgm:spPr/>
    </dgm:pt>
    <dgm:pt modelId="{923D2375-C494-4631-B784-F7CD6A5F8B48}" type="pres">
      <dgm:prSet presAssocID="{01F6EA48-D1D5-4D4F-A338-F93E4C7CA6AB}" presName="parentShp" presStyleLbl="node1" presStyleIdx="0" presStyleCnt="4" custScaleX="44680">
        <dgm:presLayoutVars>
          <dgm:bulletEnabled val="1"/>
        </dgm:presLayoutVars>
      </dgm:prSet>
      <dgm:spPr/>
    </dgm:pt>
    <dgm:pt modelId="{E14A53EF-0DFB-4EB8-A9CB-1A018151566A}" type="pres">
      <dgm:prSet presAssocID="{01F6EA48-D1D5-4D4F-A338-F93E4C7CA6AB}" presName="childShp" presStyleLbl="bgAccFollowNode1" presStyleIdx="0" presStyleCnt="4" custScaleX="68944" custLinFactNeighborY="4649">
        <dgm:presLayoutVars>
          <dgm:bulletEnabled val="1"/>
        </dgm:presLayoutVars>
      </dgm:prSet>
      <dgm:spPr/>
    </dgm:pt>
    <dgm:pt modelId="{8F075D60-6BCD-4FD2-B165-5E6C8D3C6EFA}" type="pres">
      <dgm:prSet presAssocID="{B72780E6-2BAE-4DF6-8487-152412DCDAD9}" presName="spacing" presStyleCnt="0"/>
      <dgm:spPr/>
    </dgm:pt>
    <dgm:pt modelId="{9497332E-ACC7-471D-BD98-4535DC40BB10}" type="pres">
      <dgm:prSet presAssocID="{1869B82B-ECC1-4196-9353-C2459BC6A71B}" presName="linNode" presStyleCnt="0"/>
      <dgm:spPr/>
    </dgm:pt>
    <dgm:pt modelId="{90A65072-CD94-44C7-842C-48E324792C96}" type="pres">
      <dgm:prSet presAssocID="{1869B82B-ECC1-4196-9353-C2459BC6A71B}" presName="parentShp" presStyleLbl="node1" presStyleIdx="1" presStyleCnt="4" custScaleX="44680">
        <dgm:presLayoutVars>
          <dgm:bulletEnabled val="1"/>
        </dgm:presLayoutVars>
      </dgm:prSet>
      <dgm:spPr/>
    </dgm:pt>
    <dgm:pt modelId="{4A6AB23C-DBAB-47A7-9AD9-FB0830E011A1}" type="pres">
      <dgm:prSet presAssocID="{1869B82B-ECC1-4196-9353-C2459BC6A71B}" presName="childShp" presStyleLbl="bgAccFollowNode1" presStyleIdx="1" presStyleCnt="4" custScaleX="68944" custLinFactNeighborY="4649">
        <dgm:presLayoutVars>
          <dgm:bulletEnabled val="1"/>
        </dgm:presLayoutVars>
      </dgm:prSet>
      <dgm:spPr/>
    </dgm:pt>
    <dgm:pt modelId="{16B35C70-7CD1-47A2-8D8F-E4766B08A234}" type="pres">
      <dgm:prSet presAssocID="{C0E09A3A-001C-4646-B12B-5FEB1470EE94}" presName="spacing" presStyleCnt="0"/>
      <dgm:spPr/>
    </dgm:pt>
    <dgm:pt modelId="{758E90EE-81C0-4F24-A01A-C88161C9614C}" type="pres">
      <dgm:prSet presAssocID="{4D5E067B-216E-443C-A8C4-440DABA5B337}" presName="linNode" presStyleCnt="0"/>
      <dgm:spPr/>
    </dgm:pt>
    <dgm:pt modelId="{146BA1F7-3471-42A2-BAB2-2178BD1D321D}" type="pres">
      <dgm:prSet presAssocID="{4D5E067B-216E-443C-A8C4-440DABA5B337}" presName="parentShp" presStyleLbl="node1" presStyleIdx="2" presStyleCnt="4" custScaleX="44680">
        <dgm:presLayoutVars>
          <dgm:bulletEnabled val="1"/>
        </dgm:presLayoutVars>
      </dgm:prSet>
      <dgm:spPr/>
    </dgm:pt>
    <dgm:pt modelId="{ACDAEB6C-D4D2-4BE3-B3C7-4EBF2AD97CD8}" type="pres">
      <dgm:prSet presAssocID="{4D5E067B-216E-443C-A8C4-440DABA5B337}" presName="childShp" presStyleLbl="bgAccFollowNode1" presStyleIdx="2" presStyleCnt="4" custScaleX="68944" custLinFactNeighborY="4649">
        <dgm:presLayoutVars>
          <dgm:bulletEnabled val="1"/>
        </dgm:presLayoutVars>
      </dgm:prSet>
      <dgm:spPr/>
    </dgm:pt>
    <dgm:pt modelId="{0D3D9626-DEA5-4E48-B562-D8D54676DE22}" type="pres">
      <dgm:prSet presAssocID="{3B06E9B7-293E-4A95-853C-E05702FA264A}" presName="spacing" presStyleCnt="0"/>
      <dgm:spPr/>
    </dgm:pt>
    <dgm:pt modelId="{B3375F1A-2075-47E2-8C62-BB41195D09E2}" type="pres">
      <dgm:prSet presAssocID="{1A955F05-EFD0-45B2-82F2-BB19302F309B}" presName="linNode" presStyleCnt="0"/>
      <dgm:spPr/>
    </dgm:pt>
    <dgm:pt modelId="{1404A573-4703-45A4-BD3A-979DF7235FB9}" type="pres">
      <dgm:prSet presAssocID="{1A955F05-EFD0-45B2-82F2-BB19302F309B}" presName="parentShp" presStyleLbl="node1" presStyleIdx="3" presStyleCnt="4" custScaleX="44680">
        <dgm:presLayoutVars>
          <dgm:bulletEnabled val="1"/>
        </dgm:presLayoutVars>
      </dgm:prSet>
      <dgm:spPr/>
    </dgm:pt>
    <dgm:pt modelId="{F317BA32-5A0E-4325-A9DD-FA50087C4FDC}" type="pres">
      <dgm:prSet presAssocID="{1A955F05-EFD0-45B2-82F2-BB19302F309B}" presName="childShp" presStyleLbl="bgAccFollowNode1" presStyleIdx="3" presStyleCnt="4" custScaleX="68944" custLinFactNeighborY="4649">
        <dgm:presLayoutVars>
          <dgm:bulletEnabled val="1"/>
        </dgm:presLayoutVars>
      </dgm:prSet>
      <dgm:spPr/>
    </dgm:pt>
  </dgm:ptLst>
  <dgm:cxnLst>
    <dgm:cxn modelId="{FE2F5603-200B-4BDB-8E1B-CBB72791D121}" type="presOf" srcId="{1A955F05-EFD0-45B2-82F2-BB19302F309B}" destId="{1404A573-4703-45A4-BD3A-979DF7235FB9}" srcOrd="0" destOrd="0" presId="urn:microsoft.com/office/officeart/2005/8/layout/vList6"/>
    <dgm:cxn modelId="{AD18260B-4BF0-4194-BFFA-D865B54E20C0}" type="presOf" srcId="{71DF5A7E-2A21-4DBF-A163-CD6FCFB26F61}" destId="{ACDAEB6C-D4D2-4BE3-B3C7-4EBF2AD97CD8}" srcOrd="0" destOrd="1" presId="urn:microsoft.com/office/officeart/2005/8/layout/vList6"/>
    <dgm:cxn modelId="{5AE4DD13-425D-4B17-B0CB-5CEC41F15523}" type="presOf" srcId="{4D5E067B-216E-443C-A8C4-440DABA5B337}" destId="{146BA1F7-3471-42A2-BAB2-2178BD1D321D}" srcOrd="0" destOrd="0" presId="urn:microsoft.com/office/officeart/2005/8/layout/vList6"/>
    <dgm:cxn modelId="{9C798B1A-2A06-4EC0-857F-38D42ACF660D}" type="presOf" srcId="{2494FBCB-0ADE-4591-A76A-EE2B9F62A14A}" destId="{F317BA32-5A0E-4325-A9DD-FA50087C4FDC}" srcOrd="0" destOrd="0" presId="urn:microsoft.com/office/officeart/2005/8/layout/vList6"/>
    <dgm:cxn modelId="{55407A1C-912C-48A0-82E6-CB56CBD0CDA1}" type="presOf" srcId="{A72BBF92-1D54-4A04-98FE-F57B4388F08F}" destId="{4A6AB23C-DBAB-47A7-9AD9-FB0830E011A1}" srcOrd="0" destOrd="1" presId="urn:microsoft.com/office/officeart/2005/8/layout/vList6"/>
    <dgm:cxn modelId="{17F9A41D-767F-43D3-B88B-51E5B2CDEAC0}" type="presOf" srcId="{94222C0B-3EDB-40B9-9EB1-B39491957579}" destId="{F317BA32-5A0E-4325-A9DD-FA50087C4FDC}" srcOrd="0" destOrd="1" presId="urn:microsoft.com/office/officeart/2005/8/layout/vList6"/>
    <dgm:cxn modelId="{E2D6FF26-F594-45BE-9A50-4ABEE9E43D3B}" type="presOf" srcId="{8FE04094-01D6-480F-A836-8E8C7F0FA07F}" destId="{E14A53EF-0DFB-4EB8-A9CB-1A018151566A}" srcOrd="0" destOrd="0" presId="urn:microsoft.com/office/officeart/2005/8/layout/vList6"/>
    <dgm:cxn modelId="{6CE14535-CBAF-4862-B1AC-E942E3C4F11F}" srcId="{1869B82B-ECC1-4196-9353-C2459BC6A71B}" destId="{DD9144DD-BBF6-4B6D-BC77-E4BA95C3FE45}" srcOrd="0" destOrd="0" parTransId="{3D905857-2CB1-4B32-A590-65FB3735A763}" sibTransId="{F26C635C-C636-4241-8041-7317F93B6DDB}"/>
    <dgm:cxn modelId="{67071539-7C3F-4C0F-A813-8FA61A93616B}" srcId="{1869B82B-ECC1-4196-9353-C2459BC6A71B}" destId="{A72BBF92-1D54-4A04-98FE-F57B4388F08F}" srcOrd="1" destOrd="0" parTransId="{85E13847-D1CE-4921-AD70-52D949FDBA2B}" sibTransId="{4E5B5452-5646-4D20-9FE3-4AD598092614}"/>
    <dgm:cxn modelId="{35CF7C5D-D633-45D7-8074-4C5EEE3C5501}" srcId="{4D5E067B-216E-443C-A8C4-440DABA5B337}" destId="{CE1059B7-09DE-4599-BEF7-CE22ABAB7186}" srcOrd="0" destOrd="0" parTransId="{657A239C-460B-4E73-A9F5-1235EBE277AE}" sibTransId="{E48EDE3D-B8C0-4EEA-98E9-B7A67549117B}"/>
    <dgm:cxn modelId="{F27FB17A-B8E5-4665-98FD-77F4DBF923F6}" srcId="{01F6EA48-D1D5-4D4F-A338-F93E4C7CA6AB}" destId="{C80BF1E9-2A6D-4A6C-8D5A-FCA961798E96}" srcOrd="1" destOrd="0" parTransId="{8283D722-E64E-4B31-9BD4-CFB6621A39E7}" sibTransId="{6452EC98-5035-421B-AB60-FC00E102CCC8}"/>
    <dgm:cxn modelId="{9C178C97-4DBC-4B80-BD29-B48E77729693}" type="presOf" srcId="{DD9144DD-BBF6-4B6D-BC77-E4BA95C3FE45}" destId="{4A6AB23C-DBAB-47A7-9AD9-FB0830E011A1}" srcOrd="0" destOrd="0" presId="urn:microsoft.com/office/officeart/2005/8/layout/vList6"/>
    <dgm:cxn modelId="{024F32A6-E924-419E-993F-0C2C41FBDB6C}" type="presOf" srcId="{B87CF209-9278-40BE-889C-05E2F8D7C69D}" destId="{E6E982D9-958B-4C57-B0AA-86855EC3845E}" srcOrd="0" destOrd="0" presId="urn:microsoft.com/office/officeart/2005/8/layout/vList6"/>
    <dgm:cxn modelId="{5D11E8AC-3008-446C-AD3B-E01FD6B97712}" type="presOf" srcId="{C80BF1E9-2A6D-4A6C-8D5A-FCA961798E96}" destId="{E14A53EF-0DFB-4EB8-A9CB-1A018151566A}" srcOrd="0" destOrd="1" presId="urn:microsoft.com/office/officeart/2005/8/layout/vList6"/>
    <dgm:cxn modelId="{CBAC8CAD-7462-4846-9F35-747DDD58FA8E}" srcId="{B87CF209-9278-40BE-889C-05E2F8D7C69D}" destId="{01F6EA48-D1D5-4D4F-A338-F93E4C7CA6AB}" srcOrd="0" destOrd="0" parTransId="{3BA4AD7A-C92D-484C-9FF5-12B3FEAF6705}" sibTransId="{B72780E6-2BAE-4DF6-8487-152412DCDAD9}"/>
    <dgm:cxn modelId="{A8556EAF-2826-41A2-9BC3-A05D391D7CB7}" type="presOf" srcId="{01F6EA48-D1D5-4D4F-A338-F93E4C7CA6AB}" destId="{923D2375-C494-4631-B784-F7CD6A5F8B48}" srcOrd="0" destOrd="0" presId="urn:microsoft.com/office/officeart/2005/8/layout/vList6"/>
    <dgm:cxn modelId="{899EA4C1-2CEC-4B12-BBBA-0F62B1EFE769}" type="presOf" srcId="{1869B82B-ECC1-4196-9353-C2459BC6A71B}" destId="{90A65072-CD94-44C7-842C-48E324792C96}" srcOrd="0" destOrd="0" presId="urn:microsoft.com/office/officeart/2005/8/layout/vList6"/>
    <dgm:cxn modelId="{8E24EDD7-E343-4199-9DDE-D7CF10EE485A}" srcId="{01F6EA48-D1D5-4D4F-A338-F93E4C7CA6AB}" destId="{8FE04094-01D6-480F-A836-8E8C7F0FA07F}" srcOrd="0" destOrd="0" parTransId="{C0F46A28-F097-429D-950C-ECAA5E2FA957}" sibTransId="{F23FB248-66D0-4593-A5A3-9C7E31E41A64}"/>
    <dgm:cxn modelId="{ECF250D9-E332-459C-A3A5-4D71F5ECE9E5}" srcId="{1A955F05-EFD0-45B2-82F2-BB19302F309B}" destId="{94222C0B-3EDB-40B9-9EB1-B39491957579}" srcOrd="1" destOrd="0" parTransId="{DE232706-35D1-4154-810B-91AA494525D7}" sibTransId="{6C54A581-72C0-4B30-BBF8-F57B260ECBBF}"/>
    <dgm:cxn modelId="{6E14A8DA-0C55-4FB9-8BBC-630D60057669}" srcId="{4D5E067B-216E-443C-A8C4-440DABA5B337}" destId="{71DF5A7E-2A21-4DBF-A163-CD6FCFB26F61}" srcOrd="1" destOrd="0" parTransId="{BC8805EE-006A-4EAB-8B0F-30E1277BB10F}" sibTransId="{EE3BC212-0BF1-4875-A91E-5EB70EC39F5F}"/>
    <dgm:cxn modelId="{5CCAC5DA-452F-41F6-B723-673CAA9EC53A}" srcId="{B87CF209-9278-40BE-889C-05E2F8D7C69D}" destId="{1869B82B-ECC1-4196-9353-C2459BC6A71B}" srcOrd="1" destOrd="0" parTransId="{293BE9D3-C268-4FCE-B22C-4AB244A209E5}" sibTransId="{C0E09A3A-001C-4646-B12B-5FEB1470EE94}"/>
    <dgm:cxn modelId="{CAF707E8-90C3-4BB2-9236-6A7A4FEA5DA5}" srcId="{1A955F05-EFD0-45B2-82F2-BB19302F309B}" destId="{2494FBCB-0ADE-4591-A76A-EE2B9F62A14A}" srcOrd="0" destOrd="0" parTransId="{5D0D3AD0-4D11-4FF0-AA80-04C07B30913D}" sibTransId="{ECEFAD7D-E6BE-4089-B753-C98BDC0CF751}"/>
    <dgm:cxn modelId="{9CD5CEF1-5AF8-488A-9C3B-5BC0C39E155A}" type="presOf" srcId="{CE1059B7-09DE-4599-BEF7-CE22ABAB7186}" destId="{ACDAEB6C-D4D2-4BE3-B3C7-4EBF2AD97CD8}" srcOrd="0" destOrd="0" presId="urn:microsoft.com/office/officeart/2005/8/layout/vList6"/>
    <dgm:cxn modelId="{748BB8F6-AFD5-4196-A7BF-B22924A2B905}" srcId="{B87CF209-9278-40BE-889C-05E2F8D7C69D}" destId="{1A955F05-EFD0-45B2-82F2-BB19302F309B}" srcOrd="3" destOrd="0" parTransId="{13D27662-2353-4CC5-A54A-B20510AD164A}" sibTransId="{8BF59637-9BD2-4C63-9B6E-6E26D0532238}"/>
    <dgm:cxn modelId="{B15B89FB-827F-49EF-8A1C-B25B0D24C3F4}" srcId="{B87CF209-9278-40BE-889C-05E2F8D7C69D}" destId="{4D5E067B-216E-443C-A8C4-440DABA5B337}" srcOrd="2" destOrd="0" parTransId="{24EEFE48-C829-43A1-AD2E-D4960111162E}" sibTransId="{3B06E9B7-293E-4A95-853C-E05702FA264A}"/>
    <dgm:cxn modelId="{0766EC76-31DD-4332-8F10-EB8DE033F218}" type="presParOf" srcId="{E6E982D9-958B-4C57-B0AA-86855EC3845E}" destId="{AD0001E5-69C5-4AF9-A68F-C117B0E2E980}" srcOrd="0" destOrd="0" presId="urn:microsoft.com/office/officeart/2005/8/layout/vList6"/>
    <dgm:cxn modelId="{2E70CE1A-92BE-4543-B076-E46CA33C77AA}" type="presParOf" srcId="{AD0001E5-69C5-4AF9-A68F-C117B0E2E980}" destId="{923D2375-C494-4631-B784-F7CD6A5F8B48}" srcOrd="0" destOrd="0" presId="urn:microsoft.com/office/officeart/2005/8/layout/vList6"/>
    <dgm:cxn modelId="{9F497A1B-CA81-4D6B-8714-6168CEC933C9}" type="presParOf" srcId="{AD0001E5-69C5-4AF9-A68F-C117B0E2E980}" destId="{E14A53EF-0DFB-4EB8-A9CB-1A018151566A}" srcOrd="1" destOrd="0" presId="urn:microsoft.com/office/officeart/2005/8/layout/vList6"/>
    <dgm:cxn modelId="{CA81F26C-E353-4247-A843-A17448495985}" type="presParOf" srcId="{E6E982D9-958B-4C57-B0AA-86855EC3845E}" destId="{8F075D60-6BCD-4FD2-B165-5E6C8D3C6EFA}" srcOrd="1" destOrd="0" presId="urn:microsoft.com/office/officeart/2005/8/layout/vList6"/>
    <dgm:cxn modelId="{CC96911E-EAE6-46D0-9BA6-C8D59A5E4425}" type="presParOf" srcId="{E6E982D9-958B-4C57-B0AA-86855EC3845E}" destId="{9497332E-ACC7-471D-BD98-4535DC40BB10}" srcOrd="2" destOrd="0" presId="urn:microsoft.com/office/officeart/2005/8/layout/vList6"/>
    <dgm:cxn modelId="{B4BFF63A-D1DC-4012-8BDC-BFF50CB5D78D}" type="presParOf" srcId="{9497332E-ACC7-471D-BD98-4535DC40BB10}" destId="{90A65072-CD94-44C7-842C-48E324792C96}" srcOrd="0" destOrd="0" presId="urn:microsoft.com/office/officeart/2005/8/layout/vList6"/>
    <dgm:cxn modelId="{515C0C31-0B9B-4CB0-96EB-80A9B178F6C1}" type="presParOf" srcId="{9497332E-ACC7-471D-BD98-4535DC40BB10}" destId="{4A6AB23C-DBAB-47A7-9AD9-FB0830E011A1}" srcOrd="1" destOrd="0" presId="urn:microsoft.com/office/officeart/2005/8/layout/vList6"/>
    <dgm:cxn modelId="{6E105B9B-7D7A-484F-ADAC-91FD18C7610F}" type="presParOf" srcId="{E6E982D9-958B-4C57-B0AA-86855EC3845E}" destId="{16B35C70-7CD1-47A2-8D8F-E4766B08A234}" srcOrd="3" destOrd="0" presId="urn:microsoft.com/office/officeart/2005/8/layout/vList6"/>
    <dgm:cxn modelId="{D3B7B298-E091-41EA-B077-CFF5BCF7DB66}" type="presParOf" srcId="{E6E982D9-958B-4C57-B0AA-86855EC3845E}" destId="{758E90EE-81C0-4F24-A01A-C88161C9614C}" srcOrd="4" destOrd="0" presId="urn:microsoft.com/office/officeart/2005/8/layout/vList6"/>
    <dgm:cxn modelId="{74AF5C70-3E01-44CB-A217-C4253BC4D223}" type="presParOf" srcId="{758E90EE-81C0-4F24-A01A-C88161C9614C}" destId="{146BA1F7-3471-42A2-BAB2-2178BD1D321D}" srcOrd="0" destOrd="0" presId="urn:microsoft.com/office/officeart/2005/8/layout/vList6"/>
    <dgm:cxn modelId="{8CBA78DA-F327-413F-98C8-FCE8BB6B47CA}" type="presParOf" srcId="{758E90EE-81C0-4F24-A01A-C88161C9614C}" destId="{ACDAEB6C-D4D2-4BE3-B3C7-4EBF2AD97CD8}" srcOrd="1" destOrd="0" presId="urn:microsoft.com/office/officeart/2005/8/layout/vList6"/>
    <dgm:cxn modelId="{B8E2B161-DF02-4787-9A89-1A22A38CAD1D}" type="presParOf" srcId="{E6E982D9-958B-4C57-B0AA-86855EC3845E}" destId="{0D3D9626-DEA5-4E48-B562-D8D54676DE22}" srcOrd="5" destOrd="0" presId="urn:microsoft.com/office/officeart/2005/8/layout/vList6"/>
    <dgm:cxn modelId="{F649E169-7B4B-4F70-AC07-CEADBD9E4207}" type="presParOf" srcId="{E6E982D9-958B-4C57-B0AA-86855EC3845E}" destId="{B3375F1A-2075-47E2-8C62-BB41195D09E2}" srcOrd="6" destOrd="0" presId="urn:microsoft.com/office/officeart/2005/8/layout/vList6"/>
    <dgm:cxn modelId="{F3735BC3-2586-4568-A812-C47FA0DE8CC1}" type="presParOf" srcId="{B3375F1A-2075-47E2-8C62-BB41195D09E2}" destId="{1404A573-4703-45A4-BD3A-979DF7235FB9}" srcOrd="0" destOrd="0" presId="urn:microsoft.com/office/officeart/2005/8/layout/vList6"/>
    <dgm:cxn modelId="{803513B5-0E7B-402C-B7E2-B64FF600ADD8}" type="presParOf" srcId="{B3375F1A-2075-47E2-8C62-BB41195D09E2}" destId="{F317BA32-5A0E-4325-A9DD-FA50087C4FDC}"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62DA003-F292-4A64-8319-8CC233D11E44}" type="doc">
      <dgm:prSet loTypeId="urn:microsoft.com/office/officeart/2005/8/layout/chevron2" loCatId="process" qsTypeId="urn:microsoft.com/office/officeart/2005/8/quickstyle/simple1" qsCatId="simple" csTypeId="urn:microsoft.com/office/officeart/2005/8/colors/accent0_3" csCatId="mainScheme" phldr="1"/>
      <dgm:spPr/>
    </dgm:pt>
    <dgm:pt modelId="{FA422D19-9FD2-4012-B947-F3816E8F1E85}">
      <dgm:prSet phldrT="[Text]" custT="1"/>
      <dgm:spPr/>
      <dgm:t>
        <a:bodyPr tIns="72000"/>
        <a:lstStyle/>
        <a:p>
          <a:r>
            <a:rPr lang="en-US" sz="1500" b="1">
              <a:latin typeface="Calibri" panose="020F0502020204030204" pitchFamily="34" charset="0"/>
              <a:cs typeface="Calibri" panose="020F0502020204030204" pitchFamily="34" charset="0"/>
            </a:rPr>
            <a:t>Data Collection</a:t>
          </a:r>
          <a:endParaRPr lang="en-US" sz="1500" b="1" dirty="0">
            <a:latin typeface="Calibri" panose="020F0502020204030204" pitchFamily="34" charset="0"/>
            <a:cs typeface="Calibri" panose="020F0502020204030204" pitchFamily="34" charset="0"/>
          </a:endParaRPr>
        </a:p>
      </dgm:t>
    </dgm:pt>
    <dgm:pt modelId="{4695FAEA-7171-4AC1-BE5D-964E5C589D6E}" type="parTrans" cxnId="{127E73AB-6E64-4B47-B749-EA9FA71BBA51}">
      <dgm:prSet/>
      <dgm:spPr/>
      <dgm:t>
        <a:bodyPr/>
        <a:lstStyle/>
        <a:p>
          <a:endParaRPr lang="en-US" sz="2400">
            <a:latin typeface="Calibri" panose="020F0502020204030204" pitchFamily="34" charset="0"/>
            <a:cs typeface="Calibri" panose="020F0502020204030204" pitchFamily="34" charset="0"/>
          </a:endParaRPr>
        </a:p>
      </dgm:t>
    </dgm:pt>
    <dgm:pt modelId="{ED90D11D-8A9B-4E98-B924-2398253D545C}" type="sibTrans" cxnId="{127E73AB-6E64-4B47-B749-EA9FA71BBA51}">
      <dgm:prSet/>
      <dgm:spPr/>
      <dgm:t>
        <a:bodyPr/>
        <a:lstStyle/>
        <a:p>
          <a:endParaRPr lang="en-US" sz="2400">
            <a:latin typeface="Calibri" panose="020F0502020204030204" pitchFamily="34" charset="0"/>
            <a:cs typeface="Calibri" panose="020F0502020204030204" pitchFamily="34" charset="0"/>
          </a:endParaRPr>
        </a:p>
      </dgm:t>
    </dgm:pt>
    <dgm:pt modelId="{DD746070-61B2-44F5-87E0-51827DA5359C}">
      <dgm:prSet phldrT="[Text]" custT="1"/>
      <dgm:spPr/>
      <dgm:t>
        <a:bodyPr tIns="216000"/>
        <a:lstStyle/>
        <a:p>
          <a:r>
            <a:rPr lang="en-US" sz="1500" b="1">
              <a:latin typeface="Calibri" panose="020F0502020204030204" pitchFamily="34" charset="0"/>
              <a:cs typeface="Calibri" panose="020F0502020204030204" pitchFamily="34" charset="0"/>
            </a:rPr>
            <a:t>Industry Specific Model</a:t>
          </a:r>
          <a:endParaRPr lang="en-US" sz="1500" b="1" dirty="0">
            <a:latin typeface="Calibri" panose="020F0502020204030204" pitchFamily="34" charset="0"/>
            <a:cs typeface="Calibri" panose="020F0502020204030204" pitchFamily="34" charset="0"/>
          </a:endParaRPr>
        </a:p>
      </dgm:t>
    </dgm:pt>
    <dgm:pt modelId="{14E9F90C-AAC8-4150-94C7-C49BBB286B75}" type="parTrans" cxnId="{3DEA8755-7B6E-4324-8BDA-7B6CEC37FD03}">
      <dgm:prSet/>
      <dgm:spPr/>
      <dgm:t>
        <a:bodyPr/>
        <a:lstStyle/>
        <a:p>
          <a:endParaRPr lang="en-US" sz="2400">
            <a:latin typeface="Calibri" panose="020F0502020204030204" pitchFamily="34" charset="0"/>
            <a:cs typeface="Calibri" panose="020F0502020204030204" pitchFamily="34" charset="0"/>
          </a:endParaRPr>
        </a:p>
      </dgm:t>
    </dgm:pt>
    <dgm:pt modelId="{26190469-B32E-4202-8063-E86DBBAD1976}" type="sibTrans" cxnId="{3DEA8755-7B6E-4324-8BDA-7B6CEC37FD03}">
      <dgm:prSet/>
      <dgm:spPr/>
      <dgm:t>
        <a:bodyPr/>
        <a:lstStyle/>
        <a:p>
          <a:endParaRPr lang="en-US" sz="2400">
            <a:latin typeface="Calibri" panose="020F0502020204030204" pitchFamily="34" charset="0"/>
            <a:cs typeface="Calibri" panose="020F0502020204030204" pitchFamily="34" charset="0"/>
          </a:endParaRPr>
        </a:p>
      </dgm:t>
    </dgm:pt>
    <dgm:pt modelId="{DACDB3CF-18A6-4E58-9D65-38EDCB58A781}">
      <dgm:prSet phldrT="[Text]" custT="1"/>
      <dgm:spPr/>
      <dgm:t>
        <a:bodyPr tIns="72000"/>
        <a:lstStyle/>
        <a:p>
          <a:r>
            <a:rPr lang="en-US" sz="1500" b="1" dirty="0">
              <a:latin typeface="Calibri" panose="020F0502020204030204" pitchFamily="34" charset="0"/>
              <a:cs typeface="Calibri" panose="020F0502020204030204" pitchFamily="34" charset="0"/>
            </a:rPr>
            <a:t>Setup DRL Neural</a:t>
          </a:r>
        </a:p>
      </dgm:t>
    </dgm:pt>
    <dgm:pt modelId="{8F756124-968E-493F-8041-4BC76C9EAB87}" type="parTrans" cxnId="{4B8B9A5C-DC52-48B4-B197-025D83D3125C}">
      <dgm:prSet/>
      <dgm:spPr/>
      <dgm:t>
        <a:bodyPr/>
        <a:lstStyle/>
        <a:p>
          <a:endParaRPr lang="en-US" sz="2400">
            <a:latin typeface="Calibri" panose="020F0502020204030204" pitchFamily="34" charset="0"/>
            <a:cs typeface="Calibri" panose="020F0502020204030204" pitchFamily="34" charset="0"/>
          </a:endParaRPr>
        </a:p>
      </dgm:t>
    </dgm:pt>
    <dgm:pt modelId="{F3CDC648-DEFD-495C-9236-822BA093CAA4}" type="sibTrans" cxnId="{4B8B9A5C-DC52-48B4-B197-025D83D3125C}">
      <dgm:prSet/>
      <dgm:spPr/>
      <dgm:t>
        <a:bodyPr/>
        <a:lstStyle/>
        <a:p>
          <a:endParaRPr lang="en-US" sz="2400">
            <a:latin typeface="Calibri" panose="020F0502020204030204" pitchFamily="34" charset="0"/>
            <a:cs typeface="Calibri" panose="020F0502020204030204" pitchFamily="34" charset="0"/>
          </a:endParaRPr>
        </a:p>
      </dgm:t>
    </dgm:pt>
    <dgm:pt modelId="{07FC01BE-3A29-428D-86D6-110AB4D15FB4}">
      <dgm:prSet phldrT="[Text]" custT="1"/>
      <dgm:spPr/>
      <dgm:t>
        <a:bodyPr tIns="72000"/>
        <a:lstStyle/>
        <a:p>
          <a:r>
            <a:rPr lang="en-US" sz="1500" b="1">
              <a:latin typeface="Calibri" panose="020F0502020204030204" pitchFamily="34" charset="0"/>
              <a:cs typeface="Calibri" panose="020F0502020204030204" pitchFamily="34" charset="0"/>
            </a:rPr>
            <a:t>Model Training</a:t>
          </a:r>
          <a:endParaRPr lang="en-US" sz="1500" b="1" dirty="0">
            <a:latin typeface="Calibri" panose="020F0502020204030204" pitchFamily="34" charset="0"/>
            <a:cs typeface="Calibri" panose="020F0502020204030204" pitchFamily="34" charset="0"/>
          </a:endParaRPr>
        </a:p>
      </dgm:t>
    </dgm:pt>
    <dgm:pt modelId="{5A4EC9EE-71BA-48CF-B01D-BF1DF8055025}" type="parTrans" cxnId="{2684237E-40E1-4BFE-A4DC-2AEA5FEE662F}">
      <dgm:prSet/>
      <dgm:spPr/>
      <dgm:t>
        <a:bodyPr/>
        <a:lstStyle/>
        <a:p>
          <a:endParaRPr lang="en-US" sz="2400">
            <a:latin typeface="Calibri" panose="020F0502020204030204" pitchFamily="34" charset="0"/>
            <a:cs typeface="Calibri" panose="020F0502020204030204" pitchFamily="34" charset="0"/>
          </a:endParaRPr>
        </a:p>
      </dgm:t>
    </dgm:pt>
    <dgm:pt modelId="{A58F3612-9771-45F3-A7E6-3619A6F166FB}" type="sibTrans" cxnId="{2684237E-40E1-4BFE-A4DC-2AEA5FEE662F}">
      <dgm:prSet/>
      <dgm:spPr/>
      <dgm:t>
        <a:bodyPr/>
        <a:lstStyle/>
        <a:p>
          <a:endParaRPr lang="en-US" sz="2400">
            <a:latin typeface="Calibri" panose="020F0502020204030204" pitchFamily="34" charset="0"/>
            <a:cs typeface="Calibri" panose="020F0502020204030204" pitchFamily="34" charset="0"/>
          </a:endParaRPr>
        </a:p>
      </dgm:t>
    </dgm:pt>
    <dgm:pt modelId="{675485FB-014C-4725-812A-F22E447376C6}">
      <dgm:prSet phldrT="[Text]" custT="1"/>
      <dgm:spPr/>
      <dgm:t>
        <a:bodyPr/>
        <a:lstStyle/>
        <a:p>
          <a:r>
            <a:rPr lang="en-US" sz="1800" dirty="0">
              <a:latin typeface="Calibri" panose="020F0502020204030204" pitchFamily="34" charset="0"/>
              <a:cs typeface="Calibri" panose="020F0502020204030204" pitchFamily="34" charset="0"/>
            </a:rPr>
            <a:t>Identify the known input parameters. </a:t>
          </a:r>
        </a:p>
      </dgm:t>
    </dgm:pt>
    <dgm:pt modelId="{9866F647-C78F-439D-822F-D67367D0B237}" type="parTrans" cxnId="{7C613CF8-5313-4623-936C-C32070453C7C}">
      <dgm:prSet/>
      <dgm:spPr/>
      <dgm:t>
        <a:bodyPr/>
        <a:lstStyle/>
        <a:p>
          <a:endParaRPr lang="en-US" sz="2400">
            <a:latin typeface="Calibri" panose="020F0502020204030204" pitchFamily="34" charset="0"/>
            <a:cs typeface="Calibri" panose="020F0502020204030204" pitchFamily="34" charset="0"/>
          </a:endParaRPr>
        </a:p>
      </dgm:t>
    </dgm:pt>
    <dgm:pt modelId="{8E328F41-CCEE-4D43-8AFB-3D8F25FAEAA1}" type="sibTrans" cxnId="{7C613CF8-5313-4623-936C-C32070453C7C}">
      <dgm:prSet/>
      <dgm:spPr/>
      <dgm:t>
        <a:bodyPr/>
        <a:lstStyle/>
        <a:p>
          <a:endParaRPr lang="en-US" sz="2400">
            <a:latin typeface="Calibri" panose="020F0502020204030204" pitchFamily="34" charset="0"/>
            <a:cs typeface="Calibri" panose="020F0502020204030204" pitchFamily="34" charset="0"/>
          </a:endParaRPr>
        </a:p>
      </dgm:t>
    </dgm:pt>
    <dgm:pt modelId="{AF17A749-D266-4BE3-A328-6C6564BEF08C}">
      <dgm:prSet phldrT="[Text]" custT="1"/>
      <dgm:spPr/>
      <dgm:t>
        <a:bodyPr/>
        <a:lstStyle/>
        <a:p>
          <a:r>
            <a:rPr lang="en-US" sz="1800" dirty="0">
              <a:latin typeface="Calibri" panose="020F0502020204030204" pitchFamily="34" charset="0"/>
              <a:cs typeface="Calibri" panose="020F0502020204030204" pitchFamily="34" charset="0"/>
              <a:sym typeface="Wingdings" panose="05000000000000000000" pitchFamily="2" charset="2"/>
            </a:rPr>
            <a:t>Identify the most likely influencing variables for every sensor point.</a:t>
          </a:r>
          <a:endParaRPr lang="en-US" sz="1800" dirty="0">
            <a:latin typeface="Calibri" panose="020F0502020204030204" pitchFamily="34" charset="0"/>
            <a:cs typeface="Calibri" panose="020F0502020204030204" pitchFamily="34" charset="0"/>
          </a:endParaRPr>
        </a:p>
      </dgm:t>
    </dgm:pt>
    <dgm:pt modelId="{3F3210B4-274F-4B25-AFA2-619B2153073E}" type="parTrans" cxnId="{FE39C2D8-7E92-4C57-8BCF-2762BEB758CF}">
      <dgm:prSet/>
      <dgm:spPr/>
      <dgm:t>
        <a:bodyPr/>
        <a:lstStyle/>
        <a:p>
          <a:endParaRPr lang="en-US" sz="2400">
            <a:latin typeface="Calibri" panose="020F0502020204030204" pitchFamily="34" charset="0"/>
            <a:cs typeface="Calibri" panose="020F0502020204030204" pitchFamily="34" charset="0"/>
          </a:endParaRPr>
        </a:p>
      </dgm:t>
    </dgm:pt>
    <dgm:pt modelId="{4B06711B-98C7-49FD-BD61-BDE63DAFDEC1}" type="sibTrans" cxnId="{FE39C2D8-7E92-4C57-8BCF-2762BEB758CF}">
      <dgm:prSet/>
      <dgm:spPr/>
      <dgm:t>
        <a:bodyPr/>
        <a:lstStyle/>
        <a:p>
          <a:endParaRPr lang="en-US" sz="2400">
            <a:latin typeface="Calibri" panose="020F0502020204030204" pitchFamily="34" charset="0"/>
            <a:cs typeface="Calibri" panose="020F0502020204030204" pitchFamily="34" charset="0"/>
          </a:endParaRPr>
        </a:p>
      </dgm:t>
    </dgm:pt>
    <dgm:pt modelId="{8288F2AB-17B2-4AAF-BDBF-79D87C5FC851}">
      <dgm:prSet phldrT="[Text]" custT="1"/>
      <dgm:spPr/>
      <dgm:t>
        <a:bodyPr/>
        <a:lstStyle/>
        <a:p>
          <a:r>
            <a:rPr lang="en-US" sz="1800" dirty="0">
              <a:latin typeface="Calibri" panose="020F0502020204030204" pitchFamily="34" charset="0"/>
              <a:cs typeface="Calibri" panose="020F0502020204030204" pitchFamily="34" charset="0"/>
              <a:sym typeface="Wingdings" panose="05000000000000000000" pitchFamily="2" charset="2"/>
            </a:rPr>
            <a:t>Identify the potential basis functions to help correlate faster.</a:t>
          </a:r>
          <a:endParaRPr lang="en-US" sz="1800" dirty="0">
            <a:latin typeface="Calibri" panose="020F0502020204030204" pitchFamily="34" charset="0"/>
            <a:cs typeface="Calibri" panose="020F0502020204030204" pitchFamily="34" charset="0"/>
          </a:endParaRPr>
        </a:p>
      </dgm:t>
    </dgm:pt>
    <dgm:pt modelId="{ADB2F0D2-0067-4B2E-93AC-F4D25D048F16}" type="parTrans" cxnId="{68A16CED-D50A-41D1-B919-56D06A2AFC36}">
      <dgm:prSet/>
      <dgm:spPr/>
      <dgm:t>
        <a:bodyPr/>
        <a:lstStyle/>
        <a:p>
          <a:endParaRPr lang="en-US" sz="2400">
            <a:latin typeface="Calibri" panose="020F0502020204030204" pitchFamily="34" charset="0"/>
            <a:cs typeface="Calibri" panose="020F0502020204030204" pitchFamily="34" charset="0"/>
          </a:endParaRPr>
        </a:p>
      </dgm:t>
    </dgm:pt>
    <dgm:pt modelId="{98D21AFF-6177-4749-A9EC-E0C3283A7DE3}" type="sibTrans" cxnId="{68A16CED-D50A-41D1-B919-56D06A2AFC36}">
      <dgm:prSet/>
      <dgm:spPr/>
      <dgm:t>
        <a:bodyPr/>
        <a:lstStyle/>
        <a:p>
          <a:endParaRPr lang="en-US" sz="2400">
            <a:latin typeface="Calibri" panose="020F0502020204030204" pitchFamily="34" charset="0"/>
            <a:cs typeface="Calibri" panose="020F0502020204030204" pitchFamily="34" charset="0"/>
          </a:endParaRPr>
        </a:p>
      </dgm:t>
    </dgm:pt>
    <dgm:pt modelId="{C7061A68-898C-4B87-A3A5-1F8B16A35AB1}">
      <dgm:prSet phldrT="[Text]" custT="1"/>
      <dgm:spPr/>
      <dgm:t>
        <a:bodyPr/>
        <a:lstStyle/>
        <a:p>
          <a:r>
            <a:rPr lang="en-US" sz="1800" dirty="0">
              <a:latin typeface="Calibri" panose="020F0502020204030204" pitchFamily="34" charset="0"/>
              <a:cs typeface="Calibri" panose="020F0502020204030204" pitchFamily="34" charset="0"/>
            </a:rPr>
            <a:t>We have a 2-arm bandit </a:t>
          </a:r>
          <a:r>
            <a:rPr lang="en-US" sz="1800" dirty="0">
              <a:latin typeface="Calibri" panose="020F0502020204030204" pitchFamily="34" charset="0"/>
              <a:cs typeface="Calibri" panose="020F0502020204030204" pitchFamily="34" charset="0"/>
              <a:sym typeface="Wingdings" panose="05000000000000000000" pitchFamily="2" charset="2"/>
            </a:rPr>
            <a:t> </a:t>
          </a:r>
          <a:r>
            <a:rPr lang="en-US" sz="1800" dirty="0">
              <a:latin typeface="Calibri" panose="020F0502020204030204" pitchFamily="34" charset="0"/>
              <a:cs typeface="Calibri" panose="020F0502020204030204" pitchFamily="34" charset="0"/>
            </a:rPr>
            <a:t>One arm defines how many layers. Another arm identifies the neurons per layer. </a:t>
          </a:r>
        </a:p>
      </dgm:t>
    </dgm:pt>
    <dgm:pt modelId="{B52A890C-F561-41C1-B444-8D86E796321D}" type="parTrans" cxnId="{13914495-AB17-4D67-97CE-22950868DD80}">
      <dgm:prSet/>
      <dgm:spPr/>
      <dgm:t>
        <a:bodyPr/>
        <a:lstStyle/>
        <a:p>
          <a:endParaRPr lang="en-US" sz="2400">
            <a:latin typeface="Calibri" panose="020F0502020204030204" pitchFamily="34" charset="0"/>
            <a:cs typeface="Calibri" panose="020F0502020204030204" pitchFamily="34" charset="0"/>
          </a:endParaRPr>
        </a:p>
      </dgm:t>
    </dgm:pt>
    <dgm:pt modelId="{6FFA2857-2978-4548-AD26-19C59D6B7BF9}" type="sibTrans" cxnId="{13914495-AB17-4D67-97CE-22950868DD80}">
      <dgm:prSet/>
      <dgm:spPr/>
      <dgm:t>
        <a:bodyPr/>
        <a:lstStyle/>
        <a:p>
          <a:endParaRPr lang="en-US" sz="2400">
            <a:latin typeface="Calibri" panose="020F0502020204030204" pitchFamily="34" charset="0"/>
            <a:cs typeface="Calibri" panose="020F0502020204030204" pitchFamily="34" charset="0"/>
          </a:endParaRPr>
        </a:p>
      </dgm:t>
    </dgm:pt>
    <dgm:pt modelId="{70D6D28C-5F7B-4456-99CC-F58C4E227036}">
      <dgm:prSet phldrT="[Text]" custT="1"/>
      <dgm:spPr/>
      <dgm:t>
        <a:bodyPr/>
        <a:lstStyle/>
        <a:p>
          <a:r>
            <a:rPr lang="en-US" sz="1800" dirty="0">
              <a:latin typeface="Calibri" panose="020F0502020204030204" pitchFamily="34" charset="0"/>
              <a:cs typeface="Calibri" panose="020F0502020204030204" pitchFamily="34" charset="0"/>
            </a:rPr>
            <a:t>Train the DRL network from known data points.</a:t>
          </a:r>
        </a:p>
      </dgm:t>
    </dgm:pt>
    <dgm:pt modelId="{34EED313-A68A-4D3B-BE74-144132607571}" type="parTrans" cxnId="{627616AE-B0D9-4564-BB04-F97A64FF86F6}">
      <dgm:prSet/>
      <dgm:spPr/>
      <dgm:t>
        <a:bodyPr/>
        <a:lstStyle/>
        <a:p>
          <a:endParaRPr lang="en-US" sz="2400">
            <a:latin typeface="Calibri" panose="020F0502020204030204" pitchFamily="34" charset="0"/>
            <a:cs typeface="Calibri" panose="020F0502020204030204" pitchFamily="34" charset="0"/>
          </a:endParaRPr>
        </a:p>
      </dgm:t>
    </dgm:pt>
    <dgm:pt modelId="{977C2059-C19F-45BD-B30A-ADD6CD19D8AD}" type="sibTrans" cxnId="{627616AE-B0D9-4564-BB04-F97A64FF86F6}">
      <dgm:prSet/>
      <dgm:spPr/>
      <dgm:t>
        <a:bodyPr/>
        <a:lstStyle/>
        <a:p>
          <a:endParaRPr lang="en-US" sz="2400">
            <a:latin typeface="Calibri" panose="020F0502020204030204" pitchFamily="34" charset="0"/>
            <a:cs typeface="Calibri" panose="020F0502020204030204" pitchFamily="34" charset="0"/>
          </a:endParaRPr>
        </a:p>
      </dgm:t>
    </dgm:pt>
    <dgm:pt modelId="{A0908055-728F-4646-B93E-29EC6BEAE9AF}">
      <dgm:prSet phldrT="[Text]" custT="1"/>
      <dgm:spPr/>
      <dgm:t>
        <a:bodyPr/>
        <a:lstStyle/>
        <a:p>
          <a:r>
            <a:rPr lang="en-US" sz="1800" dirty="0">
              <a:latin typeface="Calibri" panose="020F0502020204030204" pitchFamily="34" charset="0"/>
              <a:cs typeface="Calibri" panose="020F0502020204030204" pitchFamily="34" charset="0"/>
            </a:rPr>
            <a:t>Discover the most relevant intermediate “control” points. </a:t>
          </a:r>
        </a:p>
      </dgm:t>
    </dgm:pt>
    <dgm:pt modelId="{DBD73404-2F1A-4F54-9EDC-3B535C6AA551}" type="parTrans" cxnId="{5DBF04C8-3EE2-4A65-9FB9-E1567BBDE1F0}">
      <dgm:prSet/>
      <dgm:spPr/>
      <dgm:t>
        <a:bodyPr/>
        <a:lstStyle/>
        <a:p>
          <a:endParaRPr lang="en-US" sz="2400">
            <a:latin typeface="Calibri" panose="020F0502020204030204" pitchFamily="34" charset="0"/>
            <a:cs typeface="Calibri" panose="020F0502020204030204" pitchFamily="34" charset="0"/>
          </a:endParaRPr>
        </a:p>
      </dgm:t>
    </dgm:pt>
    <dgm:pt modelId="{7DFF3447-CECC-410A-9E95-3F1798D2AE6D}" type="sibTrans" cxnId="{5DBF04C8-3EE2-4A65-9FB9-E1567BBDE1F0}">
      <dgm:prSet/>
      <dgm:spPr/>
      <dgm:t>
        <a:bodyPr/>
        <a:lstStyle/>
        <a:p>
          <a:endParaRPr lang="en-US" sz="2400">
            <a:latin typeface="Calibri" panose="020F0502020204030204" pitchFamily="34" charset="0"/>
            <a:cs typeface="Calibri" panose="020F0502020204030204" pitchFamily="34" charset="0"/>
          </a:endParaRPr>
        </a:p>
      </dgm:t>
    </dgm:pt>
    <dgm:pt modelId="{A488281D-84A4-4776-A27E-F174993D7E79}">
      <dgm:prSet phldrT="[Text]" custT="1"/>
      <dgm:spPr/>
      <dgm:t>
        <a:bodyPr/>
        <a:lstStyle/>
        <a:p>
          <a:r>
            <a:rPr lang="en-US" sz="1800" dirty="0">
              <a:latin typeface="Calibri" panose="020F0502020204030204" pitchFamily="34" charset="0"/>
              <a:cs typeface="Calibri" panose="020F0502020204030204" pitchFamily="34" charset="0"/>
            </a:rPr>
            <a:t>Agree upon desired output parameters</a:t>
          </a:r>
        </a:p>
      </dgm:t>
    </dgm:pt>
    <dgm:pt modelId="{F3D729CD-34F5-453D-9428-F222C293D879}" type="parTrans" cxnId="{57BC013F-2B4D-479A-BD5A-C1D4E6F94602}">
      <dgm:prSet/>
      <dgm:spPr/>
      <dgm:t>
        <a:bodyPr/>
        <a:lstStyle/>
        <a:p>
          <a:endParaRPr lang="en-US" sz="2400">
            <a:latin typeface="Calibri" panose="020F0502020204030204" pitchFamily="34" charset="0"/>
            <a:cs typeface="Calibri" panose="020F0502020204030204" pitchFamily="34" charset="0"/>
          </a:endParaRPr>
        </a:p>
      </dgm:t>
    </dgm:pt>
    <dgm:pt modelId="{81E08932-3210-426E-8FF3-077274D835AC}" type="sibTrans" cxnId="{57BC013F-2B4D-479A-BD5A-C1D4E6F94602}">
      <dgm:prSet/>
      <dgm:spPr/>
      <dgm:t>
        <a:bodyPr/>
        <a:lstStyle/>
        <a:p>
          <a:endParaRPr lang="en-US" sz="2400">
            <a:latin typeface="Calibri" panose="020F0502020204030204" pitchFamily="34" charset="0"/>
            <a:cs typeface="Calibri" panose="020F0502020204030204" pitchFamily="34" charset="0"/>
          </a:endParaRPr>
        </a:p>
      </dgm:t>
    </dgm:pt>
    <dgm:pt modelId="{61CA0564-7AF0-4258-91C4-E3F05B0BDC03}">
      <dgm:prSet phldrT="[Text]" custT="1"/>
      <dgm:spPr/>
      <dgm:t>
        <a:bodyPr/>
        <a:lstStyle/>
        <a:p>
          <a:r>
            <a:rPr lang="en-US" sz="1800" dirty="0">
              <a:latin typeface="Calibri" panose="020F0502020204030204" pitchFamily="34" charset="0"/>
              <a:cs typeface="Calibri" panose="020F0502020204030204" pitchFamily="34" charset="0"/>
            </a:rPr>
            <a:t>Efficiently makes the network model based on likely graphs (inter-relations)</a:t>
          </a:r>
        </a:p>
      </dgm:t>
    </dgm:pt>
    <dgm:pt modelId="{E0F8ECED-665A-4538-A0B1-FD2D6887283D}" type="parTrans" cxnId="{D3D24962-7A93-4007-AEE4-83AF61C72A63}">
      <dgm:prSet/>
      <dgm:spPr/>
      <dgm:t>
        <a:bodyPr/>
        <a:lstStyle/>
        <a:p>
          <a:endParaRPr lang="en-US" sz="2400">
            <a:latin typeface="Calibri" panose="020F0502020204030204" pitchFamily="34" charset="0"/>
            <a:cs typeface="Calibri" panose="020F0502020204030204" pitchFamily="34" charset="0"/>
          </a:endParaRPr>
        </a:p>
      </dgm:t>
    </dgm:pt>
    <dgm:pt modelId="{B4565CC4-16A5-4E3A-A705-B6720D2D4C62}" type="sibTrans" cxnId="{D3D24962-7A93-4007-AEE4-83AF61C72A63}">
      <dgm:prSet/>
      <dgm:spPr/>
      <dgm:t>
        <a:bodyPr/>
        <a:lstStyle/>
        <a:p>
          <a:endParaRPr lang="en-US" sz="2400">
            <a:latin typeface="Calibri" panose="020F0502020204030204" pitchFamily="34" charset="0"/>
            <a:cs typeface="Calibri" panose="020F0502020204030204" pitchFamily="34" charset="0"/>
          </a:endParaRPr>
        </a:p>
      </dgm:t>
    </dgm:pt>
    <dgm:pt modelId="{95F0CF76-F218-47B9-A392-F032D6D14639}">
      <dgm:prSet phldrT="[Text]" custT="1"/>
      <dgm:spPr/>
      <dgm:t>
        <a:bodyPr/>
        <a:lstStyle/>
        <a:p>
          <a:r>
            <a:rPr lang="en-US" sz="1800" dirty="0">
              <a:latin typeface="Calibri" panose="020F0502020204030204" pitchFamily="34" charset="0"/>
              <a:cs typeface="Calibri" panose="020F0502020204030204" pitchFamily="34" charset="0"/>
            </a:rPr>
            <a:t>Proceed only upon convergence</a:t>
          </a:r>
        </a:p>
      </dgm:t>
    </dgm:pt>
    <dgm:pt modelId="{9EA348C4-03D1-4F16-A1DF-9ABB1C218E95}" type="parTrans" cxnId="{EC584F16-E78E-47D5-9959-52853976ADBB}">
      <dgm:prSet/>
      <dgm:spPr/>
      <dgm:t>
        <a:bodyPr/>
        <a:lstStyle/>
        <a:p>
          <a:endParaRPr lang="en-US" sz="2400">
            <a:latin typeface="Calibri" panose="020F0502020204030204" pitchFamily="34" charset="0"/>
            <a:cs typeface="Calibri" panose="020F0502020204030204" pitchFamily="34" charset="0"/>
          </a:endParaRPr>
        </a:p>
      </dgm:t>
    </dgm:pt>
    <dgm:pt modelId="{E3713F8D-C44C-4906-8FE6-352A078E286A}" type="sibTrans" cxnId="{EC584F16-E78E-47D5-9959-52853976ADBB}">
      <dgm:prSet/>
      <dgm:spPr/>
      <dgm:t>
        <a:bodyPr/>
        <a:lstStyle/>
        <a:p>
          <a:endParaRPr lang="en-US" sz="2400">
            <a:latin typeface="Calibri" panose="020F0502020204030204" pitchFamily="34" charset="0"/>
            <a:cs typeface="Calibri" panose="020F0502020204030204" pitchFamily="34" charset="0"/>
          </a:endParaRPr>
        </a:p>
      </dgm:t>
    </dgm:pt>
    <dgm:pt modelId="{0358463F-DFBD-468D-943C-6C763AB44010}" type="pres">
      <dgm:prSet presAssocID="{B62DA003-F292-4A64-8319-8CC233D11E44}" presName="linearFlow" presStyleCnt="0">
        <dgm:presLayoutVars>
          <dgm:dir/>
          <dgm:animLvl val="lvl"/>
          <dgm:resizeHandles val="exact"/>
        </dgm:presLayoutVars>
      </dgm:prSet>
      <dgm:spPr/>
    </dgm:pt>
    <dgm:pt modelId="{BDA215BE-0451-4F96-85C9-70124D453E02}" type="pres">
      <dgm:prSet presAssocID="{FA422D19-9FD2-4012-B947-F3816E8F1E85}" presName="composite" presStyleCnt="0"/>
      <dgm:spPr/>
    </dgm:pt>
    <dgm:pt modelId="{7ED07207-42CB-4502-8B73-5FF0B4DCFB97}" type="pres">
      <dgm:prSet presAssocID="{FA422D19-9FD2-4012-B947-F3816E8F1E85}" presName="parentText" presStyleLbl="alignNode1" presStyleIdx="0" presStyleCnt="4">
        <dgm:presLayoutVars>
          <dgm:chMax val="1"/>
          <dgm:bulletEnabled val="1"/>
        </dgm:presLayoutVars>
      </dgm:prSet>
      <dgm:spPr/>
    </dgm:pt>
    <dgm:pt modelId="{26D51FE1-E334-407F-92D0-594719E078F1}" type="pres">
      <dgm:prSet presAssocID="{FA422D19-9FD2-4012-B947-F3816E8F1E85}" presName="descendantText" presStyleLbl="alignAcc1" presStyleIdx="0" presStyleCnt="4">
        <dgm:presLayoutVars>
          <dgm:bulletEnabled val="1"/>
        </dgm:presLayoutVars>
      </dgm:prSet>
      <dgm:spPr/>
    </dgm:pt>
    <dgm:pt modelId="{BA998B78-4DBB-464E-AE1A-BB9CEA476A67}" type="pres">
      <dgm:prSet presAssocID="{ED90D11D-8A9B-4E98-B924-2398253D545C}" presName="sp" presStyleCnt="0"/>
      <dgm:spPr/>
    </dgm:pt>
    <dgm:pt modelId="{FD13E5B5-45B6-475A-94DF-3DC7CCF680B9}" type="pres">
      <dgm:prSet presAssocID="{DD746070-61B2-44F5-87E0-51827DA5359C}" presName="composite" presStyleCnt="0"/>
      <dgm:spPr/>
    </dgm:pt>
    <dgm:pt modelId="{3E6CF01C-3C88-4322-9C44-AEC6B8CFE75B}" type="pres">
      <dgm:prSet presAssocID="{DD746070-61B2-44F5-87E0-51827DA5359C}" presName="parentText" presStyleLbl="alignNode1" presStyleIdx="1" presStyleCnt="4">
        <dgm:presLayoutVars>
          <dgm:chMax val="1"/>
          <dgm:bulletEnabled val="1"/>
        </dgm:presLayoutVars>
      </dgm:prSet>
      <dgm:spPr/>
    </dgm:pt>
    <dgm:pt modelId="{BE617AAD-B152-4F89-BBCC-911CEC8E0074}" type="pres">
      <dgm:prSet presAssocID="{DD746070-61B2-44F5-87E0-51827DA5359C}" presName="descendantText" presStyleLbl="alignAcc1" presStyleIdx="1" presStyleCnt="4">
        <dgm:presLayoutVars>
          <dgm:bulletEnabled val="1"/>
        </dgm:presLayoutVars>
      </dgm:prSet>
      <dgm:spPr/>
    </dgm:pt>
    <dgm:pt modelId="{1A12F929-312B-4D16-BA62-1C4D3CA5CFED}" type="pres">
      <dgm:prSet presAssocID="{26190469-B32E-4202-8063-E86DBBAD1976}" presName="sp" presStyleCnt="0"/>
      <dgm:spPr/>
    </dgm:pt>
    <dgm:pt modelId="{97C85F41-3270-432F-A52B-0495B6A5AEF9}" type="pres">
      <dgm:prSet presAssocID="{DACDB3CF-18A6-4E58-9D65-38EDCB58A781}" presName="composite" presStyleCnt="0"/>
      <dgm:spPr/>
    </dgm:pt>
    <dgm:pt modelId="{E44C1824-7ACC-450A-A785-5B3775730F5F}" type="pres">
      <dgm:prSet presAssocID="{DACDB3CF-18A6-4E58-9D65-38EDCB58A781}" presName="parentText" presStyleLbl="alignNode1" presStyleIdx="2" presStyleCnt="4">
        <dgm:presLayoutVars>
          <dgm:chMax val="1"/>
          <dgm:bulletEnabled val="1"/>
        </dgm:presLayoutVars>
      </dgm:prSet>
      <dgm:spPr/>
    </dgm:pt>
    <dgm:pt modelId="{AA0E2717-B019-4896-832A-DA508F32ED44}" type="pres">
      <dgm:prSet presAssocID="{DACDB3CF-18A6-4E58-9D65-38EDCB58A781}" presName="descendantText" presStyleLbl="alignAcc1" presStyleIdx="2" presStyleCnt="4">
        <dgm:presLayoutVars>
          <dgm:bulletEnabled val="1"/>
        </dgm:presLayoutVars>
      </dgm:prSet>
      <dgm:spPr/>
    </dgm:pt>
    <dgm:pt modelId="{39C4CB45-CAAE-4024-BD2E-3A70733E08FE}" type="pres">
      <dgm:prSet presAssocID="{F3CDC648-DEFD-495C-9236-822BA093CAA4}" presName="sp" presStyleCnt="0"/>
      <dgm:spPr/>
    </dgm:pt>
    <dgm:pt modelId="{F5C31A6A-4A69-4E97-8769-DD4E077D511C}" type="pres">
      <dgm:prSet presAssocID="{07FC01BE-3A29-428D-86D6-110AB4D15FB4}" presName="composite" presStyleCnt="0"/>
      <dgm:spPr/>
    </dgm:pt>
    <dgm:pt modelId="{544CB700-1985-484F-B0E8-CB8D5AE83A32}" type="pres">
      <dgm:prSet presAssocID="{07FC01BE-3A29-428D-86D6-110AB4D15FB4}" presName="parentText" presStyleLbl="alignNode1" presStyleIdx="3" presStyleCnt="4">
        <dgm:presLayoutVars>
          <dgm:chMax val="1"/>
          <dgm:bulletEnabled val="1"/>
        </dgm:presLayoutVars>
      </dgm:prSet>
      <dgm:spPr/>
    </dgm:pt>
    <dgm:pt modelId="{C0D346AA-2631-4240-B0C1-03A48C677284}" type="pres">
      <dgm:prSet presAssocID="{07FC01BE-3A29-428D-86D6-110AB4D15FB4}" presName="descendantText" presStyleLbl="alignAcc1" presStyleIdx="3" presStyleCnt="4">
        <dgm:presLayoutVars>
          <dgm:bulletEnabled val="1"/>
        </dgm:presLayoutVars>
      </dgm:prSet>
      <dgm:spPr/>
    </dgm:pt>
  </dgm:ptLst>
  <dgm:cxnLst>
    <dgm:cxn modelId="{96228511-B90F-4900-B331-8E073F719FAB}" type="presOf" srcId="{DD746070-61B2-44F5-87E0-51827DA5359C}" destId="{3E6CF01C-3C88-4322-9C44-AEC6B8CFE75B}" srcOrd="0" destOrd="0" presId="urn:microsoft.com/office/officeart/2005/8/layout/chevron2"/>
    <dgm:cxn modelId="{1F042812-6D08-4F52-B9C1-4816DF35D746}" type="presOf" srcId="{B62DA003-F292-4A64-8319-8CC233D11E44}" destId="{0358463F-DFBD-468D-943C-6C763AB44010}" srcOrd="0" destOrd="0" presId="urn:microsoft.com/office/officeart/2005/8/layout/chevron2"/>
    <dgm:cxn modelId="{EC584F16-E78E-47D5-9959-52853976ADBB}" srcId="{07FC01BE-3A29-428D-86D6-110AB4D15FB4}" destId="{95F0CF76-F218-47B9-A392-F032D6D14639}" srcOrd="1" destOrd="0" parTransId="{9EA348C4-03D1-4F16-A1DF-9ABB1C218E95}" sibTransId="{E3713F8D-C44C-4906-8FE6-352A078E286A}"/>
    <dgm:cxn modelId="{57BC013F-2B4D-479A-BD5A-C1D4E6F94602}" srcId="{FA422D19-9FD2-4012-B947-F3816E8F1E85}" destId="{A488281D-84A4-4776-A27E-F174993D7E79}" srcOrd="2" destOrd="0" parTransId="{F3D729CD-34F5-453D-9428-F222C293D879}" sibTransId="{81E08932-3210-426E-8FF3-077274D835AC}"/>
    <dgm:cxn modelId="{4B8B9A5C-DC52-48B4-B197-025D83D3125C}" srcId="{B62DA003-F292-4A64-8319-8CC233D11E44}" destId="{DACDB3CF-18A6-4E58-9D65-38EDCB58A781}" srcOrd="2" destOrd="0" parTransId="{8F756124-968E-493F-8041-4BC76C9EAB87}" sibTransId="{F3CDC648-DEFD-495C-9236-822BA093CAA4}"/>
    <dgm:cxn modelId="{3217395D-6E4E-4394-9430-AEC9B9CCBB78}" type="presOf" srcId="{A0908055-728F-4646-B93E-29EC6BEAE9AF}" destId="{26D51FE1-E334-407F-92D0-594719E078F1}" srcOrd="0" destOrd="1" presId="urn:microsoft.com/office/officeart/2005/8/layout/chevron2"/>
    <dgm:cxn modelId="{D3D24962-7A93-4007-AEE4-83AF61C72A63}" srcId="{DACDB3CF-18A6-4E58-9D65-38EDCB58A781}" destId="{61CA0564-7AF0-4258-91C4-E3F05B0BDC03}" srcOrd="1" destOrd="0" parTransId="{E0F8ECED-665A-4538-A0B1-FD2D6887283D}" sibTransId="{B4565CC4-16A5-4E3A-A705-B6720D2D4C62}"/>
    <dgm:cxn modelId="{2D1D6168-E0DB-4479-8158-652EB14657BF}" type="presOf" srcId="{95F0CF76-F218-47B9-A392-F032D6D14639}" destId="{C0D346AA-2631-4240-B0C1-03A48C677284}" srcOrd="0" destOrd="1" presId="urn:microsoft.com/office/officeart/2005/8/layout/chevron2"/>
    <dgm:cxn modelId="{9D28024F-4C69-4006-AA18-6B8973D2BAB0}" type="presOf" srcId="{A488281D-84A4-4776-A27E-F174993D7E79}" destId="{26D51FE1-E334-407F-92D0-594719E078F1}" srcOrd="0" destOrd="2" presId="urn:microsoft.com/office/officeart/2005/8/layout/chevron2"/>
    <dgm:cxn modelId="{716FF552-FA36-42E8-9B14-28E0E8D87A8B}" type="presOf" srcId="{FA422D19-9FD2-4012-B947-F3816E8F1E85}" destId="{7ED07207-42CB-4502-8B73-5FF0B4DCFB97}" srcOrd="0" destOrd="0" presId="urn:microsoft.com/office/officeart/2005/8/layout/chevron2"/>
    <dgm:cxn modelId="{3DEA8755-7B6E-4324-8BDA-7B6CEC37FD03}" srcId="{B62DA003-F292-4A64-8319-8CC233D11E44}" destId="{DD746070-61B2-44F5-87E0-51827DA5359C}" srcOrd="1" destOrd="0" parTransId="{14E9F90C-AAC8-4150-94C7-C49BBB286B75}" sibTransId="{26190469-B32E-4202-8063-E86DBBAD1976}"/>
    <dgm:cxn modelId="{96CF2456-78A5-4FD4-A880-B2CF065BFB29}" type="presOf" srcId="{8288F2AB-17B2-4AAF-BDBF-79D87C5FC851}" destId="{BE617AAD-B152-4F89-BBCC-911CEC8E0074}" srcOrd="0" destOrd="1" presId="urn:microsoft.com/office/officeart/2005/8/layout/chevron2"/>
    <dgm:cxn modelId="{2684237E-40E1-4BFE-A4DC-2AEA5FEE662F}" srcId="{B62DA003-F292-4A64-8319-8CC233D11E44}" destId="{07FC01BE-3A29-428D-86D6-110AB4D15FB4}" srcOrd="3" destOrd="0" parTransId="{5A4EC9EE-71BA-48CF-B01D-BF1DF8055025}" sibTransId="{A58F3612-9771-45F3-A7E6-3619A6F166FB}"/>
    <dgm:cxn modelId="{0345558E-2629-463A-B431-026BBFF3B5EB}" type="presOf" srcId="{DACDB3CF-18A6-4E58-9D65-38EDCB58A781}" destId="{E44C1824-7ACC-450A-A785-5B3775730F5F}" srcOrd="0" destOrd="0" presId="urn:microsoft.com/office/officeart/2005/8/layout/chevron2"/>
    <dgm:cxn modelId="{13914495-AB17-4D67-97CE-22950868DD80}" srcId="{DACDB3CF-18A6-4E58-9D65-38EDCB58A781}" destId="{C7061A68-898C-4B87-A3A5-1F8B16A35AB1}" srcOrd="0" destOrd="0" parTransId="{B52A890C-F561-41C1-B444-8D86E796321D}" sibTransId="{6FFA2857-2978-4548-AD26-19C59D6B7BF9}"/>
    <dgm:cxn modelId="{25351BA6-B4CE-4E43-8BBB-9DC3CED77FFF}" type="presOf" srcId="{61CA0564-7AF0-4258-91C4-E3F05B0BDC03}" destId="{AA0E2717-B019-4896-832A-DA508F32ED44}" srcOrd="0" destOrd="1" presId="urn:microsoft.com/office/officeart/2005/8/layout/chevron2"/>
    <dgm:cxn modelId="{127E73AB-6E64-4B47-B749-EA9FA71BBA51}" srcId="{B62DA003-F292-4A64-8319-8CC233D11E44}" destId="{FA422D19-9FD2-4012-B947-F3816E8F1E85}" srcOrd="0" destOrd="0" parTransId="{4695FAEA-7171-4AC1-BE5D-964E5C589D6E}" sibTransId="{ED90D11D-8A9B-4E98-B924-2398253D545C}"/>
    <dgm:cxn modelId="{627616AE-B0D9-4564-BB04-F97A64FF86F6}" srcId="{07FC01BE-3A29-428D-86D6-110AB4D15FB4}" destId="{70D6D28C-5F7B-4456-99CC-F58C4E227036}" srcOrd="0" destOrd="0" parTransId="{34EED313-A68A-4D3B-BE74-144132607571}" sibTransId="{977C2059-C19F-45BD-B30A-ADD6CD19D8AD}"/>
    <dgm:cxn modelId="{C305C4BC-C53D-4575-A19F-3091086CA78C}" type="presOf" srcId="{07FC01BE-3A29-428D-86D6-110AB4D15FB4}" destId="{544CB700-1985-484F-B0E8-CB8D5AE83A32}" srcOrd="0" destOrd="0" presId="urn:microsoft.com/office/officeart/2005/8/layout/chevron2"/>
    <dgm:cxn modelId="{58575FC1-DF5E-4E65-B169-220D009A755D}" type="presOf" srcId="{C7061A68-898C-4B87-A3A5-1F8B16A35AB1}" destId="{AA0E2717-B019-4896-832A-DA508F32ED44}" srcOrd="0" destOrd="0" presId="urn:microsoft.com/office/officeart/2005/8/layout/chevron2"/>
    <dgm:cxn modelId="{1EB6FEC3-4C59-4F5A-95BC-8A571FF38419}" type="presOf" srcId="{70D6D28C-5F7B-4456-99CC-F58C4E227036}" destId="{C0D346AA-2631-4240-B0C1-03A48C677284}" srcOrd="0" destOrd="0" presId="urn:microsoft.com/office/officeart/2005/8/layout/chevron2"/>
    <dgm:cxn modelId="{5DBF04C8-3EE2-4A65-9FB9-E1567BBDE1F0}" srcId="{FA422D19-9FD2-4012-B947-F3816E8F1E85}" destId="{A0908055-728F-4646-B93E-29EC6BEAE9AF}" srcOrd="1" destOrd="0" parTransId="{DBD73404-2F1A-4F54-9EDC-3B535C6AA551}" sibTransId="{7DFF3447-CECC-410A-9E95-3F1798D2AE6D}"/>
    <dgm:cxn modelId="{74C07BC8-0043-4D79-9DDC-78430A5D5340}" type="presOf" srcId="{AF17A749-D266-4BE3-A328-6C6564BEF08C}" destId="{BE617AAD-B152-4F89-BBCC-911CEC8E0074}" srcOrd="0" destOrd="0" presId="urn:microsoft.com/office/officeart/2005/8/layout/chevron2"/>
    <dgm:cxn modelId="{0A6A35CB-BFA7-4FA5-AD69-F22E92679081}" type="presOf" srcId="{675485FB-014C-4725-812A-F22E447376C6}" destId="{26D51FE1-E334-407F-92D0-594719E078F1}" srcOrd="0" destOrd="0" presId="urn:microsoft.com/office/officeart/2005/8/layout/chevron2"/>
    <dgm:cxn modelId="{FE39C2D8-7E92-4C57-8BCF-2762BEB758CF}" srcId="{DD746070-61B2-44F5-87E0-51827DA5359C}" destId="{AF17A749-D266-4BE3-A328-6C6564BEF08C}" srcOrd="0" destOrd="0" parTransId="{3F3210B4-274F-4B25-AFA2-619B2153073E}" sibTransId="{4B06711B-98C7-49FD-BD61-BDE63DAFDEC1}"/>
    <dgm:cxn modelId="{68A16CED-D50A-41D1-B919-56D06A2AFC36}" srcId="{DD746070-61B2-44F5-87E0-51827DA5359C}" destId="{8288F2AB-17B2-4AAF-BDBF-79D87C5FC851}" srcOrd="1" destOrd="0" parTransId="{ADB2F0D2-0067-4B2E-93AC-F4D25D048F16}" sibTransId="{98D21AFF-6177-4749-A9EC-E0C3283A7DE3}"/>
    <dgm:cxn modelId="{7C613CF8-5313-4623-936C-C32070453C7C}" srcId="{FA422D19-9FD2-4012-B947-F3816E8F1E85}" destId="{675485FB-014C-4725-812A-F22E447376C6}" srcOrd="0" destOrd="0" parTransId="{9866F647-C78F-439D-822F-D67367D0B237}" sibTransId="{8E328F41-CCEE-4D43-8AFB-3D8F25FAEAA1}"/>
    <dgm:cxn modelId="{D27FA8F3-FCDB-4FC3-805A-DD4B18E2AB63}" type="presParOf" srcId="{0358463F-DFBD-468D-943C-6C763AB44010}" destId="{BDA215BE-0451-4F96-85C9-70124D453E02}" srcOrd="0" destOrd="0" presId="urn:microsoft.com/office/officeart/2005/8/layout/chevron2"/>
    <dgm:cxn modelId="{3C385F27-8C8E-4FB4-8B44-BE2562C84D0B}" type="presParOf" srcId="{BDA215BE-0451-4F96-85C9-70124D453E02}" destId="{7ED07207-42CB-4502-8B73-5FF0B4DCFB97}" srcOrd="0" destOrd="0" presId="urn:microsoft.com/office/officeart/2005/8/layout/chevron2"/>
    <dgm:cxn modelId="{30E7D73A-F9FC-430B-B39E-C6881126EB66}" type="presParOf" srcId="{BDA215BE-0451-4F96-85C9-70124D453E02}" destId="{26D51FE1-E334-407F-92D0-594719E078F1}" srcOrd="1" destOrd="0" presId="urn:microsoft.com/office/officeart/2005/8/layout/chevron2"/>
    <dgm:cxn modelId="{5F6D9E1A-D3EA-4D89-9BE3-17D313300B73}" type="presParOf" srcId="{0358463F-DFBD-468D-943C-6C763AB44010}" destId="{BA998B78-4DBB-464E-AE1A-BB9CEA476A67}" srcOrd="1" destOrd="0" presId="urn:microsoft.com/office/officeart/2005/8/layout/chevron2"/>
    <dgm:cxn modelId="{93AA3251-8234-426D-AD56-F86B63C64AE9}" type="presParOf" srcId="{0358463F-DFBD-468D-943C-6C763AB44010}" destId="{FD13E5B5-45B6-475A-94DF-3DC7CCF680B9}" srcOrd="2" destOrd="0" presId="urn:microsoft.com/office/officeart/2005/8/layout/chevron2"/>
    <dgm:cxn modelId="{B60226D0-93BA-45D5-A7D0-36C12E5BE770}" type="presParOf" srcId="{FD13E5B5-45B6-475A-94DF-3DC7CCF680B9}" destId="{3E6CF01C-3C88-4322-9C44-AEC6B8CFE75B}" srcOrd="0" destOrd="0" presId="urn:microsoft.com/office/officeart/2005/8/layout/chevron2"/>
    <dgm:cxn modelId="{EAF47CA8-61E0-4A00-8A31-C77EA3446018}" type="presParOf" srcId="{FD13E5B5-45B6-475A-94DF-3DC7CCF680B9}" destId="{BE617AAD-B152-4F89-BBCC-911CEC8E0074}" srcOrd="1" destOrd="0" presId="urn:microsoft.com/office/officeart/2005/8/layout/chevron2"/>
    <dgm:cxn modelId="{48A9211A-D12C-415E-A1C6-30867FF26F14}" type="presParOf" srcId="{0358463F-DFBD-468D-943C-6C763AB44010}" destId="{1A12F929-312B-4D16-BA62-1C4D3CA5CFED}" srcOrd="3" destOrd="0" presId="urn:microsoft.com/office/officeart/2005/8/layout/chevron2"/>
    <dgm:cxn modelId="{35D4074F-828C-4AE2-9F4A-DB00BA02F39B}" type="presParOf" srcId="{0358463F-DFBD-468D-943C-6C763AB44010}" destId="{97C85F41-3270-432F-A52B-0495B6A5AEF9}" srcOrd="4" destOrd="0" presId="urn:microsoft.com/office/officeart/2005/8/layout/chevron2"/>
    <dgm:cxn modelId="{413415C5-433D-4A4D-AE30-22906E134AB3}" type="presParOf" srcId="{97C85F41-3270-432F-A52B-0495B6A5AEF9}" destId="{E44C1824-7ACC-450A-A785-5B3775730F5F}" srcOrd="0" destOrd="0" presId="urn:microsoft.com/office/officeart/2005/8/layout/chevron2"/>
    <dgm:cxn modelId="{2572DB87-DB05-4ACF-8AB6-1BDEAAB0AE0C}" type="presParOf" srcId="{97C85F41-3270-432F-A52B-0495B6A5AEF9}" destId="{AA0E2717-B019-4896-832A-DA508F32ED44}" srcOrd="1" destOrd="0" presId="urn:microsoft.com/office/officeart/2005/8/layout/chevron2"/>
    <dgm:cxn modelId="{E8F9290C-B5F5-4EE1-837A-AA9BDAD92440}" type="presParOf" srcId="{0358463F-DFBD-468D-943C-6C763AB44010}" destId="{39C4CB45-CAAE-4024-BD2E-3A70733E08FE}" srcOrd="5" destOrd="0" presId="urn:microsoft.com/office/officeart/2005/8/layout/chevron2"/>
    <dgm:cxn modelId="{A7702B40-651B-4A2B-AF6F-BC3EE437F98D}" type="presParOf" srcId="{0358463F-DFBD-468D-943C-6C763AB44010}" destId="{F5C31A6A-4A69-4E97-8769-DD4E077D511C}" srcOrd="6" destOrd="0" presId="urn:microsoft.com/office/officeart/2005/8/layout/chevron2"/>
    <dgm:cxn modelId="{D062B784-B458-4734-AF88-C733F13DC82D}" type="presParOf" srcId="{F5C31A6A-4A69-4E97-8769-DD4E077D511C}" destId="{544CB700-1985-484F-B0E8-CB8D5AE83A32}" srcOrd="0" destOrd="0" presId="urn:microsoft.com/office/officeart/2005/8/layout/chevron2"/>
    <dgm:cxn modelId="{DBB9DE78-3BD2-4621-AAF3-7338D4610B6D}" type="presParOf" srcId="{F5C31A6A-4A69-4E97-8769-DD4E077D511C}" destId="{C0D346AA-2631-4240-B0C1-03A48C67728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5D8E0D-79B5-49BB-857F-973988CD2EDF}" type="doc">
      <dgm:prSet loTypeId="urn:microsoft.com/office/officeart/2011/layout/CircleProcess" loCatId="process" qsTypeId="urn:microsoft.com/office/officeart/2005/8/quickstyle/simple1" qsCatId="simple" csTypeId="urn:microsoft.com/office/officeart/2005/8/colors/accent0_3" csCatId="mainScheme" phldr="1"/>
      <dgm:spPr/>
      <dgm:t>
        <a:bodyPr/>
        <a:lstStyle/>
        <a:p>
          <a:endParaRPr lang="en-US"/>
        </a:p>
      </dgm:t>
    </dgm:pt>
    <dgm:pt modelId="{804C5CB8-9D00-409C-9D3C-FAA7022645F8}">
      <dgm:prSet phldrT="[Text]" custT="1"/>
      <dgm:spPr>
        <a:solidFill>
          <a:srgbClr val="92D050">
            <a:alpha val="90000"/>
          </a:srgbClr>
        </a:solidFill>
      </dgm:spPr>
      <dgm:t>
        <a:bodyPr/>
        <a:lstStyle/>
        <a:p>
          <a:r>
            <a:rPr lang="en-US" sz="1400" dirty="0">
              <a:latin typeface="Calibri" panose="020F0502020204030204" pitchFamily="34" charset="0"/>
              <a:cs typeface="Calibri" panose="020F0502020204030204" pitchFamily="34" charset="0"/>
            </a:rPr>
            <a:t>Basic Research is </a:t>
          </a:r>
          <a:r>
            <a:rPr lang="en-US" sz="1400" b="1" dirty="0">
              <a:latin typeface="Calibri" panose="020F0502020204030204" pitchFamily="34" charset="0"/>
              <a:cs typeface="Calibri" panose="020F0502020204030204" pitchFamily="34" charset="0"/>
            </a:rPr>
            <a:t>DONE</a:t>
          </a:r>
        </a:p>
      </dgm:t>
    </dgm:pt>
    <dgm:pt modelId="{E2C06F32-B4D6-446D-9ABB-73DE3996B8E9}" type="parTrans" cxnId="{3B8321C2-9864-49AF-8CA8-D39288F62C26}">
      <dgm:prSet/>
      <dgm:spPr/>
      <dgm:t>
        <a:bodyPr/>
        <a:lstStyle/>
        <a:p>
          <a:endParaRPr lang="en-US" sz="2000">
            <a:latin typeface="Calibri" panose="020F0502020204030204" pitchFamily="34" charset="0"/>
            <a:cs typeface="Calibri" panose="020F0502020204030204" pitchFamily="34" charset="0"/>
          </a:endParaRPr>
        </a:p>
      </dgm:t>
    </dgm:pt>
    <dgm:pt modelId="{A2D2F390-67C7-4640-A07B-C91B3F22F0DA}" type="sibTrans" cxnId="{3B8321C2-9864-49AF-8CA8-D39288F62C26}">
      <dgm:prSet/>
      <dgm:spPr/>
      <dgm:t>
        <a:bodyPr/>
        <a:lstStyle/>
        <a:p>
          <a:endParaRPr lang="en-US" sz="2000">
            <a:latin typeface="Calibri" panose="020F0502020204030204" pitchFamily="34" charset="0"/>
            <a:cs typeface="Calibri" panose="020F0502020204030204" pitchFamily="34" charset="0"/>
          </a:endParaRPr>
        </a:p>
      </dgm:t>
    </dgm:pt>
    <dgm:pt modelId="{DD048FBD-77A8-4430-B3F8-233A4C6B59CD}">
      <dgm:prSet phldrT="[Text]" custT="1"/>
      <dgm:spPr/>
      <dgm:t>
        <a:bodyPr/>
        <a:lstStyle/>
        <a:p>
          <a:r>
            <a:rPr lang="en-US" sz="1400" dirty="0">
              <a:latin typeface="Calibri" panose="020F0502020204030204" pitchFamily="34" charset="0"/>
              <a:cs typeface="Calibri" panose="020F0502020204030204" pitchFamily="34" charset="0"/>
            </a:rPr>
            <a:t>Generalizable as a service?</a:t>
          </a:r>
        </a:p>
      </dgm:t>
    </dgm:pt>
    <dgm:pt modelId="{2728EE7B-3346-4A90-9F58-3E41962510C5}" type="parTrans" cxnId="{9CADC4BA-0044-4DCA-92DC-AA500BFF2FDE}">
      <dgm:prSet/>
      <dgm:spPr/>
      <dgm:t>
        <a:bodyPr/>
        <a:lstStyle/>
        <a:p>
          <a:endParaRPr lang="en-US" sz="2000">
            <a:latin typeface="Calibri" panose="020F0502020204030204" pitchFamily="34" charset="0"/>
            <a:cs typeface="Calibri" panose="020F0502020204030204" pitchFamily="34" charset="0"/>
          </a:endParaRPr>
        </a:p>
      </dgm:t>
    </dgm:pt>
    <dgm:pt modelId="{221E965C-5B27-482A-8812-002B044C04CE}" type="sibTrans" cxnId="{9CADC4BA-0044-4DCA-92DC-AA500BFF2FDE}">
      <dgm:prSet/>
      <dgm:spPr/>
      <dgm:t>
        <a:bodyPr/>
        <a:lstStyle/>
        <a:p>
          <a:endParaRPr lang="en-US" sz="2000">
            <a:latin typeface="Calibri" panose="020F0502020204030204" pitchFamily="34" charset="0"/>
            <a:cs typeface="Calibri" panose="020F0502020204030204" pitchFamily="34" charset="0"/>
          </a:endParaRPr>
        </a:p>
      </dgm:t>
    </dgm:pt>
    <dgm:pt modelId="{E4833BB6-112A-4DE2-8C96-7C16FE8BD316}">
      <dgm:prSet phldrT="[Text]" custT="1"/>
      <dgm:spPr/>
      <dgm:t>
        <a:bodyPr/>
        <a:lstStyle/>
        <a:p>
          <a:r>
            <a:rPr lang="en-US" sz="1400" dirty="0">
              <a:latin typeface="Calibri" panose="020F0502020204030204" pitchFamily="34" charset="0"/>
              <a:cs typeface="Calibri" panose="020F0502020204030204" pitchFamily="34" charset="0"/>
            </a:rPr>
            <a:t>Technically and Commercially Feasible?</a:t>
          </a:r>
        </a:p>
      </dgm:t>
    </dgm:pt>
    <dgm:pt modelId="{4ECB7FAE-0B96-4013-BD04-756BDD5BA213}" type="parTrans" cxnId="{8307088C-D1F1-42F9-83CC-FC376F78FEDB}">
      <dgm:prSet/>
      <dgm:spPr/>
      <dgm:t>
        <a:bodyPr/>
        <a:lstStyle/>
        <a:p>
          <a:endParaRPr lang="en-US" sz="2000">
            <a:latin typeface="Calibri" panose="020F0502020204030204" pitchFamily="34" charset="0"/>
            <a:cs typeface="Calibri" panose="020F0502020204030204" pitchFamily="34" charset="0"/>
          </a:endParaRPr>
        </a:p>
      </dgm:t>
    </dgm:pt>
    <dgm:pt modelId="{CC3EE285-3E5C-44C1-95C1-80454911CE77}" type="sibTrans" cxnId="{8307088C-D1F1-42F9-83CC-FC376F78FEDB}">
      <dgm:prSet/>
      <dgm:spPr/>
      <dgm:t>
        <a:bodyPr/>
        <a:lstStyle/>
        <a:p>
          <a:endParaRPr lang="en-US" sz="2000">
            <a:latin typeface="Calibri" panose="020F0502020204030204" pitchFamily="34" charset="0"/>
            <a:cs typeface="Calibri" panose="020F0502020204030204" pitchFamily="34" charset="0"/>
          </a:endParaRPr>
        </a:p>
      </dgm:t>
    </dgm:pt>
    <dgm:pt modelId="{95DE4B86-B51C-4BB4-8758-508F2D6B1DDD}">
      <dgm:prSet phldrT="[Text]" custT="1"/>
      <dgm:spPr/>
      <dgm:t>
        <a:bodyPr/>
        <a:lstStyle/>
        <a:p>
          <a:r>
            <a:rPr lang="en-US" sz="1400" dirty="0">
              <a:latin typeface="Calibri" panose="020F0502020204030204" pitchFamily="34" charset="0"/>
              <a:cs typeface="Calibri" panose="020F0502020204030204" pitchFamily="34" charset="0"/>
            </a:rPr>
            <a:t>Validate PoC and assess </a:t>
          </a:r>
          <a:r>
            <a:rPr lang="en-US" sz="1400" dirty="0" err="1">
              <a:latin typeface="Calibri" panose="020F0502020204030204" pitchFamily="34" charset="0"/>
              <a:cs typeface="Calibri" panose="020F0502020204030204" pitchFamily="34" charset="0"/>
            </a:rPr>
            <a:t>RoI</a:t>
          </a:r>
          <a:endParaRPr lang="en-US" sz="1400" dirty="0">
            <a:latin typeface="Calibri" panose="020F0502020204030204" pitchFamily="34" charset="0"/>
            <a:cs typeface="Calibri" panose="020F0502020204030204" pitchFamily="34" charset="0"/>
          </a:endParaRPr>
        </a:p>
      </dgm:t>
    </dgm:pt>
    <dgm:pt modelId="{8BEA7DDC-BFB3-493C-9309-53AAF65DEAB6}" type="parTrans" cxnId="{C6E71D18-8F15-417D-9BAC-F1F8637A3688}">
      <dgm:prSet/>
      <dgm:spPr/>
      <dgm:t>
        <a:bodyPr/>
        <a:lstStyle/>
        <a:p>
          <a:endParaRPr lang="en-US" sz="2000">
            <a:latin typeface="Calibri" panose="020F0502020204030204" pitchFamily="34" charset="0"/>
            <a:cs typeface="Calibri" panose="020F0502020204030204" pitchFamily="34" charset="0"/>
          </a:endParaRPr>
        </a:p>
      </dgm:t>
    </dgm:pt>
    <dgm:pt modelId="{9C8AEC5D-C54E-4959-9821-EFCC674F4723}" type="sibTrans" cxnId="{C6E71D18-8F15-417D-9BAC-F1F8637A3688}">
      <dgm:prSet/>
      <dgm:spPr/>
      <dgm:t>
        <a:bodyPr/>
        <a:lstStyle/>
        <a:p>
          <a:endParaRPr lang="en-US" sz="2000">
            <a:latin typeface="Calibri" panose="020F0502020204030204" pitchFamily="34" charset="0"/>
            <a:cs typeface="Calibri" panose="020F0502020204030204" pitchFamily="34" charset="0"/>
          </a:endParaRPr>
        </a:p>
      </dgm:t>
    </dgm:pt>
    <dgm:pt modelId="{21C43B00-FB03-42F4-BD95-87CDE7AF36C1}" type="pres">
      <dgm:prSet presAssocID="{D45D8E0D-79B5-49BB-857F-973988CD2EDF}" presName="Name0" presStyleCnt="0">
        <dgm:presLayoutVars>
          <dgm:chMax val="11"/>
          <dgm:chPref val="11"/>
          <dgm:dir/>
          <dgm:resizeHandles/>
        </dgm:presLayoutVars>
      </dgm:prSet>
      <dgm:spPr/>
    </dgm:pt>
    <dgm:pt modelId="{FC2E270A-65A8-4F8F-B19A-155CC45EB5DE}" type="pres">
      <dgm:prSet presAssocID="{95DE4B86-B51C-4BB4-8758-508F2D6B1DDD}" presName="Accent4" presStyleCnt="0"/>
      <dgm:spPr/>
    </dgm:pt>
    <dgm:pt modelId="{8C0C629F-BFD2-4442-8DFE-A9E28B2AC92A}" type="pres">
      <dgm:prSet presAssocID="{95DE4B86-B51C-4BB4-8758-508F2D6B1DDD}" presName="Accent" presStyleLbl="node1" presStyleIdx="0" presStyleCnt="4"/>
      <dgm:spPr/>
    </dgm:pt>
    <dgm:pt modelId="{F50AAEF2-A1AB-4E4E-988E-1CD0AF0EC485}" type="pres">
      <dgm:prSet presAssocID="{95DE4B86-B51C-4BB4-8758-508F2D6B1DDD}" presName="ParentBackground4" presStyleCnt="0"/>
      <dgm:spPr/>
    </dgm:pt>
    <dgm:pt modelId="{8DAA549B-259B-414C-8847-D864C880B7CB}" type="pres">
      <dgm:prSet presAssocID="{95DE4B86-B51C-4BB4-8758-508F2D6B1DDD}" presName="ParentBackground" presStyleLbl="fgAcc1" presStyleIdx="0" presStyleCnt="4" custScaleX="112723"/>
      <dgm:spPr/>
    </dgm:pt>
    <dgm:pt modelId="{B0A36067-D176-49EA-A4F1-A5A5FA5E3E03}" type="pres">
      <dgm:prSet presAssocID="{95DE4B86-B51C-4BB4-8758-508F2D6B1DDD}" presName="Parent4" presStyleLbl="revTx" presStyleIdx="0" presStyleCnt="0">
        <dgm:presLayoutVars>
          <dgm:chMax val="1"/>
          <dgm:chPref val="1"/>
          <dgm:bulletEnabled val="1"/>
        </dgm:presLayoutVars>
      </dgm:prSet>
      <dgm:spPr/>
    </dgm:pt>
    <dgm:pt modelId="{BBFF3D7C-418C-4E64-8E25-8C18CFAADA16}" type="pres">
      <dgm:prSet presAssocID="{E4833BB6-112A-4DE2-8C96-7C16FE8BD316}" presName="Accent3" presStyleCnt="0"/>
      <dgm:spPr/>
    </dgm:pt>
    <dgm:pt modelId="{4BDE8894-DBC6-405C-9029-764D21F26972}" type="pres">
      <dgm:prSet presAssocID="{E4833BB6-112A-4DE2-8C96-7C16FE8BD316}" presName="Accent" presStyleLbl="node1" presStyleIdx="1" presStyleCnt="4"/>
      <dgm:spPr/>
    </dgm:pt>
    <dgm:pt modelId="{4F1D770C-1EA4-4F8F-9817-C12B203C8EF7}" type="pres">
      <dgm:prSet presAssocID="{E4833BB6-112A-4DE2-8C96-7C16FE8BD316}" presName="ParentBackground3" presStyleCnt="0"/>
      <dgm:spPr/>
    </dgm:pt>
    <dgm:pt modelId="{FC7CC80C-74F3-4F24-AFCD-05F92F554877}" type="pres">
      <dgm:prSet presAssocID="{E4833BB6-112A-4DE2-8C96-7C16FE8BD316}" presName="ParentBackground" presStyleLbl="fgAcc1" presStyleIdx="1" presStyleCnt="4" custScaleX="112723"/>
      <dgm:spPr/>
    </dgm:pt>
    <dgm:pt modelId="{8B734413-95E0-4D67-AB37-24DA7E796806}" type="pres">
      <dgm:prSet presAssocID="{E4833BB6-112A-4DE2-8C96-7C16FE8BD316}" presName="Parent3" presStyleLbl="revTx" presStyleIdx="0" presStyleCnt="0">
        <dgm:presLayoutVars>
          <dgm:chMax val="1"/>
          <dgm:chPref val="1"/>
          <dgm:bulletEnabled val="1"/>
        </dgm:presLayoutVars>
      </dgm:prSet>
      <dgm:spPr/>
    </dgm:pt>
    <dgm:pt modelId="{B71159A1-A175-42FA-B4DC-C1BA438483EB}" type="pres">
      <dgm:prSet presAssocID="{DD048FBD-77A8-4430-B3F8-233A4C6B59CD}" presName="Accent2" presStyleCnt="0"/>
      <dgm:spPr/>
    </dgm:pt>
    <dgm:pt modelId="{8CCF0557-F848-4EF4-B6B6-A4B2370A41C3}" type="pres">
      <dgm:prSet presAssocID="{DD048FBD-77A8-4430-B3F8-233A4C6B59CD}" presName="Accent" presStyleLbl="node1" presStyleIdx="2" presStyleCnt="4"/>
      <dgm:spPr/>
    </dgm:pt>
    <dgm:pt modelId="{06C72DC1-B46B-4369-A2B1-906C043490CF}" type="pres">
      <dgm:prSet presAssocID="{DD048FBD-77A8-4430-B3F8-233A4C6B59CD}" presName="ParentBackground2" presStyleCnt="0"/>
      <dgm:spPr/>
    </dgm:pt>
    <dgm:pt modelId="{B7C40BAC-EEA5-44D7-AA28-6D66738ED274}" type="pres">
      <dgm:prSet presAssocID="{DD048FBD-77A8-4430-B3F8-233A4C6B59CD}" presName="ParentBackground" presStyleLbl="fgAcc1" presStyleIdx="2" presStyleCnt="4" custScaleX="112723"/>
      <dgm:spPr/>
    </dgm:pt>
    <dgm:pt modelId="{0D87294D-B3F1-4409-ABE8-F077A0B17452}" type="pres">
      <dgm:prSet presAssocID="{DD048FBD-77A8-4430-B3F8-233A4C6B59CD}" presName="Parent2" presStyleLbl="revTx" presStyleIdx="0" presStyleCnt="0">
        <dgm:presLayoutVars>
          <dgm:chMax val="1"/>
          <dgm:chPref val="1"/>
          <dgm:bulletEnabled val="1"/>
        </dgm:presLayoutVars>
      </dgm:prSet>
      <dgm:spPr/>
    </dgm:pt>
    <dgm:pt modelId="{E1603533-8336-4468-9DF4-366CF9D7B20F}" type="pres">
      <dgm:prSet presAssocID="{804C5CB8-9D00-409C-9D3C-FAA7022645F8}" presName="Accent1" presStyleCnt="0"/>
      <dgm:spPr/>
    </dgm:pt>
    <dgm:pt modelId="{0046BB12-B63B-41A6-B580-C2AEF19D5FFD}" type="pres">
      <dgm:prSet presAssocID="{804C5CB8-9D00-409C-9D3C-FAA7022645F8}" presName="Accent" presStyleLbl="node1" presStyleIdx="3" presStyleCnt="4"/>
      <dgm:spPr/>
    </dgm:pt>
    <dgm:pt modelId="{09C09F4B-0550-4434-9DFF-27B310538C0B}" type="pres">
      <dgm:prSet presAssocID="{804C5CB8-9D00-409C-9D3C-FAA7022645F8}" presName="ParentBackground1" presStyleCnt="0"/>
      <dgm:spPr/>
    </dgm:pt>
    <dgm:pt modelId="{577D11F9-CE51-4560-98C5-ACA67B693F7B}" type="pres">
      <dgm:prSet presAssocID="{804C5CB8-9D00-409C-9D3C-FAA7022645F8}" presName="ParentBackground" presStyleLbl="fgAcc1" presStyleIdx="3" presStyleCnt="4" custScaleX="112723"/>
      <dgm:spPr/>
    </dgm:pt>
    <dgm:pt modelId="{4F472DEE-4D7F-4F68-9864-99C6AE01ABBD}" type="pres">
      <dgm:prSet presAssocID="{804C5CB8-9D00-409C-9D3C-FAA7022645F8}" presName="Parent1" presStyleLbl="revTx" presStyleIdx="0" presStyleCnt="0">
        <dgm:presLayoutVars>
          <dgm:chMax val="1"/>
          <dgm:chPref val="1"/>
          <dgm:bulletEnabled val="1"/>
        </dgm:presLayoutVars>
      </dgm:prSet>
      <dgm:spPr/>
    </dgm:pt>
  </dgm:ptLst>
  <dgm:cxnLst>
    <dgm:cxn modelId="{C6E71D18-8F15-417D-9BAC-F1F8637A3688}" srcId="{D45D8E0D-79B5-49BB-857F-973988CD2EDF}" destId="{95DE4B86-B51C-4BB4-8758-508F2D6B1DDD}" srcOrd="3" destOrd="0" parTransId="{8BEA7DDC-BFB3-493C-9309-53AAF65DEAB6}" sibTransId="{9C8AEC5D-C54E-4959-9821-EFCC674F4723}"/>
    <dgm:cxn modelId="{1114C030-D34D-4876-8653-A22FBF95C505}" type="presOf" srcId="{95DE4B86-B51C-4BB4-8758-508F2D6B1DDD}" destId="{B0A36067-D176-49EA-A4F1-A5A5FA5E3E03}" srcOrd="1" destOrd="0" presId="urn:microsoft.com/office/officeart/2011/layout/CircleProcess"/>
    <dgm:cxn modelId="{3B4E1A41-3948-4527-91D3-96909CA15976}" type="presOf" srcId="{E4833BB6-112A-4DE2-8C96-7C16FE8BD316}" destId="{FC7CC80C-74F3-4F24-AFCD-05F92F554877}" srcOrd="0" destOrd="0" presId="urn:microsoft.com/office/officeart/2011/layout/CircleProcess"/>
    <dgm:cxn modelId="{D1AD6A78-87F7-4E8B-BA91-7C134B01ABF3}" type="presOf" srcId="{95DE4B86-B51C-4BB4-8758-508F2D6B1DDD}" destId="{8DAA549B-259B-414C-8847-D864C880B7CB}" srcOrd="0" destOrd="0" presId="urn:microsoft.com/office/officeart/2011/layout/CircleProcess"/>
    <dgm:cxn modelId="{A7A37486-87F4-4C54-ACF8-B4090C56D7A9}" type="presOf" srcId="{DD048FBD-77A8-4430-B3F8-233A4C6B59CD}" destId="{B7C40BAC-EEA5-44D7-AA28-6D66738ED274}" srcOrd="0" destOrd="0" presId="urn:microsoft.com/office/officeart/2011/layout/CircleProcess"/>
    <dgm:cxn modelId="{5C6F9989-2D96-4A82-8298-47AD875B1D34}" type="presOf" srcId="{804C5CB8-9D00-409C-9D3C-FAA7022645F8}" destId="{577D11F9-CE51-4560-98C5-ACA67B693F7B}" srcOrd="0" destOrd="0" presId="urn:microsoft.com/office/officeart/2011/layout/CircleProcess"/>
    <dgm:cxn modelId="{8307088C-D1F1-42F9-83CC-FC376F78FEDB}" srcId="{D45D8E0D-79B5-49BB-857F-973988CD2EDF}" destId="{E4833BB6-112A-4DE2-8C96-7C16FE8BD316}" srcOrd="2" destOrd="0" parTransId="{4ECB7FAE-0B96-4013-BD04-756BDD5BA213}" sibTransId="{CC3EE285-3E5C-44C1-95C1-80454911CE77}"/>
    <dgm:cxn modelId="{9CADC4BA-0044-4DCA-92DC-AA500BFF2FDE}" srcId="{D45D8E0D-79B5-49BB-857F-973988CD2EDF}" destId="{DD048FBD-77A8-4430-B3F8-233A4C6B59CD}" srcOrd="1" destOrd="0" parTransId="{2728EE7B-3346-4A90-9F58-3E41962510C5}" sibTransId="{221E965C-5B27-482A-8812-002B044C04CE}"/>
    <dgm:cxn modelId="{3B8321C2-9864-49AF-8CA8-D39288F62C26}" srcId="{D45D8E0D-79B5-49BB-857F-973988CD2EDF}" destId="{804C5CB8-9D00-409C-9D3C-FAA7022645F8}" srcOrd="0" destOrd="0" parTransId="{E2C06F32-B4D6-446D-9ABB-73DE3996B8E9}" sibTransId="{A2D2F390-67C7-4640-A07B-C91B3F22F0DA}"/>
    <dgm:cxn modelId="{680FDDD2-A32D-4D35-A118-1F7ADD4299C9}" type="presOf" srcId="{E4833BB6-112A-4DE2-8C96-7C16FE8BD316}" destId="{8B734413-95E0-4D67-AB37-24DA7E796806}" srcOrd="1" destOrd="0" presId="urn:microsoft.com/office/officeart/2011/layout/CircleProcess"/>
    <dgm:cxn modelId="{B9833EDD-B4B9-4858-9DB3-B57CA6611162}" type="presOf" srcId="{D45D8E0D-79B5-49BB-857F-973988CD2EDF}" destId="{21C43B00-FB03-42F4-BD95-87CDE7AF36C1}" srcOrd="0" destOrd="0" presId="urn:microsoft.com/office/officeart/2011/layout/CircleProcess"/>
    <dgm:cxn modelId="{93BFD4DD-0D51-4CBC-BDB2-3B78E17E63EB}" type="presOf" srcId="{DD048FBD-77A8-4430-B3F8-233A4C6B59CD}" destId="{0D87294D-B3F1-4409-ABE8-F077A0B17452}" srcOrd="1" destOrd="0" presId="urn:microsoft.com/office/officeart/2011/layout/CircleProcess"/>
    <dgm:cxn modelId="{276603F8-9D66-4C39-888F-0AFF5ACDBA86}" type="presOf" srcId="{804C5CB8-9D00-409C-9D3C-FAA7022645F8}" destId="{4F472DEE-4D7F-4F68-9864-99C6AE01ABBD}" srcOrd="1" destOrd="0" presId="urn:microsoft.com/office/officeart/2011/layout/CircleProcess"/>
    <dgm:cxn modelId="{7A91FD5E-E600-4A2D-9A02-E3B38040F238}" type="presParOf" srcId="{21C43B00-FB03-42F4-BD95-87CDE7AF36C1}" destId="{FC2E270A-65A8-4F8F-B19A-155CC45EB5DE}" srcOrd="0" destOrd="0" presId="urn:microsoft.com/office/officeart/2011/layout/CircleProcess"/>
    <dgm:cxn modelId="{4C22E348-303C-4748-BB60-7A5D6792A8D3}" type="presParOf" srcId="{FC2E270A-65A8-4F8F-B19A-155CC45EB5DE}" destId="{8C0C629F-BFD2-4442-8DFE-A9E28B2AC92A}" srcOrd="0" destOrd="0" presId="urn:microsoft.com/office/officeart/2011/layout/CircleProcess"/>
    <dgm:cxn modelId="{9A159DCC-B15D-4BC6-814B-E657023770B7}" type="presParOf" srcId="{21C43B00-FB03-42F4-BD95-87CDE7AF36C1}" destId="{F50AAEF2-A1AB-4E4E-988E-1CD0AF0EC485}" srcOrd="1" destOrd="0" presId="urn:microsoft.com/office/officeart/2011/layout/CircleProcess"/>
    <dgm:cxn modelId="{15C5B2C3-DD19-4135-BDC1-5499A0F69984}" type="presParOf" srcId="{F50AAEF2-A1AB-4E4E-988E-1CD0AF0EC485}" destId="{8DAA549B-259B-414C-8847-D864C880B7CB}" srcOrd="0" destOrd="0" presId="urn:microsoft.com/office/officeart/2011/layout/CircleProcess"/>
    <dgm:cxn modelId="{3AC993EB-76C1-423B-8A9B-B5BEABB044B1}" type="presParOf" srcId="{21C43B00-FB03-42F4-BD95-87CDE7AF36C1}" destId="{B0A36067-D176-49EA-A4F1-A5A5FA5E3E03}" srcOrd="2" destOrd="0" presId="urn:microsoft.com/office/officeart/2011/layout/CircleProcess"/>
    <dgm:cxn modelId="{DAB0A54E-B674-4530-8BA7-06F047E3E32C}" type="presParOf" srcId="{21C43B00-FB03-42F4-BD95-87CDE7AF36C1}" destId="{BBFF3D7C-418C-4E64-8E25-8C18CFAADA16}" srcOrd="3" destOrd="0" presId="urn:microsoft.com/office/officeart/2011/layout/CircleProcess"/>
    <dgm:cxn modelId="{6A7B5B98-DCA5-4F18-93A0-892C408D7111}" type="presParOf" srcId="{BBFF3D7C-418C-4E64-8E25-8C18CFAADA16}" destId="{4BDE8894-DBC6-405C-9029-764D21F26972}" srcOrd="0" destOrd="0" presId="urn:microsoft.com/office/officeart/2011/layout/CircleProcess"/>
    <dgm:cxn modelId="{B5A38879-B7F9-4CD8-8878-B53403186CFB}" type="presParOf" srcId="{21C43B00-FB03-42F4-BD95-87CDE7AF36C1}" destId="{4F1D770C-1EA4-4F8F-9817-C12B203C8EF7}" srcOrd="4" destOrd="0" presId="urn:microsoft.com/office/officeart/2011/layout/CircleProcess"/>
    <dgm:cxn modelId="{1FC3DB0D-D6C8-4C59-A546-9E88EBDA065C}" type="presParOf" srcId="{4F1D770C-1EA4-4F8F-9817-C12B203C8EF7}" destId="{FC7CC80C-74F3-4F24-AFCD-05F92F554877}" srcOrd="0" destOrd="0" presId="urn:microsoft.com/office/officeart/2011/layout/CircleProcess"/>
    <dgm:cxn modelId="{2D5BAC36-E537-4FE2-9AE6-7CEDED2E4F13}" type="presParOf" srcId="{21C43B00-FB03-42F4-BD95-87CDE7AF36C1}" destId="{8B734413-95E0-4D67-AB37-24DA7E796806}" srcOrd="5" destOrd="0" presId="urn:microsoft.com/office/officeart/2011/layout/CircleProcess"/>
    <dgm:cxn modelId="{8E02662E-D9BB-42BE-A6E4-88A05CB84D42}" type="presParOf" srcId="{21C43B00-FB03-42F4-BD95-87CDE7AF36C1}" destId="{B71159A1-A175-42FA-B4DC-C1BA438483EB}" srcOrd="6" destOrd="0" presId="urn:microsoft.com/office/officeart/2011/layout/CircleProcess"/>
    <dgm:cxn modelId="{366C186C-1804-4756-A82F-4CBBCD2DF86E}" type="presParOf" srcId="{B71159A1-A175-42FA-B4DC-C1BA438483EB}" destId="{8CCF0557-F848-4EF4-B6B6-A4B2370A41C3}" srcOrd="0" destOrd="0" presId="urn:microsoft.com/office/officeart/2011/layout/CircleProcess"/>
    <dgm:cxn modelId="{186F74AC-F7DE-40E5-8AD1-F59EBA43BDD8}" type="presParOf" srcId="{21C43B00-FB03-42F4-BD95-87CDE7AF36C1}" destId="{06C72DC1-B46B-4369-A2B1-906C043490CF}" srcOrd="7" destOrd="0" presId="urn:microsoft.com/office/officeart/2011/layout/CircleProcess"/>
    <dgm:cxn modelId="{08600E68-D7CD-4A23-8A40-770DC3F98928}" type="presParOf" srcId="{06C72DC1-B46B-4369-A2B1-906C043490CF}" destId="{B7C40BAC-EEA5-44D7-AA28-6D66738ED274}" srcOrd="0" destOrd="0" presId="urn:microsoft.com/office/officeart/2011/layout/CircleProcess"/>
    <dgm:cxn modelId="{63A9E6C9-2249-4A6F-8B76-876331E1E50A}" type="presParOf" srcId="{21C43B00-FB03-42F4-BD95-87CDE7AF36C1}" destId="{0D87294D-B3F1-4409-ABE8-F077A0B17452}" srcOrd="8" destOrd="0" presId="urn:microsoft.com/office/officeart/2011/layout/CircleProcess"/>
    <dgm:cxn modelId="{D7D75F0D-59D2-4724-BE75-621FCE8D2914}" type="presParOf" srcId="{21C43B00-FB03-42F4-BD95-87CDE7AF36C1}" destId="{E1603533-8336-4468-9DF4-366CF9D7B20F}" srcOrd="9" destOrd="0" presId="urn:microsoft.com/office/officeart/2011/layout/CircleProcess"/>
    <dgm:cxn modelId="{29870AB0-7E7C-4DFC-B0DB-51A93A71DC4B}" type="presParOf" srcId="{E1603533-8336-4468-9DF4-366CF9D7B20F}" destId="{0046BB12-B63B-41A6-B580-C2AEF19D5FFD}" srcOrd="0" destOrd="0" presId="urn:microsoft.com/office/officeart/2011/layout/CircleProcess"/>
    <dgm:cxn modelId="{31ED13DC-B12E-446F-A677-52B7D5313D41}" type="presParOf" srcId="{21C43B00-FB03-42F4-BD95-87CDE7AF36C1}" destId="{09C09F4B-0550-4434-9DFF-27B310538C0B}" srcOrd="10" destOrd="0" presId="urn:microsoft.com/office/officeart/2011/layout/CircleProcess"/>
    <dgm:cxn modelId="{3417D983-BD2D-4313-9D70-68EF7AD72A0D}" type="presParOf" srcId="{09C09F4B-0550-4434-9DFF-27B310538C0B}" destId="{577D11F9-CE51-4560-98C5-ACA67B693F7B}" srcOrd="0" destOrd="0" presId="urn:microsoft.com/office/officeart/2011/layout/CircleProcess"/>
    <dgm:cxn modelId="{0239130E-19D7-4722-A24C-9CF6CAD64D10}" type="presParOf" srcId="{21C43B00-FB03-42F4-BD95-87CDE7AF36C1}" destId="{4F472DEE-4D7F-4F68-9864-99C6AE01ABBD}"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B0B0C4-723C-4DE5-BE1A-2ADC8B251CBF}">
      <dsp:nvSpPr>
        <dsp:cNvPr id="0" name=""/>
        <dsp:cNvSpPr/>
      </dsp:nvSpPr>
      <dsp:spPr>
        <a:xfrm>
          <a:off x="5062" y="556123"/>
          <a:ext cx="2213545" cy="1328127"/>
        </a:xfrm>
        <a:prstGeom prst="roundRect">
          <a:avLst>
            <a:gd name="adj" fmla="val 10000"/>
          </a:avLst>
        </a:prstGeom>
        <a:solidFill>
          <a:schemeClr val="bg1">
            <a:lumMod val="6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Understand current process</a:t>
          </a:r>
        </a:p>
      </dsp:txBody>
      <dsp:txXfrm>
        <a:off x="43962" y="595023"/>
        <a:ext cx="2135745" cy="1250327"/>
      </dsp:txXfrm>
    </dsp:sp>
    <dsp:sp modelId="{E7762D72-A347-48FE-B6AB-72E1F7D1B7AB}">
      <dsp:nvSpPr>
        <dsp:cNvPr id="0" name=""/>
        <dsp:cNvSpPr/>
      </dsp:nvSpPr>
      <dsp:spPr>
        <a:xfrm>
          <a:off x="2439963"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439963" y="1055499"/>
        <a:ext cx="328490" cy="329375"/>
      </dsp:txXfrm>
    </dsp:sp>
    <dsp:sp modelId="{0384B6B7-2599-4C3E-8257-FDB1935B8021}">
      <dsp:nvSpPr>
        <dsp:cNvPr id="0" name=""/>
        <dsp:cNvSpPr/>
      </dsp:nvSpPr>
      <dsp:spPr>
        <a:xfrm>
          <a:off x="3104026" y="556123"/>
          <a:ext cx="2213545" cy="132812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Develop a Digital Twin</a:t>
          </a:r>
        </a:p>
      </dsp:txBody>
      <dsp:txXfrm>
        <a:off x="3142926" y="595023"/>
        <a:ext cx="2135745" cy="1250327"/>
      </dsp:txXfrm>
    </dsp:sp>
    <dsp:sp modelId="{B51EC7E7-8359-47B2-93F9-33D3A85183B6}">
      <dsp:nvSpPr>
        <dsp:cNvPr id="0" name=""/>
        <dsp:cNvSpPr/>
      </dsp:nvSpPr>
      <dsp:spPr>
        <a:xfrm>
          <a:off x="5538927"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538927" y="1055499"/>
        <a:ext cx="328490" cy="329375"/>
      </dsp:txXfrm>
    </dsp:sp>
    <dsp:sp modelId="{91C81891-6761-4910-9D18-8A65F2D09B6F}">
      <dsp:nvSpPr>
        <dsp:cNvPr id="0" name=""/>
        <dsp:cNvSpPr/>
      </dsp:nvSpPr>
      <dsp:spPr>
        <a:xfrm>
          <a:off x="6202991" y="556123"/>
          <a:ext cx="2213545" cy="1328127"/>
        </a:xfrm>
        <a:prstGeom prst="roundRect">
          <a:avLst>
            <a:gd name="adj" fmla="val 10000"/>
          </a:avLst>
        </a:prstGeom>
        <a:solidFill>
          <a:schemeClr val="tx1">
            <a:lumMod val="65000"/>
            <a:lumOff val="3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Validate and confirm the twin</a:t>
          </a:r>
        </a:p>
      </dsp:txBody>
      <dsp:txXfrm>
        <a:off x="6241891" y="595023"/>
        <a:ext cx="2135745" cy="1250327"/>
      </dsp:txXfrm>
    </dsp:sp>
    <dsp:sp modelId="{461A5BF1-48F6-4F9B-B565-CA9D348BB217}">
      <dsp:nvSpPr>
        <dsp:cNvPr id="0" name=""/>
        <dsp:cNvSpPr/>
      </dsp:nvSpPr>
      <dsp:spPr>
        <a:xfrm>
          <a:off x="8637891"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637891" y="1055499"/>
        <a:ext cx="328490" cy="329375"/>
      </dsp:txXfrm>
    </dsp:sp>
    <dsp:sp modelId="{11330062-9CEC-41AF-9B99-3BFECF754E1C}">
      <dsp:nvSpPr>
        <dsp:cNvPr id="0" name=""/>
        <dsp:cNvSpPr/>
      </dsp:nvSpPr>
      <dsp:spPr>
        <a:xfrm>
          <a:off x="9301955" y="556123"/>
          <a:ext cx="2213545" cy="1328127"/>
        </a:xfrm>
        <a:prstGeom prst="roundRect">
          <a:avLst>
            <a:gd name="adj" fmla="val 10000"/>
          </a:avLst>
        </a:prstGeom>
        <a:solidFill>
          <a:schemeClr val="tx1">
            <a:lumMod val="65000"/>
            <a:lumOff val="3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Actual Optimization improvement</a:t>
          </a:r>
        </a:p>
      </dsp:txBody>
      <dsp:txXfrm>
        <a:off x="9340855" y="595023"/>
        <a:ext cx="2135745" cy="12503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B2BF9-D9C5-4292-9934-5093B2E7AB85}">
      <dsp:nvSpPr>
        <dsp:cNvPr id="0" name=""/>
        <dsp:cNvSpPr/>
      </dsp:nvSpPr>
      <dsp:spPr>
        <a:xfrm>
          <a:off x="989098" y="912279"/>
          <a:ext cx="1806250" cy="1419261"/>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000000"/>
              </a:solidFill>
              <a:latin typeface="Calibri" panose="020F0502020204030204" pitchFamily="34" charset="0"/>
              <a:cs typeface="Calibri" panose="020F0502020204030204" pitchFamily="34" charset="0"/>
            </a:rPr>
            <a:t>Global </a:t>
          </a:r>
          <a:r>
            <a:rPr lang="en-US" sz="2100" b="1" kern="1200" dirty="0">
              <a:solidFill>
                <a:srgbClr val="000000"/>
              </a:solidFill>
              <a:latin typeface="Calibri" panose="020F0502020204030204" pitchFamily="34" charset="0"/>
              <a:cs typeface="Calibri" panose="020F0502020204030204" pitchFamily="34" charset="0"/>
            </a:rPr>
            <a:t>Simulation</a:t>
          </a:r>
          <a:r>
            <a:rPr lang="en-US" sz="2100" kern="1200" dirty="0">
              <a:solidFill>
                <a:srgbClr val="000000"/>
              </a:solidFill>
              <a:latin typeface="Calibri" panose="020F0502020204030204" pitchFamily="34" charset="0"/>
              <a:cs typeface="Calibri" panose="020F0502020204030204" pitchFamily="34" charset="0"/>
            </a:rPr>
            <a:t> Market</a:t>
          </a:r>
          <a:endParaRPr lang="en-US" sz="2100" kern="1200" dirty="0">
            <a:latin typeface="Calibri" panose="020F0502020204030204" pitchFamily="34" charset="0"/>
            <a:cs typeface="Calibri" panose="020F0502020204030204" pitchFamily="34" charset="0"/>
          </a:endParaRPr>
        </a:p>
      </dsp:txBody>
      <dsp:txXfrm>
        <a:off x="1253617" y="1120125"/>
        <a:ext cx="1277212" cy="1003569"/>
      </dsp:txXfrm>
    </dsp:sp>
    <dsp:sp modelId="{AA13B0EE-DBB4-42E7-82B0-646E4EE19A8B}">
      <dsp:nvSpPr>
        <dsp:cNvPr id="0" name=""/>
        <dsp:cNvSpPr/>
      </dsp:nvSpPr>
      <dsp:spPr>
        <a:xfrm>
          <a:off x="1260889" y="137356"/>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Valued at $13.25 billion in 2022 (Source: Grandview Research)</a:t>
          </a:r>
          <a:endParaRPr lang="en-US" sz="1000" kern="1200" dirty="0">
            <a:latin typeface="Calibri" panose="020F0502020204030204" pitchFamily="34" charset="0"/>
            <a:cs typeface="Calibri" panose="020F0502020204030204" pitchFamily="34" charset="0"/>
          </a:endParaRPr>
        </a:p>
      </dsp:txBody>
      <dsp:txXfrm>
        <a:off x="1445802" y="269616"/>
        <a:ext cx="892842" cy="638605"/>
      </dsp:txXfrm>
    </dsp:sp>
    <dsp:sp modelId="{1330BFC5-B27C-491F-87D4-28EACCFAE3D5}">
      <dsp:nvSpPr>
        <dsp:cNvPr id="0" name=""/>
        <dsp:cNvSpPr/>
      </dsp:nvSpPr>
      <dsp:spPr>
        <a:xfrm>
          <a:off x="2278586" y="1900058"/>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CAGR 13% from 2024 to 2030 (Source: Markets and Markets)</a:t>
          </a:r>
          <a:endParaRPr lang="en-US" sz="1000" kern="1200" dirty="0">
            <a:latin typeface="Calibri" panose="020F0502020204030204" pitchFamily="34" charset="0"/>
            <a:cs typeface="Calibri" panose="020F0502020204030204" pitchFamily="34" charset="0"/>
          </a:endParaRPr>
        </a:p>
      </dsp:txBody>
      <dsp:txXfrm>
        <a:off x="2463499" y="2032318"/>
        <a:ext cx="892842" cy="638605"/>
      </dsp:txXfrm>
    </dsp:sp>
    <dsp:sp modelId="{7B00C448-B8C1-4EFF-B958-6B11A75FD401}">
      <dsp:nvSpPr>
        <dsp:cNvPr id="0" name=""/>
        <dsp:cNvSpPr/>
      </dsp:nvSpPr>
      <dsp:spPr>
        <a:xfrm>
          <a:off x="243193" y="1900058"/>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Forecasted Market Size $31.6 billion by 2030 (Source: Statista)</a:t>
          </a:r>
          <a:endParaRPr lang="en-US" sz="1000" kern="1200" dirty="0">
            <a:latin typeface="Calibri" panose="020F0502020204030204" pitchFamily="34" charset="0"/>
            <a:cs typeface="Calibri" panose="020F0502020204030204" pitchFamily="34" charset="0"/>
          </a:endParaRPr>
        </a:p>
      </dsp:txBody>
      <dsp:txXfrm>
        <a:off x="428106" y="2032318"/>
        <a:ext cx="892842" cy="6386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B2BF9-D9C5-4292-9934-5093B2E7AB85}">
      <dsp:nvSpPr>
        <dsp:cNvPr id="0" name=""/>
        <dsp:cNvSpPr/>
      </dsp:nvSpPr>
      <dsp:spPr>
        <a:xfrm>
          <a:off x="989098" y="935506"/>
          <a:ext cx="1806250" cy="1454031"/>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rgbClr val="FFFF00"/>
              </a:solidFill>
              <a:latin typeface="Calibri" panose="020F0502020204030204" pitchFamily="34" charset="0"/>
              <a:cs typeface="Calibri" panose="020F0502020204030204" pitchFamily="34" charset="0"/>
            </a:rPr>
            <a:t>AI in simulation</a:t>
          </a:r>
          <a:r>
            <a:rPr lang="en-US" sz="2100" kern="1200" dirty="0">
              <a:solidFill>
                <a:srgbClr val="FFFF00"/>
              </a:solidFill>
              <a:latin typeface="Calibri" panose="020F0502020204030204" pitchFamily="34" charset="0"/>
              <a:cs typeface="Calibri" panose="020F0502020204030204" pitchFamily="34" charset="0"/>
            </a:rPr>
            <a:t> market</a:t>
          </a:r>
        </a:p>
      </dsp:txBody>
      <dsp:txXfrm>
        <a:off x="1253617" y="1148444"/>
        <a:ext cx="1277212" cy="1028155"/>
      </dsp:txXfrm>
    </dsp:sp>
    <dsp:sp modelId="{D0A3F941-A92B-4C76-B4E4-D71261B9478A}">
      <dsp:nvSpPr>
        <dsp:cNvPr id="0" name=""/>
        <dsp:cNvSpPr/>
      </dsp:nvSpPr>
      <dsp:spPr>
        <a:xfrm>
          <a:off x="1275692" y="137356"/>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solidFill>
                <a:srgbClr val="FFFF00"/>
              </a:solidFill>
              <a:latin typeface="Calibri" panose="020F0502020204030204" pitchFamily="34" charset="0"/>
              <a:cs typeface="Calibri" panose="020F0502020204030204" pitchFamily="34" charset="0"/>
            </a:rPr>
            <a:t>Valued at $2 billion in 2022 (Source: Deloitte Insights)</a:t>
          </a:r>
          <a:endParaRPr lang="en-US" sz="1000" kern="1200" dirty="0">
            <a:solidFill>
              <a:srgbClr val="FFFF00"/>
            </a:solidFill>
            <a:latin typeface="Calibri" panose="020F0502020204030204" pitchFamily="34" charset="0"/>
            <a:cs typeface="Calibri" panose="020F0502020204030204" pitchFamily="34" charset="0"/>
          </a:endParaRPr>
        </a:p>
      </dsp:txBody>
      <dsp:txXfrm>
        <a:off x="1456270" y="269616"/>
        <a:ext cx="871907" cy="638605"/>
      </dsp:txXfrm>
    </dsp:sp>
    <dsp:sp modelId="{62D17C2A-45AD-4A04-BAC1-641FCA9E2E16}">
      <dsp:nvSpPr>
        <dsp:cNvPr id="0" name=""/>
        <dsp:cNvSpPr/>
      </dsp:nvSpPr>
      <dsp:spPr>
        <a:xfrm>
          <a:off x="2293388" y="1900058"/>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FFFF00"/>
              </a:solidFill>
              <a:latin typeface="Calibri" panose="020F0502020204030204" pitchFamily="34" charset="0"/>
              <a:cs typeface="Calibri" panose="020F0502020204030204" pitchFamily="34" charset="0"/>
            </a:rPr>
            <a:t>CAGR over 20% (Source: McKinsey &amp; Co.)</a:t>
          </a:r>
        </a:p>
      </dsp:txBody>
      <dsp:txXfrm>
        <a:off x="2473966" y="2032318"/>
        <a:ext cx="871907" cy="638605"/>
      </dsp:txXfrm>
    </dsp:sp>
    <dsp:sp modelId="{C7DC0C6D-BE0F-40EC-B274-A4B4DF2B63C8}">
      <dsp:nvSpPr>
        <dsp:cNvPr id="0" name=""/>
        <dsp:cNvSpPr/>
      </dsp:nvSpPr>
      <dsp:spPr>
        <a:xfrm>
          <a:off x="257995" y="1900058"/>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FFFF00"/>
              </a:solidFill>
              <a:latin typeface="Calibri" panose="020F0502020204030204" pitchFamily="34" charset="0"/>
              <a:cs typeface="Calibri" panose="020F0502020204030204" pitchFamily="34" charset="0"/>
            </a:rPr>
            <a:t>Forecasted Market Size $8.6 billion by 2030</a:t>
          </a:r>
        </a:p>
      </dsp:txBody>
      <dsp:txXfrm>
        <a:off x="438573" y="2032318"/>
        <a:ext cx="871907" cy="6386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D0934-F567-43B8-975D-9468BCCE3936}">
      <dsp:nvSpPr>
        <dsp:cNvPr id="0" name=""/>
        <dsp:cNvSpPr/>
      </dsp:nvSpPr>
      <dsp:spPr>
        <a:xfrm>
          <a:off x="2934775" y="1620458"/>
          <a:ext cx="1651009" cy="1651009"/>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Our Competitors</a:t>
          </a:r>
        </a:p>
      </dsp:txBody>
      <dsp:txXfrm>
        <a:off x="3176560" y="1862243"/>
        <a:ext cx="1167439" cy="1167439"/>
      </dsp:txXfrm>
    </dsp:sp>
    <dsp:sp modelId="{C25358A4-781B-43EC-AC37-74688A224F68}">
      <dsp:nvSpPr>
        <dsp:cNvPr id="0" name=""/>
        <dsp:cNvSpPr/>
      </dsp:nvSpPr>
      <dsp:spPr>
        <a:xfrm rot="16200000">
          <a:off x="3652814" y="1205283"/>
          <a:ext cx="214931"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3685054" y="1324920"/>
        <a:ext cx="150452" cy="262191"/>
      </dsp:txXfrm>
    </dsp:sp>
    <dsp:sp modelId="{5F46D186-A18C-4D19-B6FC-700E9BA6823E}">
      <dsp:nvSpPr>
        <dsp:cNvPr id="0" name=""/>
        <dsp:cNvSpPr/>
      </dsp:nvSpPr>
      <dsp:spPr>
        <a:xfrm>
          <a:off x="3165407" y="76477"/>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Large IT Platform/ Infra</a:t>
          </a:r>
        </a:p>
      </dsp:txBody>
      <dsp:txXfrm>
        <a:off x="3339641" y="243199"/>
        <a:ext cx="841277" cy="805006"/>
      </dsp:txXfrm>
    </dsp:sp>
    <dsp:sp modelId="{9100E985-D8B5-4D3C-A17F-6DE7D3B29E15}">
      <dsp:nvSpPr>
        <dsp:cNvPr id="0" name=""/>
        <dsp:cNvSpPr/>
      </dsp:nvSpPr>
      <dsp:spPr>
        <a:xfrm>
          <a:off x="4669359" y="2227470"/>
          <a:ext cx="201338"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4669359" y="2314867"/>
        <a:ext cx="140937" cy="262191"/>
      </dsp:txXfrm>
    </dsp:sp>
    <dsp:sp modelId="{53FDA86B-5AB3-42FE-857D-C3937D543AF7}">
      <dsp:nvSpPr>
        <dsp:cNvPr id="0" name=""/>
        <dsp:cNvSpPr/>
      </dsp:nvSpPr>
      <dsp:spPr>
        <a:xfrm>
          <a:off x="4965668" y="187673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Niche Portfolio-specific </a:t>
          </a:r>
        </a:p>
      </dsp:txBody>
      <dsp:txXfrm>
        <a:off x="5139902" y="2043460"/>
        <a:ext cx="841277" cy="805006"/>
      </dsp:txXfrm>
    </dsp:sp>
    <dsp:sp modelId="{BD854DCD-B6DA-421A-8C7E-DD643B728DDE}">
      <dsp:nvSpPr>
        <dsp:cNvPr id="0" name=""/>
        <dsp:cNvSpPr/>
      </dsp:nvSpPr>
      <dsp:spPr>
        <a:xfrm rot="5400000">
          <a:off x="3652814" y="3249657"/>
          <a:ext cx="214931"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3685054" y="3304815"/>
        <a:ext cx="150452" cy="262191"/>
      </dsp:txXfrm>
    </dsp:sp>
    <dsp:sp modelId="{F5EE47A5-B2C9-4F7D-BCCF-F3A60DEA0921}">
      <dsp:nvSpPr>
        <dsp:cNvPr id="0" name=""/>
        <dsp:cNvSpPr/>
      </dsp:nvSpPr>
      <dsp:spPr>
        <a:xfrm>
          <a:off x="3165407" y="367699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Experts: Custom digital twins</a:t>
          </a:r>
        </a:p>
      </dsp:txBody>
      <dsp:txXfrm>
        <a:off x="3339641" y="3843720"/>
        <a:ext cx="841277" cy="805006"/>
      </dsp:txXfrm>
    </dsp:sp>
    <dsp:sp modelId="{552E9669-430E-4757-BEEA-A296F88F1840}">
      <dsp:nvSpPr>
        <dsp:cNvPr id="0" name=""/>
        <dsp:cNvSpPr/>
      </dsp:nvSpPr>
      <dsp:spPr>
        <a:xfrm rot="10800000">
          <a:off x="2649863" y="2227470"/>
          <a:ext cx="201338"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rot="10800000">
        <a:off x="2710264" y="2314867"/>
        <a:ext cx="140937" cy="262191"/>
      </dsp:txXfrm>
    </dsp:sp>
    <dsp:sp modelId="{A89602F0-F56E-4919-801E-B22FE4EE657F}">
      <dsp:nvSpPr>
        <dsp:cNvPr id="0" name=""/>
        <dsp:cNvSpPr/>
      </dsp:nvSpPr>
      <dsp:spPr>
        <a:xfrm>
          <a:off x="1365147" y="187673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Other/ Assorted</a:t>
          </a:r>
        </a:p>
      </dsp:txBody>
      <dsp:txXfrm>
        <a:off x="1539381" y="2043460"/>
        <a:ext cx="841277" cy="8050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20782-2DBA-4390-92E1-1E7EDA424DAE}">
      <dsp:nvSpPr>
        <dsp:cNvPr id="0" name=""/>
        <dsp:cNvSpPr/>
      </dsp:nvSpPr>
      <dsp:spPr>
        <a:xfrm>
          <a:off x="0" y="2582"/>
          <a:ext cx="5907979" cy="1080000"/>
        </a:xfrm>
        <a:prstGeom prst="rightArrow">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C8AB18-51AF-43E6-827C-7A81866562AD}">
      <dsp:nvSpPr>
        <dsp:cNvPr id="0" name=""/>
        <dsp:cNvSpPr/>
      </dsp:nvSpPr>
      <dsp:spPr>
        <a:xfrm>
          <a:off x="5007089"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Start-up</a:t>
          </a:r>
        </a:p>
      </dsp:txBody>
      <dsp:txXfrm>
        <a:off x="5007089" y="272583"/>
        <a:ext cx="629597" cy="540000"/>
      </dsp:txXfrm>
    </dsp:sp>
    <dsp:sp modelId="{F0612A7A-50E2-408C-B1D0-6E8D78FC3BE1}">
      <dsp:nvSpPr>
        <dsp:cNvPr id="0" name=""/>
        <dsp:cNvSpPr/>
      </dsp:nvSpPr>
      <dsp:spPr>
        <a:xfrm>
          <a:off x="4251572"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Oct – Dec 2026</a:t>
          </a:r>
        </a:p>
      </dsp:txBody>
      <dsp:txXfrm>
        <a:off x="4251572" y="272583"/>
        <a:ext cx="629597" cy="540000"/>
      </dsp:txXfrm>
    </dsp:sp>
    <dsp:sp modelId="{9D5250FA-FE7F-4A62-B344-8F841E3533E6}">
      <dsp:nvSpPr>
        <dsp:cNvPr id="0" name=""/>
        <dsp:cNvSpPr/>
      </dsp:nvSpPr>
      <dsp:spPr>
        <a:xfrm>
          <a:off x="3496054"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Jul – Sep 2026</a:t>
          </a:r>
        </a:p>
      </dsp:txBody>
      <dsp:txXfrm>
        <a:off x="3496054" y="272583"/>
        <a:ext cx="629597" cy="540000"/>
      </dsp:txXfrm>
    </dsp:sp>
    <dsp:sp modelId="{C9DD8342-5CA7-4065-932F-6976A146E1A8}">
      <dsp:nvSpPr>
        <dsp:cNvPr id="0" name=""/>
        <dsp:cNvSpPr/>
      </dsp:nvSpPr>
      <dsp:spPr>
        <a:xfrm>
          <a:off x="2740537"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Apr – Jun 2026</a:t>
          </a:r>
        </a:p>
      </dsp:txBody>
      <dsp:txXfrm>
        <a:off x="2740537" y="272583"/>
        <a:ext cx="629597" cy="540000"/>
      </dsp:txXfrm>
    </dsp:sp>
    <dsp:sp modelId="{0DCA8F88-5608-411E-8EC6-7855FF3A8B32}">
      <dsp:nvSpPr>
        <dsp:cNvPr id="0" name=""/>
        <dsp:cNvSpPr/>
      </dsp:nvSpPr>
      <dsp:spPr>
        <a:xfrm>
          <a:off x="1985019"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Jan – Mar 2026</a:t>
          </a:r>
        </a:p>
      </dsp:txBody>
      <dsp:txXfrm>
        <a:off x="1985019" y="272583"/>
        <a:ext cx="629597" cy="540000"/>
      </dsp:txXfrm>
    </dsp:sp>
    <dsp:sp modelId="{5875BAC3-9C4F-42E7-8BB1-DC0EE42CF7ED}">
      <dsp:nvSpPr>
        <dsp:cNvPr id="0" name=""/>
        <dsp:cNvSpPr/>
      </dsp:nvSpPr>
      <dsp:spPr>
        <a:xfrm>
          <a:off x="1229502"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Nov – Dec 2025</a:t>
          </a:r>
        </a:p>
      </dsp:txBody>
      <dsp:txXfrm>
        <a:off x="1229502" y="272583"/>
        <a:ext cx="629597" cy="540000"/>
      </dsp:txXfrm>
    </dsp:sp>
    <dsp:sp modelId="{383184D4-F1B7-4B9B-9558-4AC1EF6A622D}">
      <dsp:nvSpPr>
        <dsp:cNvPr id="0" name=""/>
        <dsp:cNvSpPr/>
      </dsp:nvSpPr>
      <dsp:spPr>
        <a:xfrm>
          <a:off x="473985"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Aug – Oct 2025</a:t>
          </a:r>
        </a:p>
      </dsp:txBody>
      <dsp:txXfrm>
        <a:off x="473985" y="272583"/>
        <a:ext cx="629597" cy="54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E11E4-8D21-42A7-9A26-C19EBCC441CE}">
      <dsp:nvSpPr>
        <dsp:cNvPr id="0" name=""/>
        <dsp:cNvSpPr/>
      </dsp:nvSpPr>
      <dsp:spPr>
        <a:xfrm>
          <a:off x="2488489" y="1438086"/>
          <a:ext cx="2314512" cy="1293883"/>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Commercialization Options</a:t>
          </a:r>
        </a:p>
      </dsp:txBody>
      <dsp:txXfrm>
        <a:off x="2827441" y="1627571"/>
        <a:ext cx="1636608" cy="914913"/>
      </dsp:txXfrm>
    </dsp:sp>
    <dsp:sp modelId="{C4712EF8-2E85-446B-8610-94D5EC52851F}">
      <dsp:nvSpPr>
        <dsp:cNvPr id="0" name=""/>
        <dsp:cNvSpPr/>
      </dsp:nvSpPr>
      <dsp:spPr>
        <a:xfrm rot="11920404">
          <a:off x="1086372" y="1293385"/>
          <a:ext cx="1525081"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ACE816-AAC3-41E8-8645-C3BB873E6CDA}">
      <dsp:nvSpPr>
        <dsp:cNvPr id="0" name=""/>
        <dsp:cNvSpPr/>
      </dsp:nvSpPr>
      <dsp:spPr>
        <a:xfrm>
          <a:off x="511918" y="954504"/>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b="1" kern="1200">
              <a:solidFill>
                <a:srgbClr val="FFFF00"/>
              </a:solidFill>
              <a:latin typeface="Calibri" panose="020F0502020204030204" pitchFamily="34" charset="0"/>
              <a:cs typeface="Calibri" panose="020F0502020204030204" pitchFamily="34" charset="0"/>
            </a:rPr>
            <a:t>Start-up</a:t>
          </a:r>
          <a:endParaRPr lang="en-US" sz="2000" b="1" kern="1200" dirty="0">
            <a:solidFill>
              <a:srgbClr val="FFFF00"/>
            </a:solidFill>
            <a:latin typeface="Calibri" panose="020F0502020204030204" pitchFamily="34" charset="0"/>
            <a:cs typeface="Calibri" panose="020F0502020204030204" pitchFamily="34" charset="0"/>
          </a:endParaRPr>
        </a:p>
      </dsp:txBody>
      <dsp:txXfrm>
        <a:off x="528268" y="970854"/>
        <a:ext cx="1196489" cy="525529"/>
      </dsp:txXfrm>
    </dsp:sp>
    <dsp:sp modelId="{EF4DBEB8-2882-4C01-9187-B0BBADEA3750}">
      <dsp:nvSpPr>
        <dsp:cNvPr id="0" name=""/>
        <dsp:cNvSpPr/>
      </dsp:nvSpPr>
      <dsp:spPr>
        <a:xfrm rot="16200000">
          <a:off x="3148737" y="698847"/>
          <a:ext cx="994016"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8AAF02C-A05A-4617-81F2-396513300701}">
      <dsp:nvSpPr>
        <dsp:cNvPr id="0" name=""/>
        <dsp:cNvSpPr/>
      </dsp:nvSpPr>
      <dsp:spPr>
        <a:xfrm>
          <a:off x="3031151" y="107103"/>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Acquisition</a:t>
          </a:r>
        </a:p>
      </dsp:txBody>
      <dsp:txXfrm>
        <a:off x="3047501" y="123453"/>
        <a:ext cx="1196489" cy="525529"/>
      </dsp:txXfrm>
    </dsp:sp>
    <dsp:sp modelId="{53810E58-0246-4553-9F5F-E0CADE7FA48F}">
      <dsp:nvSpPr>
        <dsp:cNvPr id="0" name=""/>
        <dsp:cNvSpPr/>
      </dsp:nvSpPr>
      <dsp:spPr>
        <a:xfrm rot="20335056">
          <a:off x="4631551" y="1214240"/>
          <a:ext cx="1589392"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EBAEBD-F07B-4963-B974-1A16022A0517}">
      <dsp:nvSpPr>
        <dsp:cNvPr id="0" name=""/>
        <dsp:cNvSpPr/>
      </dsp:nvSpPr>
      <dsp:spPr>
        <a:xfrm>
          <a:off x="5553155" y="833643"/>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Direct Sale</a:t>
          </a:r>
        </a:p>
      </dsp:txBody>
      <dsp:txXfrm>
        <a:off x="5569505" y="849993"/>
        <a:ext cx="1196489" cy="5255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A53EF-0DFB-4EB8-A9CB-1A018151566A}">
      <dsp:nvSpPr>
        <dsp:cNvPr id="0" name=""/>
        <dsp:cNvSpPr/>
      </dsp:nvSpPr>
      <dsp:spPr>
        <a:xfrm>
          <a:off x="3914207" y="52385"/>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Technical Expertise and execution lead</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Simulation and Optimization</a:t>
          </a:r>
        </a:p>
      </dsp:txBody>
      <dsp:txXfrm>
        <a:off x="3914207" y="189518"/>
        <a:ext cx="3821405" cy="822801"/>
      </dsp:txXfrm>
    </dsp:sp>
    <dsp:sp modelId="{923D2375-C494-4631-B784-F7CD6A5F8B48}">
      <dsp:nvSpPr>
        <dsp:cNvPr id="0" name=""/>
        <dsp:cNvSpPr/>
      </dsp:nvSpPr>
      <dsp:spPr>
        <a:xfrm>
          <a:off x="2085459" y="1382"/>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Dr Niraj Ramesh</a:t>
          </a:r>
        </a:p>
      </dsp:txBody>
      <dsp:txXfrm>
        <a:off x="2139013" y="54936"/>
        <a:ext cx="1721639" cy="989959"/>
      </dsp:txXfrm>
    </dsp:sp>
    <dsp:sp modelId="{4A6AB23C-DBAB-47A7-9AD9-FB0830E011A1}">
      <dsp:nvSpPr>
        <dsp:cNvPr id="0" name=""/>
        <dsp:cNvSpPr/>
      </dsp:nvSpPr>
      <dsp:spPr>
        <a:xfrm>
          <a:off x="3914207" y="1259160"/>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Commercialization expertise</a:t>
          </a:r>
        </a:p>
        <a:p>
          <a:pPr marL="171450" lvl="1" indent="-171450" algn="l" defTabSz="711200" rtl="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Marketing and Financial</a:t>
          </a:r>
        </a:p>
      </dsp:txBody>
      <dsp:txXfrm>
        <a:off x="3914207" y="1396293"/>
        <a:ext cx="3821405" cy="822801"/>
      </dsp:txXfrm>
    </dsp:sp>
    <dsp:sp modelId="{90A65072-CD94-44C7-842C-48E324792C96}">
      <dsp:nvSpPr>
        <dsp:cNvPr id="0" name=""/>
        <dsp:cNvSpPr/>
      </dsp:nvSpPr>
      <dsp:spPr>
        <a:xfrm>
          <a:off x="2085459" y="1208157"/>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We need this TODAY!</a:t>
          </a:r>
        </a:p>
      </dsp:txBody>
      <dsp:txXfrm>
        <a:off x="2139013" y="1261711"/>
        <a:ext cx="1721639" cy="989959"/>
      </dsp:txXfrm>
    </dsp:sp>
    <dsp:sp modelId="{ACDAEB6C-D4D2-4BE3-B3C7-4EBF2AD97CD8}">
      <dsp:nvSpPr>
        <dsp:cNvPr id="0" name=""/>
        <dsp:cNvSpPr/>
      </dsp:nvSpPr>
      <dsp:spPr>
        <a:xfrm>
          <a:off x="3914207" y="2465934"/>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Deep Learning Expert</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Building the core digital twin factory</a:t>
          </a:r>
        </a:p>
      </dsp:txBody>
      <dsp:txXfrm>
        <a:off x="3914207" y="2603067"/>
        <a:ext cx="3821405" cy="822801"/>
      </dsp:txXfrm>
    </dsp:sp>
    <dsp:sp modelId="{146BA1F7-3471-42A2-BAB2-2178BD1D321D}">
      <dsp:nvSpPr>
        <dsp:cNvPr id="0" name=""/>
        <dsp:cNvSpPr/>
      </dsp:nvSpPr>
      <dsp:spPr>
        <a:xfrm>
          <a:off x="2085459" y="2414931"/>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Searching</a:t>
          </a:r>
        </a:p>
      </dsp:txBody>
      <dsp:txXfrm>
        <a:off x="2139013" y="2468485"/>
        <a:ext cx="1721639" cy="989959"/>
      </dsp:txXfrm>
    </dsp:sp>
    <dsp:sp modelId="{F317BA32-5A0E-4325-A9DD-FA50087C4FDC}">
      <dsp:nvSpPr>
        <dsp:cNvPr id="0" name=""/>
        <dsp:cNvSpPr/>
      </dsp:nvSpPr>
      <dsp:spPr>
        <a:xfrm>
          <a:off x="3914207" y="3623089"/>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Industrial processes expert</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Building the domain-specific interfaces</a:t>
          </a:r>
        </a:p>
      </dsp:txBody>
      <dsp:txXfrm>
        <a:off x="3914207" y="3760222"/>
        <a:ext cx="3821405" cy="822801"/>
      </dsp:txXfrm>
    </dsp:sp>
    <dsp:sp modelId="{1404A573-4703-45A4-BD3A-979DF7235FB9}">
      <dsp:nvSpPr>
        <dsp:cNvPr id="0" name=""/>
        <dsp:cNvSpPr/>
      </dsp:nvSpPr>
      <dsp:spPr>
        <a:xfrm>
          <a:off x="2085459" y="3621706"/>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Dr Ganesh Soni</a:t>
          </a:r>
        </a:p>
      </dsp:txBody>
      <dsp:txXfrm>
        <a:off x="2139013" y="3675260"/>
        <a:ext cx="1721639" cy="9899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07207-42CB-4502-8B73-5FF0B4DCFB97}">
      <dsp:nvSpPr>
        <dsp:cNvPr id="0" name=""/>
        <dsp:cNvSpPr/>
      </dsp:nvSpPr>
      <dsp:spPr>
        <a:xfrm rot="5400000">
          <a:off x="-206430" y="213201"/>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Data Collection</a:t>
          </a:r>
          <a:endParaRPr lang="en-US" sz="1500" b="1" kern="1200" dirty="0">
            <a:latin typeface="Calibri" panose="020F0502020204030204" pitchFamily="34" charset="0"/>
            <a:cs typeface="Calibri" panose="020F0502020204030204" pitchFamily="34" charset="0"/>
          </a:endParaRPr>
        </a:p>
      </dsp:txBody>
      <dsp:txXfrm rot="-5400000">
        <a:off x="1" y="488442"/>
        <a:ext cx="963341" cy="412861"/>
      </dsp:txXfrm>
    </dsp:sp>
    <dsp:sp modelId="{26D51FE1-E334-407F-92D0-594719E078F1}">
      <dsp:nvSpPr>
        <dsp:cNvPr id="0" name=""/>
        <dsp:cNvSpPr/>
      </dsp:nvSpPr>
      <dsp:spPr>
        <a:xfrm rot="5400000">
          <a:off x="5719773" y="-4749660"/>
          <a:ext cx="895002"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Identify the known input parameters.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Discover the most relevant intermediate “control” points.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Agree upon desired output parameters</a:t>
          </a:r>
        </a:p>
      </dsp:txBody>
      <dsp:txXfrm rot="-5400000">
        <a:off x="963342" y="50461"/>
        <a:ext cx="10364175" cy="807622"/>
      </dsp:txXfrm>
    </dsp:sp>
    <dsp:sp modelId="{3E6CF01C-3C88-4322-9C44-AEC6B8CFE75B}">
      <dsp:nvSpPr>
        <dsp:cNvPr id="0" name=""/>
        <dsp:cNvSpPr/>
      </dsp:nvSpPr>
      <dsp:spPr>
        <a:xfrm rot="5400000">
          <a:off x="-206430" y="1444378"/>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216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Industry Specific Model</a:t>
          </a:r>
          <a:endParaRPr lang="en-US" sz="1500" b="1" kern="1200" dirty="0">
            <a:latin typeface="Calibri" panose="020F0502020204030204" pitchFamily="34" charset="0"/>
            <a:cs typeface="Calibri" panose="020F0502020204030204" pitchFamily="34" charset="0"/>
          </a:endParaRPr>
        </a:p>
      </dsp:txBody>
      <dsp:txXfrm rot="-5400000">
        <a:off x="1" y="1719619"/>
        <a:ext cx="963341" cy="412861"/>
      </dsp:txXfrm>
    </dsp:sp>
    <dsp:sp modelId="{BE617AAD-B152-4F89-BBCC-911CEC8E0074}">
      <dsp:nvSpPr>
        <dsp:cNvPr id="0" name=""/>
        <dsp:cNvSpPr/>
      </dsp:nvSpPr>
      <dsp:spPr>
        <a:xfrm rot="5400000">
          <a:off x="5720008" y="-3518718"/>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sym typeface="Wingdings" panose="05000000000000000000" pitchFamily="2" charset="2"/>
            </a:rPr>
            <a:t>Identify the most likely influencing variables for every sensor point.</a:t>
          </a:r>
          <a:endParaRPr lang="en-US" sz="1800" kern="1200" dirty="0">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sym typeface="Wingdings" panose="05000000000000000000" pitchFamily="2" charset="2"/>
            </a:rPr>
            <a:t>Identify the potential basis functions to help correlate faster.</a:t>
          </a:r>
          <a:endParaRPr lang="en-US" sz="1800" kern="1200" dirty="0">
            <a:latin typeface="Calibri" panose="020F0502020204030204" pitchFamily="34" charset="0"/>
            <a:cs typeface="Calibri" panose="020F0502020204030204" pitchFamily="34" charset="0"/>
          </a:endParaRPr>
        </a:p>
      </dsp:txBody>
      <dsp:txXfrm rot="-5400000">
        <a:off x="963342" y="1281615"/>
        <a:ext cx="10364198" cy="807197"/>
      </dsp:txXfrm>
    </dsp:sp>
    <dsp:sp modelId="{E44C1824-7ACC-450A-A785-5B3775730F5F}">
      <dsp:nvSpPr>
        <dsp:cNvPr id="0" name=""/>
        <dsp:cNvSpPr/>
      </dsp:nvSpPr>
      <dsp:spPr>
        <a:xfrm rot="5400000">
          <a:off x="-206430" y="2675555"/>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alibri" panose="020F0502020204030204" pitchFamily="34" charset="0"/>
              <a:cs typeface="Calibri" panose="020F0502020204030204" pitchFamily="34" charset="0"/>
            </a:rPr>
            <a:t>Setup DRL Neural</a:t>
          </a:r>
        </a:p>
      </dsp:txBody>
      <dsp:txXfrm rot="-5400000">
        <a:off x="1" y="2950796"/>
        <a:ext cx="963341" cy="412861"/>
      </dsp:txXfrm>
    </dsp:sp>
    <dsp:sp modelId="{AA0E2717-B019-4896-832A-DA508F32ED44}">
      <dsp:nvSpPr>
        <dsp:cNvPr id="0" name=""/>
        <dsp:cNvSpPr/>
      </dsp:nvSpPr>
      <dsp:spPr>
        <a:xfrm rot="5400000">
          <a:off x="5720008" y="-2287541"/>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We have a 2-arm bandit </a:t>
          </a:r>
          <a:r>
            <a:rPr lang="en-US" sz="1800" kern="1200" dirty="0">
              <a:latin typeface="Calibri" panose="020F0502020204030204" pitchFamily="34" charset="0"/>
              <a:cs typeface="Calibri" panose="020F0502020204030204" pitchFamily="34" charset="0"/>
              <a:sym typeface="Wingdings" panose="05000000000000000000" pitchFamily="2" charset="2"/>
            </a:rPr>
            <a:t> </a:t>
          </a:r>
          <a:r>
            <a:rPr lang="en-US" sz="1800" kern="1200" dirty="0">
              <a:latin typeface="Calibri" panose="020F0502020204030204" pitchFamily="34" charset="0"/>
              <a:cs typeface="Calibri" panose="020F0502020204030204" pitchFamily="34" charset="0"/>
            </a:rPr>
            <a:t>One arm defines how many layers. Another arm identifies the neurons per layer.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Efficiently makes the network model based on likely graphs (inter-relations)</a:t>
          </a:r>
        </a:p>
      </dsp:txBody>
      <dsp:txXfrm rot="-5400000">
        <a:off x="963342" y="2512792"/>
        <a:ext cx="10364198" cy="807197"/>
      </dsp:txXfrm>
    </dsp:sp>
    <dsp:sp modelId="{544CB700-1985-484F-B0E8-CB8D5AE83A32}">
      <dsp:nvSpPr>
        <dsp:cNvPr id="0" name=""/>
        <dsp:cNvSpPr/>
      </dsp:nvSpPr>
      <dsp:spPr>
        <a:xfrm rot="5400000">
          <a:off x="-206430" y="3906732"/>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Model Training</a:t>
          </a:r>
          <a:endParaRPr lang="en-US" sz="1500" b="1" kern="1200" dirty="0">
            <a:latin typeface="Calibri" panose="020F0502020204030204" pitchFamily="34" charset="0"/>
            <a:cs typeface="Calibri" panose="020F0502020204030204" pitchFamily="34" charset="0"/>
          </a:endParaRPr>
        </a:p>
      </dsp:txBody>
      <dsp:txXfrm rot="-5400000">
        <a:off x="1" y="4181973"/>
        <a:ext cx="963341" cy="412861"/>
      </dsp:txXfrm>
    </dsp:sp>
    <dsp:sp modelId="{C0D346AA-2631-4240-B0C1-03A48C677284}">
      <dsp:nvSpPr>
        <dsp:cNvPr id="0" name=""/>
        <dsp:cNvSpPr/>
      </dsp:nvSpPr>
      <dsp:spPr>
        <a:xfrm rot="5400000">
          <a:off x="5720008" y="-1056364"/>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Train the DRL network from known data points.</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Proceed only upon convergence</a:t>
          </a:r>
        </a:p>
      </dsp:txBody>
      <dsp:txXfrm rot="-5400000">
        <a:off x="963342" y="3743969"/>
        <a:ext cx="10364198" cy="8071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C629F-BFD2-4442-8DFE-A9E28B2AC92A}">
      <dsp:nvSpPr>
        <dsp:cNvPr id="0" name=""/>
        <dsp:cNvSpPr/>
      </dsp:nvSpPr>
      <dsp:spPr>
        <a:xfrm>
          <a:off x="7504354" y="547074"/>
          <a:ext cx="1434375" cy="1434449"/>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AA549B-259B-414C-8847-D864C880B7CB}">
      <dsp:nvSpPr>
        <dsp:cNvPr id="0" name=""/>
        <dsp:cNvSpPr/>
      </dsp:nvSpPr>
      <dsp:spPr>
        <a:xfrm>
          <a:off x="7467148"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Validate PoC and assess </a:t>
          </a:r>
          <a:r>
            <a:rPr lang="en-US" sz="1400" kern="1200" dirty="0" err="1">
              <a:latin typeface="Calibri" panose="020F0502020204030204" pitchFamily="34" charset="0"/>
              <a:cs typeface="Calibri" panose="020F0502020204030204" pitchFamily="34" charset="0"/>
            </a:rPr>
            <a:t>RoI</a:t>
          </a:r>
          <a:endParaRPr lang="en-US" sz="1400" kern="1200" dirty="0">
            <a:latin typeface="Calibri" panose="020F0502020204030204" pitchFamily="34" charset="0"/>
            <a:cs typeface="Calibri" panose="020F0502020204030204" pitchFamily="34" charset="0"/>
          </a:endParaRPr>
        </a:p>
      </dsp:txBody>
      <dsp:txXfrm>
        <a:off x="7682777" y="786191"/>
        <a:ext cx="1078145" cy="956215"/>
      </dsp:txXfrm>
    </dsp:sp>
    <dsp:sp modelId="{4BDE8894-DBC6-405C-9029-764D21F26972}">
      <dsp:nvSpPr>
        <dsp:cNvPr id="0" name=""/>
        <dsp:cNvSpPr/>
      </dsp:nvSpPr>
      <dsp:spPr>
        <a:xfrm rot="2700000">
          <a:off x="6015839"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7CC80C-74F3-4F24-AFCD-05F92F554877}">
      <dsp:nvSpPr>
        <dsp:cNvPr id="0" name=""/>
        <dsp:cNvSpPr/>
      </dsp:nvSpPr>
      <dsp:spPr>
        <a:xfrm>
          <a:off x="5984795"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Technically and Commercially Feasible?</a:t>
          </a:r>
        </a:p>
      </dsp:txBody>
      <dsp:txXfrm>
        <a:off x="6200424" y="786191"/>
        <a:ext cx="1078145" cy="956215"/>
      </dsp:txXfrm>
    </dsp:sp>
    <dsp:sp modelId="{8CCF0557-F848-4EF4-B6B6-A4B2370A41C3}">
      <dsp:nvSpPr>
        <dsp:cNvPr id="0" name=""/>
        <dsp:cNvSpPr/>
      </dsp:nvSpPr>
      <dsp:spPr>
        <a:xfrm rot="2700000">
          <a:off x="4539637"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C40BAC-EEA5-44D7-AA28-6D66738ED274}">
      <dsp:nvSpPr>
        <dsp:cNvPr id="0" name=""/>
        <dsp:cNvSpPr/>
      </dsp:nvSpPr>
      <dsp:spPr>
        <a:xfrm>
          <a:off x="4502442"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Generalizable as a service?</a:t>
          </a:r>
        </a:p>
      </dsp:txBody>
      <dsp:txXfrm>
        <a:off x="4718072" y="786191"/>
        <a:ext cx="1078145" cy="956215"/>
      </dsp:txXfrm>
    </dsp:sp>
    <dsp:sp modelId="{0046BB12-B63B-41A6-B580-C2AEF19D5FFD}">
      <dsp:nvSpPr>
        <dsp:cNvPr id="0" name=""/>
        <dsp:cNvSpPr/>
      </dsp:nvSpPr>
      <dsp:spPr>
        <a:xfrm rot="2700000">
          <a:off x="3057285"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7D11F9-CE51-4560-98C5-ACA67B693F7B}">
      <dsp:nvSpPr>
        <dsp:cNvPr id="0" name=""/>
        <dsp:cNvSpPr/>
      </dsp:nvSpPr>
      <dsp:spPr>
        <a:xfrm>
          <a:off x="3020090" y="594897"/>
          <a:ext cx="1509403" cy="1338802"/>
        </a:xfrm>
        <a:prstGeom prst="ellipse">
          <a:avLst/>
        </a:prstGeom>
        <a:solidFill>
          <a:srgbClr val="92D050">
            <a:alpha val="90000"/>
          </a:srgb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Basic Research is </a:t>
          </a:r>
          <a:r>
            <a:rPr lang="en-US" sz="1400" b="1" kern="1200" dirty="0">
              <a:latin typeface="Calibri" panose="020F0502020204030204" pitchFamily="34" charset="0"/>
              <a:cs typeface="Calibri" panose="020F0502020204030204" pitchFamily="34" charset="0"/>
            </a:rPr>
            <a:t>DONE</a:t>
          </a:r>
        </a:p>
      </dsp:txBody>
      <dsp:txXfrm>
        <a:off x="3235719" y="786191"/>
        <a:ext cx="1078145" cy="95621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6320D-79AE-42B4-8D4F-7576863C4999}"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51CA8-D0CC-4049-B46E-4D54B31FC5A1}" type="slidenum">
              <a:rPr lang="en-IN" smtClean="0"/>
              <a:t>‹#›</a:t>
            </a:fld>
            <a:endParaRPr lang="en-IN"/>
          </a:p>
        </p:txBody>
      </p:sp>
    </p:spTree>
    <p:extLst>
      <p:ext uri="{BB962C8B-B14F-4D97-AF65-F5344CB8AC3E}">
        <p14:creationId xmlns:p14="http://schemas.microsoft.com/office/powerpoint/2010/main" val="26541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2</a:t>
            </a:fld>
            <a:endParaRPr lang="en-US"/>
          </a:p>
        </p:txBody>
      </p:sp>
    </p:spTree>
    <p:extLst>
      <p:ext uri="{BB962C8B-B14F-4D97-AF65-F5344CB8AC3E}">
        <p14:creationId xmlns:p14="http://schemas.microsoft.com/office/powerpoint/2010/main" val="138512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10</a:t>
            </a:fld>
            <a:endParaRPr lang="en-US"/>
          </a:p>
        </p:txBody>
      </p:sp>
    </p:spTree>
    <p:extLst>
      <p:ext uri="{BB962C8B-B14F-4D97-AF65-F5344CB8AC3E}">
        <p14:creationId xmlns:p14="http://schemas.microsoft.com/office/powerpoint/2010/main" val="50333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11</a:t>
            </a:fld>
            <a:endParaRPr lang="en-US"/>
          </a:p>
        </p:txBody>
      </p:sp>
    </p:spTree>
    <p:extLst>
      <p:ext uri="{BB962C8B-B14F-4D97-AF65-F5344CB8AC3E}">
        <p14:creationId xmlns:p14="http://schemas.microsoft.com/office/powerpoint/2010/main" val="1150762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247B9-5996-4688-8BC9-405948EB51F5}" type="slidenum">
              <a:rPr lang="fi-FI" smtClean="0"/>
              <a:t>13</a:t>
            </a:fld>
            <a:endParaRPr lang="fi-FI"/>
          </a:p>
        </p:txBody>
      </p:sp>
    </p:spTree>
    <p:extLst>
      <p:ext uri="{BB962C8B-B14F-4D97-AF65-F5344CB8AC3E}">
        <p14:creationId xmlns:p14="http://schemas.microsoft.com/office/powerpoint/2010/main" val="1361567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15</a:t>
            </a:fld>
            <a:endParaRPr lang="en-US"/>
          </a:p>
        </p:txBody>
      </p:sp>
    </p:spTree>
    <p:extLst>
      <p:ext uri="{BB962C8B-B14F-4D97-AF65-F5344CB8AC3E}">
        <p14:creationId xmlns:p14="http://schemas.microsoft.com/office/powerpoint/2010/main" val="1757967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18</a:t>
            </a:fld>
            <a:endParaRPr lang="en-US"/>
          </a:p>
        </p:txBody>
      </p:sp>
    </p:spTree>
    <p:extLst>
      <p:ext uri="{BB962C8B-B14F-4D97-AF65-F5344CB8AC3E}">
        <p14:creationId xmlns:p14="http://schemas.microsoft.com/office/powerpoint/2010/main" val="2017750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19</a:t>
            </a:fld>
            <a:endParaRPr lang="en-US"/>
          </a:p>
        </p:txBody>
      </p:sp>
    </p:spTree>
    <p:extLst>
      <p:ext uri="{BB962C8B-B14F-4D97-AF65-F5344CB8AC3E}">
        <p14:creationId xmlns:p14="http://schemas.microsoft.com/office/powerpoint/2010/main" val="1053238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21</a:t>
            </a:fld>
            <a:endParaRPr lang="en-US"/>
          </a:p>
        </p:txBody>
      </p:sp>
    </p:spTree>
    <p:extLst>
      <p:ext uri="{BB962C8B-B14F-4D97-AF65-F5344CB8AC3E}">
        <p14:creationId xmlns:p14="http://schemas.microsoft.com/office/powerpoint/2010/main" val="1843795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completed the basic research. We need funds for proof of concept tests to verify the functionality of our idea. </a:t>
            </a:r>
            <a:r>
              <a:rPr lang="en-US" dirty="0" err="1"/>
              <a:t>PoCs</a:t>
            </a:r>
            <a:r>
              <a:rPr lang="en-US" dirty="0"/>
              <a:t> for validation of concept. Customer surveys -- Assessing </a:t>
            </a:r>
            <a:r>
              <a:rPr lang="en-US" dirty="0" err="1"/>
              <a:t>RoI</a:t>
            </a:r>
            <a:r>
              <a:rPr lang="en-US" dirty="0"/>
              <a:t> for digital twin to deduce revenue realization possibilities. </a:t>
            </a:r>
          </a:p>
        </p:txBody>
      </p:sp>
      <p:sp>
        <p:nvSpPr>
          <p:cNvPr id="4" name="Slide Number Placeholder 3"/>
          <p:cNvSpPr>
            <a:spLocks noGrp="1"/>
          </p:cNvSpPr>
          <p:nvPr>
            <p:ph type="sldNum" sz="quarter" idx="5"/>
          </p:nvPr>
        </p:nvSpPr>
        <p:spPr/>
        <p:txBody>
          <a:bodyPr/>
          <a:lstStyle/>
          <a:p>
            <a:fld id="{C13247B9-5996-4688-8BC9-405948EB51F5}" type="slidenum">
              <a:rPr lang="fi-FI" smtClean="0"/>
              <a:t>27</a:t>
            </a:fld>
            <a:endParaRPr lang="fi-FI"/>
          </a:p>
        </p:txBody>
      </p:sp>
    </p:spTree>
    <p:extLst>
      <p:ext uri="{BB962C8B-B14F-4D97-AF65-F5344CB8AC3E}">
        <p14:creationId xmlns:p14="http://schemas.microsoft.com/office/powerpoint/2010/main" val="1687792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none" spc="200" baseline="0">
                <a:solidFill>
                  <a:schemeClr val="tx1"/>
                </a:solidFill>
                <a:latin typeface="Calibri" panose="020F0502020204030204" pitchFamily="34" charset="0"/>
                <a:cs typeface="Calibri" panose="020F050202020403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Tree>
    <p:extLst>
      <p:ext uri="{BB962C8B-B14F-4D97-AF65-F5344CB8AC3E}">
        <p14:creationId xmlns:p14="http://schemas.microsoft.com/office/powerpoint/2010/main" val="378979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362174" y="1440330"/>
            <a:ext cx="11411418" cy="3276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1910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5866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a:xfrm>
            <a:off x="8218426" y="6446838"/>
            <a:ext cx="2584850" cy="365125"/>
          </a:xfrm>
          <a:prstGeom prst="rect">
            <a:avLst/>
          </a:prstGeom>
        </p:spPr>
        <p:txBody>
          <a:bodyPr/>
          <a:lstStyle/>
          <a:p>
            <a:fld id="{BAAAC38D-0552-4C82-B593-E6124DFADBE2}" type="datetime1">
              <a:rPr lang="en-US" smtClean="0"/>
              <a:t>6/15/2026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657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a:xfrm>
            <a:off x="8218426" y="6446838"/>
            <a:ext cx="2584850" cy="365125"/>
          </a:xfrm>
          <a:prstGeom prst="rect">
            <a:avLst/>
          </a:prstGeom>
        </p:spPr>
        <p:txBody>
          <a:bodyPr/>
          <a:lstStyle/>
          <a:p>
            <a:fld id="{D9DF0F1C-5577-4ACB-BB62-DF8F3C494C7E}" type="datetime1">
              <a:rPr lang="en-US" smtClean="0"/>
              <a:t>6/15/2026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5566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a:xfrm>
            <a:off x="8218426" y="6446838"/>
            <a:ext cx="2584850" cy="365125"/>
          </a:xfrm>
          <a:prstGeom prst="rect">
            <a:avLst/>
          </a:prstGeom>
        </p:spPr>
        <p:txBody>
          <a:bodyPr/>
          <a:lstStyle/>
          <a:p>
            <a:fld id="{1775B394-D9F9-4F0C-B15D-605F45CB9E9F}" type="datetime1">
              <a:rPr lang="en-US" smtClean="0"/>
              <a:t>6/15/2026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124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a:xfrm>
            <a:off x="8218426" y="6446838"/>
            <a:ext cx="2584850" cy="365125"/>
          </a:xfrm>
          <a:prstGeom prst="rect">
            <a:avLst/>
          </a:prstGeom>
        </p:spPr>
        <p:txBody>
          <a:bodyPr/>
          <a:lstStyle/>
          <a:p>
            <a:fld id="{39667345-2558-425A-8533-9BFDBCE15005}" type="datetime1">
              <a:rPr lang="en-US" smtClean="0"/>
              <a:t>6/15/2026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13309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0" y="0"/>
            <a:ext cx="4654296"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a:prstGeom prst="rect">
            <a:avLst/>
          </a:prstGeom>
        </p:spPr>
        <p:txBody>
          <a:bodyPr/>
          <a:lstStyle>
            <a:lvl1pPr algn="l">
              <a:defRPr/>
            </a:lvl1pPr>
          </a:lstStyle>
          <a:p>
            <a:fld id="{92BEA474-078D-4E9B-9B14-09A87B19DC46}" type="datetime1">
              <a:rPr lang="en-US" smtClean="0"/>
              <a:t>6/15/2026</a:t>
            </a:fld>
            <a:endParaRPr lang="en-US" dirty="0"/>
          </a:p>
        </p:txBody>
      </p:sp>
      <p:sp>
        <p:nvSpPr>
          <p:cNvPr id="6" name="Footer Placeholder 5"/>
          <p:cNvSpPr>
            <a:spLocks noGrp="1"/>
          </p:cNvSpPr>
          <p:nvPr>
            <p:ph type="ftr" sz="quarter" idx="11"/>
          </p:nvPr>
        </p:nvSpPr>
        <p:spPr>
          <a:xfrm>
            <a:off x="5458983" y="6446520"/>
            <a:ext cx="5334019" cy="365125"/>
          </a:xfrm>
          <a:prstGeom prst="rect">
            <a:avLst/>
          </a:prstGeo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652000" y="6446838"/>
            <a:ext cx="2121592" cy="365125"/>
          </a:xfrm>
          <a:prstGeom prst="rect">
            <a:avLst/>
          </a:prstGeom>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51482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218426" y="6446838"/>
            <a:ext cx="2584850" cy="365125"/>
          </a:xfrm>
          <a:prstGeom prst="rect">
            <a:avLst/>
          </a:prstGeom>
        </p:spPr>
        <p:txBody>
          <a:bodyPr/>
          <a:lstStyle>
            <a:lvl1pPr>
              <a:defRPr/>
            </a:lvl1pPr>
          </a:lstStyle>
          <a:p>
            <a:fld id="{4907D986-8816-4272-A432-0437A28A9828}" type="datetime1">
              <a:rPr lang="en-US" smtClean="0"/>
              <a:t>6/15/2026</a:t>
            </a:fld>
            <a:endParaRPr lang="en-US" dirty="0"/>
          </a:p>
        </p:txBody>
      </p:sp>
      <p:sp>
        <p:nvSpPr>
          <p:cNvPr id="6" name="Footer Placeholder 5"/>
          <p:cNvSpPr>
            <a:spLocks noGrp="1"/>
          </p:cNvSpPr>
          <p:nvPr>
            <p:ph type="ftr" sz="quarter" idx="11"/>
          </p:nvPr>
        </p:nvSpPr>
        <p:spPr>
          <a:xfrm>
            <a:off x="1097279" y="6446838"/>
            <a:ext cx="6818262" cy="365125"/>
          </a:xfrm>
          <a:prstGeom prst="rect">
            <a:avLst/>
          </a:prstGeom>
        </p:spPr>
        <p:txBody>
          <a:bodyPr/>
          <a:lstStyle/>
          <a:p>
            <a:pPr algn="l"/>
            <a:endParaRPr lang="en-US" dirty="0"/>
          </a:p>
        </p:txBody>
      </p:sp>
      <p:sp>
        <p:nvSpPr>
          <p:cNvPr id="7" name="Slide Number Placeholder 6"/>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36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a:xfrm>
            <a:off x="8218426" y="6446838"/>
            <a:ext cx="2584850" cy="365125"/>
          </a:xfrm>
          <a:prstGeom prst="rect">
            <a:avLst/>
          </a:prstGeom>
        </p:spPr>
        <p:txBody>
          <a:bodyPr/>
          <a:lstStyle/>
          <a:p>
            <a:fld id="{B612A279-0833-481D-8C56-F67FD0AC6C50}" type="datetime1">
              <a:rPr lang="en-US" smtClean="0"/>
              <a:t>6/15/2026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614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a:xfrm>
            <a:off x="8218426" y="6446838"/>
            <a:ext cx="2584850" cy="365125"/>
          </a:xfrm>
          <a:prstGeom prst="rect">
            <a:avLst/>
          </a:prstGeom>
        </p:spPr>
        <p:txBody>
          <a:bodyPr/>
          <a:lstStyle/>
          <a:p>
            <a:fld id="{6587DA83-5663-4C9C-B9AA-0B40A3DAFF81}" type="datetime1">
              <a:rPr lang="en-US" smtClean="0"/>
              <a:t>6/15/2026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5218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2">
                <a:lumMod val="20000"/>
                <a:lumOff val="80000"/>
              </a:schemeClr>
            </a:gs>
            <a:gs pos="100000">
              <a:schemeClr val="tx2">
                <a:lumMod val="60000"/>
                <a:lumOff val="40000"/>
              </a:schemeClr>
            </a:gs>
          </a:gsLst>
          <a:path path="circle">
            <a:fillToRect l="100000" t="10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2174" y="235804"/>
            <a:ext cx="11411418" cy="75310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62174" y="1440330"/>
            <a:ext cx="11411418" cy="414767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p:txBody>
      </p:sp>
      <p:cxnSp>
        <p:nvCxnSpPr>
          <p:cNvPr id="10" name="Straight Connector 9">
            <a:extLst>
              <a:ext uri="{FF2B5EF4-FFF2-40B4-BE49-F238E27FC236}">
                <a16:creationId xmlns:a16="http://schemas.microsoft.com/office/drawing/2014/main" id="{C5025DAC-8B93-4160-B017-3A274A5828C0}"/>
              </a:ext>
            </a:extLst>
          </p:cNvPr>
          <p:cNvCxnSpPr>
            <a:cxnSpLocks/>
          </p:cNvCxnSpPr>
          <p:nvPr/>
        </p:nvCxnSpPr>
        <p:spPr>
          <a:xfrm>
            <a:off x="362174" y="6318558"/>
            <a:ext cx="11607274" cy="0"/>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A24D6EE-C798-4AB3-97A2-EC7E8239A613}"/>
              </a:ext>
            </a:extLst>
          </p:cNvPr>
          <p:cNvSpPr txBox="1"/>
          <p:nvPr userDrawn="1"/>
        </p:nvSpPr>
        <p:spPr>
          <a:xfrm>
            <a:off x="11107271" y="6318558"/>
            <a:ext cx="983130"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a:t>
            </a:r>
            <a:fld id="{3A98EE3D-8CD1-4C3F-BD1C-C98C9596463C}" type="slidenum">
              <a:rPr lang="en-US" smtClean="0"/>
              <a:p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76990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solidFill>
          <a:latin typeface="Calibri" panose="020F0502020204030204" pitchFamily="34" charset="0"/>
          <a:ea typeface="+mj-ea"/>
          <a:cs typeface="Calibri" panose="020F0502020204030204" pitchFamily="34" charset="0"/>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solidFill>
          <a:latin typeface="Calibri" panose="020F0502020204030204" pitchFamily="34" charset="0"/>
          <a:ea typeface="+mn-ea"/>
          <a:cs typeface="Calibri" panose="020F0502020204030204" pitchFamily="34" charset="0"/>
        </a:defRPr>
      </a:lvl1pPr>
      <a:lvl2pPr marL="384048" indent="-182880" algn="l" defTabSz="914400" rtl="0" eaLnBrk="1" latinLnBrk="0" hangingPunct="1">
        <a:lnSpc>
          <a:spcPct val="110000"/>
        </a:lnSpc>
        <a:spcBef>
          <a:spcPts val="200"/>
        </a:spcBef>
        <a:spcAft>
          <a:spcPts val="400"/>
        </a:spcAft>
        <a:buClrTx/>
        <a:buFont typeface="Wingdings" panose="05000000000000000000" pitchFamily="2" charset="2"/>
        <a:buChar char="§"/>
        <a:defRPr sz="1700" kern="1200">
          <a:solidFill>
            <a:schemeClr val="tx1"/>
          </a:solidFill>
          <a:latin typeface="Calibri" panose="020F0502020204030204" pitchFamily="34" charset="0"/>
          <a:ea typeface="+mn-ea"/>
          <a:cs typeface="Calibri" panose="020F0502020204030204" pitchFamily="34" charset="0"/>
        </a:defRPr>
      </a:lvl2pPr>
      <a:lvl3pPr marL="566928" indent="-182880" algn="l" defTabSz="914400" rtl="0" eaLnBrk="1" latinLnBrk="0" hangingPunct="1">
        <a:lnSpc>
          <a:spcPct val="110000"/>
        </a:lnSpc>
        <a:spcBef>
          <a:spcPts val="200"/>
        </a:spcBef>
        <a:spcAft>
          <a:spcPts val="400"/>
        </a:spcAft>
        <a:buClrTx/>
        <a:buFont typeface="Arial" panose="020B0604020202020204" pitchFamily="34" charset="0"/>
        <a:buChar char="•"/>
        <a:defRPr sz="1300" kern="1200">
          <a:solidFill>
            <a:schemeClr val="tx1"/>
          </a:solidFill>
          <a:latin typeface="Calibri" panose="020F0502020204030204" pitchFamily="34" charset="0"/>
          <a:ea typeface="+mn-ea"/>
          <a:cs typeface="Calibri" panose="020F0502020204030204" pitchFamily="34" charset="0"/>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Calibri" panose="020F0502020204030204" pitchFamily="34" charset="0"/>
          <a:ea typeface="+mn-ea"/>
          <a:cs typeface="Calibri" panose="020F0502020204030204" pitchFamily="34" charset="0"/>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Calibri" panose="020F0502020204030204" pitchFamily="34" charset="0"/>
          <a:ea typeface="+mn-ea"/>
          <a:cs typeface="Calibri" panose="020F050202020403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1.wdp"/><Relationship Id="rId7" Type="http://schemas.openxmlformats.org/officeDocument/2006/relationships/diagramQuickStyle" Target="../diagrams/quickStyle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6.svg"/><Relationship Id="rId5" Type="http://schemas.openxmlformats.org/officeDocument/2006/relationships/diagramData" Target="../diagrams/data1.xml"/><Relationship Id="rId10" Type="http://schemas.openxmlformats.org/officeDocument/2006/relationships/image" Target="../media/image5.png"/><Relationship Id="rId4" Type="http://schemas.openxmlformats.org/officeDocument/2006/relationships/image" Target="../media/image4.jpe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chart" Target="../charts/chart1.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11.png"/><Relationship Id="rId5" Type="http://schemas.openxmlformats.org/officeDocument/2006/relationships/diagramQuickStyle" Target="../diagrams/quickStyle7.xml"/><Relationship Id="rId10" Type="http://schemas.openxmlformats.org/officeDocument/2006/relationships/image" Target="../media/image10.png"/><Relationship Id="rId4" Type="http://schemas.openxmlformats.org/officeDocument/2006/relationships/diagramLayout" Target="../diagrams/layout7.xml"/><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20000"/>
                <a:lumOff val="80000"/>
              </a:schemeClr>
            </a:gs>
            <a:gs pos="100000">
              <a:schemeClr val="tx2">
                <a:lumMod val="60000"/>
                <a:lumOff val="4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92F6830-0BE2-4C6E-A855-0565A340250E}"/>
              </a:ext>
            </a:extLst>
          </p:cNvPr>
          <p:cNvSpPr txBox="1">
            <a:spLocks/>
          </p:cNvSpPr>
          <p:nvPr/>
        </p:nvSpPr>
        <p:spPr>
          <a:xfrm>
            <a:off x="779046" y="1219099"/>
            <a:ext cx="10263673"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US" sz="4400" b="1" dirty="0">
                <a:solidFill>
                  <a:schemeClr val="tx1"/>
                </a:solidFill>
              </a:rPr>
              <a:t>Digital Twins: Simulation and Optimization </a:t>
            </a:r>
          </a:p>
        </p:txBody>
      </p:sp>
      <p:sp>
        <p:nvSpPr>
          <p:cNvPr id="5" name="Subtitle 2">
            <a:extLst>
              <a:ext uri="{FF2B5EF4-FFF2-40B4-BE49-F238E27FC236}">
                <a16:creationId xmlns:a16="http://schemas.microsoft.com/office/drawing/2014/main" id="{678F2E9C-6A9A-458C-B104-E4717F9227A0}"/>
              </a:ext>
            </a:extLst>
          </p:cNvPr>
          <p:cNvSpPr txBox="1">
            <a:spLocks/>
          </p:cNvSpPr>
          <p:nvPr/>
        </p:nvSpPr>
        <p:spPr>
          <a:xfrm>
            <a:off x="881682" y="3531783"/>
            <a:ext cx="10058400" cy="793389"/>
          </a:xfrm>
          <a:prstGeom prst="rect">
            <a:avLst/>
          </a:prstGeom>
        </p:spPr>
        <p:txBody>
          <a:bodyPr vert="horz" lIns="91440" tIns="45720" rIns="91440" bIns="45720" rtlCol="0" anchor="t">
            <a:no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none" spc="200" baseline="0">
                <a:solidFill>
                  <a:schemeClr val="tx1"/>
                </a:solidFill>
                <a:latin typeface="Calibri" panose="020F0502020204030204" pitchFamily="34" charset="0"/>
                <a:ea typeface="+mn-ea"/>
                <a:cs typeface="Calibri" panose="020F0502020204030204" pitchFamily="34" charset="0"/>
              </a:defRPr>
            </a:lvl1pPr>
            <a:lvl2pPr marL="457200" indent="0" algn="ctr" defTabSz="914400" rtl="0" eaLnBrk="1" latinLnBrk="0" hangingPunct="1">
              <a:lnSpc>
                <a:spcPct val="110000"/>
              </a:lnSpc>
              <a:spcBef>
                <a:spcPts val="200"/>
              </a:spcBef>
              <a:spcAft>
                <a:spcPts val="400"/>
              </a:spcAft>
              <a:buClrTx/>
              <a:buFont typeface="Wingdings" panose="05000000000000000000" pitchFamily="2" charset="2"/>
              <a:buNone/>
              <a:defRPr sz="2400" kern="1200">
                <a:solidFill>
                  <a:schemeClr val="tx1">
                    <a:lumMod val="75000"/>
                    <a:lumOff val="25000"/>
                  </a:schemeClr>
                </a:solidFill>
                <a:latin typeface="Calibri" panose="020F0502020204030204" pitchFamily="34" charset="0"/>
                <a:ea typeface="+mn-ea"/>
                <a:cs typeface="Calibri" panose="020F0502020204030204" pitchFamily="34" charset="0"/>
              </a:defRPr>
            </a:lvl2pPr>
            <a:lvl3pPr marL="914400" indent="0" algn="ctr" defTabSz="914400" rtl="0" eaLnBrk="1" latinLnBrk="0" hangingPunct="1">
              <a:lnSpc>
                <a:spcPct val="110000"/>
              </a:lnSpc>
              <a:spcBef>
                <a:spcPts val="200"/>
              </a:spcBef>
              <a:spcAft>
                <a:spcPts val="400"/>
              </a:spcAft>
              <a:buClrTx/>
              <a:buFont typeface="Arial" panose="020B0604020202020204" pitchFamily="34" charset="0"/>
              <a:buNone/>
              <a:defRPr sz="2400" kern="1200">
                <a:solidFill>
                  <a:schemeClr val="tx1">
                    <a:lumMod val="75000"/>
                    <a:lumOff val="25000"/>
                  </a:schemeClr>
                </a:solidFill>
                <a:latin typeface="Calibri" panose="020F0502020204030204" pitchFamily="34" charset="0"/>
                <a:ea typeface="+mn-ea"/>
                <a:cs typeface="Calibri" panose="020F0502020204030204" pitchFamily="34" charset="0"/>
              </a:defRPr>
            </a:lvl3pPr>
            <a:lvl4pPr marL="1371600" indent="0" algn="ctr" defTabSz="914400" rtl="0" eaLnBrk="1" latinLnBrk="0" hangingPunct="1">
              <a:lnSpc>
                <a:spcPct val="110000"/>
              </a:lnSpc>
              <a:spcBef>
                <a:spcPts val="200"/>
              </a:spcBef>
              <a:spcAft>
                <a:spcPts val="400"/>
              </a:spcAft>
              <a:buClrTx/>
              <a:buFont typeface="Calibri" pitchFamily="34" charset="0"/>
              <a:buNone/>
              <a:defRPr sz="2000" kern="1200">
                <a:solidFill>
                  <a:schemeClr val="tx1">
                    <a:lumMod val="75000"/>
                    <a:lumOff val="25000"/>
                  </a:schemeClr>
                </a:solidFill>
                <a:latin typeface="Calibri" panose="020F0502020204030204" pitchFamily="34" charset="0"/>
                <a:ea typeface="+mn-ea"/>
                <a:cs typeface="Calibri" panose="020F0502020204030204" pitchFamily="34" charset="0"/>
              </a:defRPr>
            </a:lvl4pPr>
            <a:lvl5pPr marL="1828800" indent="0" algn="ctr" defTabSz="914400" rtl="0" eaLnBrk="1" latinLnBrk="0" hangingPunct="1">
              <a:lnSpc>
                <a:spcPct val="110000"/>
              </a:lnSpc>
              <a:spcBef>
                <a:spcPts val="200"/>
              </a:spcBef>
              <a:spcAft>
                <a:spcPts val="400"/>
              </a:spcAft>
              <a:buClrTx/>
              <a:buFont typeface="Calibri" pitchFamily="34" charset="0"/>
              <a:buNone/>
              <a:defRPr sz="2000" kern="1200">
                <a:solidFill>
                  <a:schemeClr val="tx1">
                    <a:lumMod val="75000"/>
                    <a:lumOff val="25000"/>
                  </a:schemeClr>
                </a:solidFill>
                <a:latin typeface="Calibri" panose="020F0502020204030204" pitchFamily="34" charset="0"/>
                <a:ea typeface="+mn-ea"/>
                <a:cs typeface="Calibri" panose="020F0502020204030204" pitchFamily="34" charset="0"/>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nSpc>
                <a:spcPct val="100000"/>
              </a:lnSpc>
            </a:pPr>
            <a:r>
              <a:rPr lang="en-US" dirty="0"/>
              <a:t>12</a:t>
            </a:r>
            <a:r>
              <a:rPr lang="en-US" baseline="30000" dirty="0"/>
              <a:t>th</a:t>
            </a:r>
            <a:r>
              <a:rPr lang="en-US" dirty="0"/>
              <a:t> June 2025</a:t>
            </a:r>
          </a:p>
        </p:txBody>
      </p:sp>
      <p:sp>
        <p:nvSpPr>
          <p:cNvPr id="7" name="TextBox 6">
            <a:extLst>
              <a:ext uri="{FF2B5EF4-FFF2-40B4-BE49-F238E27FC236}">
                <a16:creationId xmlns:a16="http://schemas.microsoft.com/office/drawing/2014/main" id="{4EBB4E76-CEF5-4402-A537-916A6AE5A117}"/>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7591243C-780A-41D5-9B11-EBBD84C687A6}"/>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79C180DE-570C-4BF1-99CA-0A36ABDFDDFA}"/>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dirty="0"/>
              <a:t>An industry-oriented research initiative</a:t>
            </a:r>
          </a:p>
        </p:txBody>
      </p:sp>
    </p:spTree>
    <p:extLst>
      <p:ext uri="{BB962C8B-B14F-4D97-AF65-F5344CB8AC3E}">
        <p14:creationId xmlns:p14="http://schemas.microsoft.com/office/powerpoint/2010/main" val="3410479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694" y="-71720"/>
            <a:ext cx="9814560" cy="1019175"/>
          </a:xfrm>
        </p:spPr>
        <p:txBody>
          <a:bodyPr>
            <a:normAutofit/>
          </a:bodyPr>
          <a:lstStyle/>
          <a:p>
            <a:r>
              <a:rPr lang="fi-FI" dirty="0" err="1"/>
              <a:t>Executive</a:t>
            </a:r>
            <a:r>
              <a:rPr lang="fi-FI" dirty="0"/>
              <a:t> </a:t>
            </a:r>
            <a:r>
              <a:rPr lang="fi-FI" dirty="0" err="1"/>
              <a:t>Summary</a:t>
            </a:r>
            <a:endParaRPr lang="fi-FI" dirty="0"/>
          </a:p>
        </p:txBody>
      </p:sp>
      <p:sp>
        <p:nvSpPr>
          <p:cNvPr id="5" name="Content Placeholder 4">
            <a:extLst>
              <a:ext uri="{FF2B5EF4-FFF2-40B4-BE49-F238E27FC236}">
                <a16:creationId xmlns:a16="http://schemas.microsoft.com/office/drawing/2014/main" id="{66BE05C9-CAE9-4AB4-8841-9C1D5520FB4B}"/>
              </a:ext>
            </a:extLst>
          </p:cNvPr>
          <p:cNvSpPr>
            <a:spLocks noGrp="1"/>
          </p:cNvSpPr>
          <p:nvPr>
            <p:ph idx="1"/>
          </p:nvPr>
        </p:nvSpPr>
        <p:spPr>
          <a:xfrm>
            <a:off x="331693" y="947455"/>
            <a:ext cx="11797553" cy="4910285"/>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Professional organizations require decision support systems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What-If analysis: How will my product/system behave if </a:t>
            </a:r>
            <a:r>
              <a:rPr lang="en-US" sz="2000" i="1" dirty="0">
                <a:latin typeface="Calibri" panose="020F0502020204030204" pitchFamily="34" charset="0"/>
                <a:cs typeface="Calibri" panose="020F0502020204030204" pitchFamily="34" charset="0"/>
              </a:rPr>
              <a:t>an event</a:t>
            </a:r>
            <a:r>
              <a:rPr lang="en-US" sz="2000" dirty="0">
                <a:latin typeface="Calibri" panose="020F0502020204030204" pitchFamily="34" charset="0"/>
                <a:cs typeface="Calibri" panose="020F0502020204030204" pitchFamily="34" charset="0"/>
              </a:rPr>
              <a:t> happens?</a:t>
            </a:r>
          </a:p>
          <a:p>
            <a:pPr lvl="1"/>
            <a:r>
              <a:rPr lang="en-US" sz="2000" dirty="0">
                <a:latin typeface="Calibri" panose="020F0502020204030204" pitchFamily="34" charset="0"/>
                <a:cs typeface="Calibri" panose="020F0502020204030204" pitchFamily="34" charset="0"/>
              </a:rPr>
              <a:t>If-What analysis: If my system behaves this way, what is my </a:t>
            </a:r>
            <a:r>
              <a:rPr lang="en-US" sz="2000" dirty="0"/>
              <a:t>best option</a:t>
            </a:r>
            <a:r>
              <a:rPr lang="en-US" sz="2000" dirty="0">
                <a:latin typeface="Calibri" panose="020F0502020204030204" pitchFamily="34" charset="0"/>
                <a:cs typeface="Calibri" panose="020F0502020204030204" pitchFamily="34" charset="0"/>
              </a:rPr>
              <a:t>?</a:t>
            </a:r>
          </a:p>
          <a:p>
            <a:pPr marL="457200" lvl="1" indent="0">
              <a:buNone/>
            </a:pPr>
            <a:endParaRPr lang="en-US" sz="4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t>
            </a:r>
            <a:r>
              <a:rPr lang="en-US" sz="2400" dirty="0"/>
              <a:t>Many vendors offer digital twins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But some offerings are platforms and frameworks, not full solutions.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Taylor-made customized full solutions are costly to built and maintain.</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A full solution – </a:t>
            </a:r>
            <a:r>
              <a:rPr lang="en-US" sz="2000" i="1" dirty="0">
                <a:latin typeface="Calibri" panose="020F0502020204030204" pitchFamily="34" charset="0"/>
                <a:cs typeface="Calibri" panose="020F0502020204030204" pitchFamily="34" charset="0"/>
              </a:rPr>
              <a:t>a complete digital twin simulation</a:t>
            </a:r>
            <a:r>
              <a:rPr lang="en-US" sz="2000" dirty="0">
                <a:latin typeface="Calibri" panose="020F0502020204030204" pitchFamily="34" charset="0"/>
                <a:cs typeface="Calibri" panose="020F0502020204030204" pitchFamily="34" charset="0"/>
              </a:rPr>
              <a:t> – is required at </a:t>
            </a:r>
            <a:r>
              <a:rPr lang="en-US" sz="2000" b="1" dirty="0">
                <a:latin typeface="Calibri" panose="020F0502020204030204" pitchFamily="34" charset="0"/>
                <a:cs typeface="Calibri" panose="020F0502020204030204" pitchFamily="34" charset="0"/>
              </a:rPr>
              <a:t>economic scale</a:t>
            </a:r>
            <a:r>
              <a:rPr lang="en-US" sz="2000" dirty="0">
                <a:latin typeface="Calibri" panose="020F0502020204030204" pitchFamily="34" charset="0"/>
                <a:cs typeface="Calibri" panose="020F0502020204030204" pitchFamily="34" charset="0"/>
              </a:rPr>
              <a:t>.</a:t>
            </a:r>
          </a:p>
          <a:p>
            <a:pPr marL="457200" lvl="1" indent="0">
              <a:buNone/>
            </a:pPr>
            <a:endParaRPr lang="en-US" sz="5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t> We propose an AI system to build and maintain the complete simulated digital twin</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Objective #1: Technically prove that our AI-built twin is competent and maintainable</a:t>
            </a:r>
          </a:p>
          <a:p>
            <a:pPr lvl="1"/>
            <a:r>
              <a:rPr lang="en-US" sz="2000" dirty="0">
                <a:latin typeface="Calibri" panose="020F0502020204030204" pitchFamily="34" charset="0"/>
                <a:cs typeface="Calibri" panose="020F0502020204030204" pitchFamily="34" charset="0"/>
              </a:rPr>
              <a:t>Objective #2: </a:t>
            </a:r>
            <a:r>
              <a:rPr lang="en-US" sz="2000" dirty="0"/>
              <a:t>Commercially prove that out AI-built twin is economically viable for us and for the industry.</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861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24AE-0295-3A09-D399-C5F3DC542B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4FD922A-F8F1-5B65-6E1F-25F3DBCB95DF}"/>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86FB0B35-1123-8BBC-1EBF-5380DB57AD22}"/>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682A6304-297F-5B6C-13D9-C7F9BA1554AB}"/>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Background</a:t>
            </a:r>
          </a:p>
        </p:txBody>
      </p:sp>
    </p:spTree>
    <p:extLst>
      <p:ext uri="{BB962C8B-B14F-4D97-AF65-F5344CB8AC3E}">
        <p14:creationId xmlns:p14="http://schemas.microsoft.com/office/powerpoint/2010/main" val="155205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D08F-5455-43F1-A3B2-68BA01C2FA56}"/>
              </a:ext>
            </a:extLst>
          </p:cNvPr>
          <p:cNvSpPr>
            <a:spLocks noGrp="1"/>
          </p:cNvSpPr>
          <p:nvPr>
            <p:ph type="title"/>
          </p:nvPr>
        </p:nvSpPr>
        <p:spPr>
          <a:xfrm>
            <a:off x="227092" y="204627"/>
            <a:ext cx="11411418" cy="753104"/>
          </a:xfrm>
        </p:spPr>
        <p:txBody>
          <a:bodyPr/>
          <a:lstStyle/>
          <a:p>
            <a:r>
              <a:rPr lang="en-US" dirty="0"/>
              <a:t>What do we mean by “Digital Twins”?</a:t>
            </a:r>
          </a:p>
        </p:txBody>
      </p:sp>
      <p:pic>
        <p:nvPicPr>
          <p:cNvPr id="2050" name="Picture 2" descr="Riviera - News Content Hub - Pure gas engines developed for green OSV  operations">
            <a:extLst>
              <a:ext uri="{FF2B5EF4-FFF2-40B4-BE49-F238E27FC236}">
                <a16:creationId xmlns:a16="http://schemas.microsoft.com/office/drawing/2014/main" id="{4EE8F976-F10D-4AC5-BD57-4BECF6882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4837" y="2175207"/>
            <a:ext cx="2814046" cy="17054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Arrow: Left-Right 5">
            <a:extLst>
              <a:ext uri="{FF2B5EF4-FFF2-40B4-BE49-F238E27FC236}">
                <a16:creationId xmlns:a16="http://schemas.microsoft.com/office/drawing/2014/main" id="{A51C5BC9-8187-478F-9B33-022B920FAFBB}"/>
              </a:ext>
            </a:extLst>
          </p:cNvPr>
          <p:cNvSpPr/>
          <p:nvPr/>
        </p:nvSpPr>
        <p:spPr>
          <a:xfrm>
            <a:off x="8537960" y="2832009"/>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F7B2F8C-34B8-4945-A5DB-1FA7BF81A96E}"/>
              </a:ext>
            </a:extLst>
          </p:cNvPr>
          <p:cNvSpPr txBox="1"/>
          <p:nvPr/>
        </p:nvSpPr>
        <p:spPr>
          <a:xfrm>
            <a:off x="5753179" y="4063649"/>
            <a:ext cx="2197359"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US" dirty="0"/>
              <a:t>Real-world product</a:t>
            </a:r>
          </a:p>
        </p:txBody>
      </p:sp>
      <p:sp>
        <p:nvSpPr>
          <p:cNvPr id="9" name="TextBox 8">
            <a:extLst>
              <a:ext uri="{FF2B5EF4-FFF2-40B4-BE49-F238E27FC236}">
                <a16:creationId xmlns:a16="http://schemas.microsoft.com/office/drawing/2014/main" id="{EB217356-A123-4E01-9519-B7129E89EEE9}"/>
              </a:ext>
            </a:extLst>
          </p:cNvPr>
          <p:cNvSpPr txBox="1"/>
          <p:nvPr/>
        </p:nvSpPr>
        <p:spPr>
          <a:xfrm>
            <a:off x="9972624" y="4063649"/>
            <a:ext cx="1427584"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US" dirty="0"/>
              <a:t>Simulation</a:t>
            </a:r>
          </a:p>
        </p:txBody>
      </p:sp>
      <p:sp>
        <p:nvSpPr>
          <p:cNvPr id="11" name="TextBox 10">
            <a:extLst>
              <a:ext uri="{FF2B5EF4-FFF2-40B4-BE49-F238E27FC236}">
                <a16:creationId xmlns:a16="http://schemas.microsoft.com/office/drawing/2014/main" id="{4FFFC4F4-1484-457D-B138-432B8C049EF0}"/>
              </a:ext>
            </a:extLst>
          </p:cNvPr>
          <p:cNvSpPr txBox="1"/>
          <p:nvPr/>
        </p:nvSpPr>
        <p:spPr>
          <a:xfrm>
            <a:off x="9573037" y="1403723"/>
            <a:ext cx="1954250"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Optimization</a:t>
            </a:r>
          </a:p>
        </p:txBody>
      </p:sp>
      <p:pic>
        <p:nvPicPr>
          <p:cNvPr id="12" name="Picture 11">
            <a:extLst>
              <a:ext uri="{FF2B5EF4-FFF2-40B4-BE49-F238E27FC236}">
                <a16:creationId xmlns:a16="http://schemas.microsoft.com/office/drawing/2014/main" id="{C486FE45-48E7-4CEA-9FAA-75171E528216}"/>
              </a:ext>
            </a:extLst>
          </p:cNvPr>
          <p:cNvPicPr>
            <a:picLocks noChangeAspect="1"/>
          </p:cNvPicPr>
          <p:nvPr/>
        </p:nvPicPr>
        <p:blipFill>
          <a:blip r:embed="rId3"/>
          <a:stretch>
            <a:fillRect/>
          </a:stretch>
        </p:blipFill>
        <p:spPr>
          <a:xfrm>
            <a:off x="9405810" y="2175706"/>
            <a:ext cx="2561214" cy="1709068"/>
          </a:xfrm>
          <a:prstGeom prst="rect">
            <a:avLst/>
          </a:prstGeom>
          <a:ln>
            <a:solidFill>
              <a:schemeClr val="tx1"/>
            </a:solidFill>
          </a:ln>
        </p:spPr>
      </p:pic>
      <p:sp>
        <p:nvSpPr>
          <p:cNvPr id="15" name="Arrow: Left-Right 14">
            <a:extLst>
              <a:ext uri="{FF2B5EF4-FFF2-40B4-BE49-F238E27FC236}">
                <a16:creationId xmlns:a16="http://schemas.microsoft.com/office/drawing/2014/main" id="{F383A77E-C275-4411-8F75-FD5B6892AB09}"/>
              </a:ext>
            </a:extLst>
          </p:cNvPr>
          <p:cNvSpPr/>
          <p:nvPr/>
        </p:nvSpPr>
        <p:spPr>
          <a:xfrm>
            <a:off x="8537959" y="1438612"/>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A2F29E8-8BB0-468F-A5A9-D1F2F6B9656F}"/>
              </a:ext>
            </a:extLst>
          </p:cNvPr>
          <p:cNvSpPr txBox="1"/>
          <p:nvPr/>
        </p:nvSpPr>
        <p:spPr>
          <a:xfrm>
            <a:off x="5657475" y="1403723"/>
            <a:ext cx="2302945"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Actual Decision</a:t>
            </a:r>
          </a:p>
        </p:txBody>
      </p:sp>
      <p:sp>
        <p:nvSpPr>
          <p:cNvPr id="3" name="Content Placeholder 4">
            <a:extLst>
              <a:ext uri="{FF2B5EF4-FFF2-40B4-BE49-F238E27FC236}">
                <a16:creationId xmlns:a16="http://schemas.microsoft.com/office/drawing/2014/main" id="{68D3868F-710B-5177-F169-0350596DC5BD}"/>
              </a:ext>
            </a:extLst>
          </p:cNvPr>
          <p:cNvSpPr>
            <a:spLocks noGrp="1"/>
          </p:cNvSpPr>
          <p:nvPr>
            <p:ph idx="1"/>
          </p:nvPr>
        </p:nvSpPr>
        <p:spPr>
          <a:xfrm>
            <a:off x="294641" y="1414544"/>
            <a:ext cx="5087123" cy="4321555"/>
          </a:xfrm>
        </p:spPr>
        <p:txBody>
          <a:bodyPr>
            <a:normAutofit/>
          </a:bodyPr>
          <a:lstStyle/>
          <a:p>
            <a:pPr marL="0" indent="0">
              <a:buClr>
                <a:schemeClr val="tx1"/>
              </a:buClr>
              <a:buNone/>
            </a:pPr>
            <a:r>
              <a:rPr lang="en-US" sz="2400" dirty="0">
                <a:latin typeface="Calibri" panose="020F0502020204030204" pitchFamily="34" charset="0"/>
                <a:cs typeface="Calibri" panose="020F0502020204030204" pitchFamily="34" charset="0"/>
              </a:rPr>
              <a:t>Industries use simulations extensively</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Software simulations mimic real-world products/processes.</a:t>
            </a:r>
          </a:p>
          <a:p>
            <a:pPr lvl="1"/>
            <a:r>
              <a:rPr lang="en-US" sz="2000" dirty="0">
                <a:latin typeface="Calibri" panose="020F0502020204030204" pitchFamily="34" charset="0"/>
                <a:cs typeface="Calibri" panose="020F0502020204030204" pitchFamily="34" charset="0"/>
              </a:rPr>
              <a:t>Experiments and ideas can be tried out safely and cheaply on simulations.</a:t>
            </a:r>
          </a:p>
          <a:p>
            <a:pPr lvl="1"/>
            <a:r>
              <a:rPr lang="en-US" sz="2000" dirty="0"/>
              <a:t>A digital twin is a </a:t>
            </a:r>
            <a:r>
              <a:rPr lang="en-US" sz="2000" i="1" dirty="0"/>
              <a:t>ready-to-use</a:t>
            </a:r>
            <a:r>
              <a:rPr lang="en-US" sz="2000" dirty="0"/>
              <a:t> simulation.</a:t>
            </a:r>
            <a:endParaRPr lang="en-US" sz="2000" dirty="0">
              <a:latin typeface="Calibri" panose="020F0502020204030204" pitchFamily="34" charset="0"/>
              <a:cs typeface="Calibri" panose="020F0502020204030204" pitchFamily="34" charset="0"/>
            </a:endParaRPr>
          </a:p>
        </p:txBody>
      </p:sp>
      <p:sp>
        <p:nvSpPr>
          <p:cNvPr id="4" name="Arrow: Left-Right 3">
            <a:extLst>
              <a:ext uri="{FF2B5EF4-FFF2-40B4-BE49-F238E27FC236}">
                <a16:creationId xmlns:a16="http://schemas.microsoft.com/office/drawing/2014/main" id="{5C7BA198-A175-5238-4AEF-C58179F1E820}"/>
              </a:ext>
            </a:extLst>
          </p:cNvPr>
          <p:cNvSpPr/>
          <p:nvPr/>
        </p:nvSpPr>
        <p:spPr>
          <a:xfrm>
            <a:off x="8537960" y="4041095"/>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D8FC17D-B8C7-2DE4-5B73-3EE5A6DA974E}"/>
              </a:ext>
            </a:extLst>
          </p:cNvPr>
          <p:cNvSpPr txBox="1"/>
          <p:nvPr/>
        </p:nvSpPr>
        <p:spPr>
          <a:xfrm>
            <a:off x="331001" y="5736099"/>
            <a:ext cx="11636023" cy="369332"/>
          </a:xfrm>
          <a:prstGeom prst="rect">
            <a:avLst/>
          </a:prstGeom>
          <a:noFill/>
        </p:spPr>
        <p:txBody>
          <a:bodyPr wrap="square">
            <a:spAutoFit/>
          </a:bodyPr>
          <a:lstStyle/>
          <a:p>
            <a:r>
              <a:rPr lang="en-US" sz="1800" dirty="0"/>
              <a:t>The real challenge is the massive cost and effort to initially build and later maintain the digital twin. </a:t>
            </a:r>
            <a:endParaRPr lang="en-US" dirty="0"/>
          </a:p>
        </p:txBody>
      </p:sp>
    </p:spTree>
    <p:extLst>
      <p:ext uri="{BB962C8B-B14F-4D97-AF65-F5344CB8AC3E}">
        <p14:creationId xmlns:p14="http://schemas.microsoft.com/office/powerpoint/2010/main" val="138349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5" grpId="0" animBg="1"/>
      <p:bldP spid="16"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083E3B-E7D1-4BBF-BE7C-D08025CA83BA}"/>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5" name="Footer Placeholder 4">
            <a:extLst>
              <a:ext uri="{FF2B5EF4-FFF2-40B4-BE49-F238E27FC236}">
                <a16:creationId xmlns:a16="http://schemas.microsoft.com/office/drawing/2014/main" id="{AA85D266-EC9A-408E-9C99-EAE30B151397}"/>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1DEFAFFC-6D2C-4CEA-9102-91516ACE7E63}"/>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5</a:t>
            </a:fld>
            <a:endParaRPr lang="fi-FI"/>
          </a:p>
        </p:txBody>
      </p:sp>
      <p:pic>
        <p:nvPicPr>
          <p:cNvPr id="8" name="Picture 7">
            <a:extLst>
              <a:ext uri="{FF2B5EF4-FFF2-40B4-BE49-F238E27FC236}">
                <a16:creationId xmlns:a16="http://schemas.microsoft.com/office/drawing/2014/main" id="{52DFEC0F-C89F-4DC9-8648-FD0BFC8FA00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483975" y="1142733"/>
            <a:ext cx="1309811" cy="1234245"/>
          </a:xfrm>
          <a:prstGeom prst="rect">
            <a:avLst/>
          </a:prstGeom>
        </p:spPr>
      </p:pic>
      <p:grpSp>
        <p:nvGrpSpPr>
          <p:cNvPr id="32" name="Group 31">
            <a:extLst>
              <a:ext uri="{FF2B5EF4-FFF2-40B4-BE49-F238E27FC236}">
                <a16:creationId xmlns:a16="http://schemas.microsoft.com/office/drawing/2014/main" id="{A0E7B3FB-D997-41AD-B02F-1873ECACD757}"/>
              </a:ext>
            </a:extLst>
          </p:cNvPr>
          <p:cNvGrpSpPr/>
          <p:nvPr/>
        </p:nvGrpSpPr>
        <p:grpSpPr>
          <a:xfrm>
            <a:off x="3350887" y="1191577"/>
            <a:ext cx="2934566" cy="1836027"/>
            <a:chOff x="203490" y="1471167"/>
            <a:chExt cx="2934566" cy="1836027"/>
          </a:xfrm>
        </p:grpSpPr>
        <p:pic>
          <p:nvPicPr>
            <p:cNvPr id="1026" name="Picture 2" descr="Clinical Decision Support Systems (CDSS) | ForeSee Medical">
              <a:extLst>
                <a:ext uri="{FF2B5EF4-FFF2-40B4-BE49-F238E27FC236}">
                  <a16:creationId xmlns:a16="http://schemas.microsoft.com/office/drawing/2014/main" id="{30C32F3B-E313-4DAC-9792-CBB9296643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490" y="1471167"/>
              <a:ext cx="2934566" cy="11590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289D1FF-8320-4B77-86D2-56D41A1569FC}"/>
                </a:ext>
              </a:extLst>
            </p:cNvPr>
            <p:cNvSpPr txBox="1"/>
            <p:nvPr/>
          </p:nvSpPr>
          <p:spPr>
            <a:xfrm>
              <a:off x="374073" y="2722419"/>
              <a:ext cx="2763983" cy="584775"/>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New Algorithms </a:t>
              </a:r>
            </a:p>
            <a:p>
              <a:pPr algn="ctr"/>
              <a:r>
                <a:rPr lang="en-US" sz="1600" dirty="0">
                  <a:latin typeface="Calibri" panose="020F0502020204030204" pitchFamily="34" charset="0"/>
                  <a:cs typeface="Calibri" panose="020F0502020204030204" pitchFamily="34" charset="0"/>
                </a:rPr>
                <a:t>Decision Support Systems</a:t>
              </a:r>
            </a:p>
          </p:txBody>
        </p:sp>
      </p:grpSp>
      <p:cxnSp>
        <p:nvCxnSpPr>
          <p:cNvPr id="13" name="Straight Arrow Connector 12">
            <a:extLst>
              <a:ext uri="{FF2B5EF4-FFF2-40B4-BE49-F238E27FC236}">
                <a16:creationId xmlns:a16="http://schemas.microsoft.com/office/drawing/2014/main" id="{69536E88-4A63-46B6-BD83-F3052080E6A1}"/>
              </a:ext>
            </a:extLst>
          </p:cNvPr>
          <p:cNvCxnSpPr>
            <a:cxnSpLocks/>
            <a:stCxn id="28" idx="3"/>
          </p:cNvCxnSpPr>
          <p:nvPr/>
        </p:nvCxnSpPr>
        <p:spPr>
          <a:xfrm>
            <a:off x="2217974" y="1755234"/>
            <a:ext cx="1132913" cy="132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C2927C48-E4BC-4A05-96AD-5A5F50315834}"/>
              </a:ext>
            </a:extLst>
          </p:cNvPr>
          <p:cNvSpPr txBox="1"/>
          <p:nvPr/>
        </p:nvSpPr>
        <p:spPr>
          <a:xfrm>
            <a:off x="2246863" y="1396562"/>
            <a:ext cx="987135" cy="369332"/>
          </a:xfrm>
          <a:prstGeom prst="rect">
            <a:avLst/>
          </a:prstGeom>
          <a:noFill/>
        </p:spPr>
        <p:txBody>
          <a:bodyPr wrap="square" rtlCol="0">
            <a:spAutoFit/>
          </a:bodyPr>
          <a:lstStyle/>
          <a:p>
            <a:r>
              <a:rPr lang="en-US" dirty="0"/>
              <a:t>Require</a:t>
            </a:r>
          </a:p>
        </p:txBody>
      </p:sp>
      <p:grpSp>
        <p:nvGrpSpPr>
          <p:cNvPr id="34" name="Group 33">
            <a:extLst>
              <a:ext uri="{FF2B5EF4-FFF2-40B4-BE49-F238E27FC236}">
                <a16:creationId xmlns:a16="http://schemas.microsoft.com/office/drawing/2014/main" id="{91652A7C-3797-44FC-986C-7F88D6EE5B32}"/>
              </a:ext>
            </a:extLst>
          </p:cNvPr>
          <p:cNvGrpSpPr/>
          <p:nvPr/>
        </p:nvGrpSpPr>
        <p:grpSpPr>
          <a:xfrm>
            <a:off x="6301548" y="1720975"/>
            <a:ext cx="1182427" cy="369332"/>
            <a:chOff x="6345863" y="1739723"/>
            <a:chExt cx="1198648" cy="369332"/>
          </a:xfrm>
        </p:grpSpPr>
        <p:sp>
          <p:nvSpPr>
            <p:cNvPr id="16" name="TextBox 15">
              <a:extLst>
                <a:ext uri="{FF2B5EF4-FFF2-40B4-BE49-F238E27FC236}">
                  <a16:creationId xmlns:a16="http://schemas.microsoft.com/office/drawing/2014/main" id="{1261D098-B5BF-4B6C-BB62-2733E032EC3C}"/>
                </a:ext>
              </a:extLst>
            </p:cNvPr>
            <p:cNvSpPr txBox="1"/>
            <p:nvPr/>
          </p:nvSpPr>
          <p:spPr>
            <a:xfrm>
              <a:off x="6406399" y="1739723"/>
              <a:ext cx="1138112" cy="369332"/>
            </a:xfrm>
            <a:prstGeom prst="rect">
              <a:avLst/>
            </a:prstGeom>
            <a:noFill/>
          </p:spPr>
          <p:txBody>
            <a:bodyPr wrap="square" rtlCol="0">
              <a:spAutoFit/>
            </a:bodyPr>
            <a:lstStyle/>
            <a:p>
              <a:r>
                <a:rPr lang="en-US" dirty="0"/>
                <a:t>Validate</a:t>
              </a:r>
            </a:p>
          </p:txBody>
        </p:sp>
        <p:cxnSp>
          <p:nvCxnSpPr>
            <p:cNvPr id="17" name="Straight Arrow Connector 16">
              <a:extLst>
                <a:ext uri="{FF2B5EF4-FFF2-40B4-BE49-F238E27FC236}">
                  <a16:creationId xmlns:a16="http://schemas.microsoft.com/office/drawing/2014/main" id="{C19FCD3F-99FF-4F90-B2D6-71C7E6C9FD92}"/>
                </a:ext>
              </a:extLst>
            </p:cNvPr>
            <p:cNvCxnSpPr>
              <a:cxnSpLocks/>
              <a:endCxn id="8" idx="1"/>
            </p:cNvCxnSpPr>
            <p:nvPr/>
          </p:nvCxnSpPr>
          <p:spPr>
            <a:xfrm flipV="1">
              <a:off x="6345863" y="1759856"/>
              <a:ext cx="1138112" cy="39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83DC2380-7EA1-45D8-8253-757604652CDA}"/>
              </a:ext>
            </a:extLst>
          </p:cNvPr>
          <p:cNvSpPr txBox="1"/>
          <p:nvPr/>
        </p:nvSpPr>
        <p:spPr>
          <a:xfrm>
            <a:off x="6693006" y="2435549"/>
            <a:ext cx="2763983" cy="584775"/>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Digital Twin </a:t>
            </a:r>
          </a:p>
          <a:p>
            <a:pPr algn="ctr"/>
            <a:r>
              <a:rPr lang="en-US" sz="1600" dirty="0">
                <a:latin typeface="Calibri" panose="020F0502020204030204" pitchFamily="34" charset="0"/>
                <a:cs typeface="Calibri" panose="020F0502020204030204" pitchFamily="34" charset="0"/>
              </a:rPr>
              <a:t>Simulation</a:t>
            </a:r>
          </a:p>
        </p:txBody>
      </p:sp>
      <p:sp>
        <p:nvSpPr>
          <p:cNvPr id="20" name="Speech Bubble: Oval 19">
            <a:extLst>
              <a:ext uri="{FF2B5EF4-FFF2-40B4-BE49-F238E27FC236}">
                <a16:creationId xmlns:a16="http://schemas.microsoft.com/office/drawing/2014/main" id="{D27EBAB4-240F-4F36-9F0D-7B6F798EEB54}"/>
              </a:ext>
            </a:extLst>
          </p:cNvPr>
          <p:cNvSpPr/>
          <p:nvPr/>
        </p:nvSpPr>
        <p:spPr>
          <a:xfrm>
            <a:off x="9110182" y="929649"/>
            <a:ext cx="1600574" cy="811459"/>
          </a:xfrm>
          <a:prstGeom prst="wedgeEllipseCallout">
            <a:avLst>
              <a:gd name="adj1" fmla="val -72120"/>
              <a:gd name="adj2" fmla="val 77718"/>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Does not exist</a:t>
            </a:r>
          </a:p>
        </p:txBody>
      </p:sp>
      <p:sp>
        <p:nvSpPr>
          <p:cNvPr id="23" name="TextBox 22">
            <a:extLst>
              <a:ext uri="{FF2B5EF4-FFF2-40B4-BE49-F238E27FC236}">
                <a16:creationId xmlns:a16="http://schemas.microsoft.com/office/drawing/2014/main" id="{909052B0-E0AA-4F78-B9F9-BF2CB3D57539}"/>
              </a:ext>
            </a:extLst>
          </p:cNvPr>
          <p:cNvSpPr txBox="1"/>
          <p:nvPr/>
        </p:nvSpPr>
        <p:spPr>
          <a:xfrm>
            <a:off x="8945295" y="1965404"/>
            <a:ext cx="3166023" cy="1200329"/>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 Reliable</a:t>
            </a:r>
          </a:p>
          <a:p>
            <a:r>
              <a:rPr lang="en-US" dirty="0">
                <a:latin typeface="Calibri" panose="020F0502020204030204" pitchFamily="34" charset="0"/>
                <a:cs typeface="Calibri" panose="020F0502020204030204" pitchFamily="34" charset="0"/>
              </a:rPr>
              <a:t> - Up-to-date</a:t>
            </a:r>
          </a:p>
          <a:p>
            <a:r>
              <a:rPr lang="en-US" dirty="0">
                <a:latin typeface="Calibri" panose="020F0502020204030204" pitchFamily="34" charset="0"/>
                <a:cs typeface="Calibri" panose="020F0502020204030204" pitchFamily="34" charset="0"/>
              </a:rPr>
              <a:t> - Auto-Adapt </a:t>
            </a:r>
          </a:p>
          <a:p>
            <a:r>
              <a:rPr lang="en-US" dirty="0">
                <a:latin typeface="Calibri" panose="020F0502020204030204" pitchFamily="34" charset="0"/>
                <a:cs typeface="Calibri" panose="020F0502020204030204" pitchFamily="34" charset="0"/>
              </a:rPr>
              <a:t> - Flexible to answer questions</a:t>
            </a:r>
          </a:p>
        </p:txBody>
      </p:sp>
      <p:graphicFrame>
        <p:nvGraphicFramePr>
          <p:cNvPr id="24" name="Diagram 23">
            <a:extLst>
              <a:ext uri="{FF2B5EF4-FFF2-40B4-BE49-F238E27FC236}">
                <a16:creationId xmlns:a16="http://schemas.microsoft.com/office/drawing/2014/main" id="{39EE5752-E139-45DE-B46C-2B76923C6814}"/>
              </a:ext>
            </a:extLst>
          </p:cNvPr>
          <p:cNvGraphicFramePr/>
          <p:nvPr>
            <p:extLst>
              <p:ext uri="{D42A27DB-BD31-4B8C-83A1-F6EECF244321}">
                <p14:modId xmlns:p14="http://schemas.microsoft.com/office/powerpoint/2010/main" val="3806948156"/>
              </p:ext>
            </p:extLst>
          </p:nvPr>
        </p:nvGraphicFramePr>
        <p:xfrm>
          <a:off x="335718" y="3303139"/>
          <a:ext cx="11520564" cy="244037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31" name="Group 30">
            <a:extLst>
              <a:ext uri="{FF2B5EF4-FFF2-40B4-BE49-F238E27FC236}">
                <a16:creationId xmlns:a16="http://schemas.microsoft.com/office/drawing/2014/main" id="{EBD4669D-D26A-4A24-A12D-9C8514A0FFBA}"/>
              </a:ext>
            </a:extLst>
          </p:cNvPr>
          <p:cNvGrpSpPr/>
          <p:nvPr/>
        </p:nvGrpSpPr>
        <p:grpSpPr>
          <a:xfrm>
            <a:off x="-14402" y="1163853"/>
            <a:ext cx="2455626" cy="1475554"/>
            <a:chOff x="3929023" y="1521187"/>
            <a:chExt cx="2763983" cy="1539786"/>
          </a:xfrm>
        </p:grpSpPr>
        <p:sp>
          <p:nvSpPr>
            <p:cNvPr id="21" name="TextBox 20">
              <a:extLst>
                <a:ext uri="{FF2B5EF4-FFF2-40B4-BE49-F238E27FC236}">
                  <a16:creationId xmlns:a16="http://schemas.microsoft.com/office/drawing/2014/main" id="{30656EF8-AADE-4465-8D7F-814604F41E92}"/>
                </a:ext>
              </a:extLst>
            </p:cNvPr>
            <p:cNvSpPr txBox="1"/>
            <p:nvPr/>
          </p:nvSpPr>
          <p:spPr>
            <a:xfrm>
              <a:off x="3929023" y="2722419"/>
              <a:ext cx="2763983" cy="338554"/>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Customer Organizations</a:t>
              </a:r>
            </a:p>
          </p:txBody>
        </p:sp>
        <p:pic>
          <p:nvPicPr>
            <p:cNvPr id="28" name="Picture 27">
              <a:extLst>
                <a:ext uri="{FF2B5EF4-FFF2-40B4-BE49-F238E27FC236}">
                  <a16:creationId xmlns:a16="http://schemas.microsoft.com/office/drawing/2014/main" id="{B0D553C3-5B7F-4D34-9ADF-D4C9F920981E}"/>
                </a:ext>
              </a:extLst>
            </p:cNvPr>
            <p:cNvPicPr>
              <a:picLocks noChangeAspect="1"/>
            </p:cNvPicPr>
            <p:nvPr/>
          </p:nvPicPr>
          <p:blipFill>
            <a:blip r:embed="rId10"/>
            <a:stretch>
              <a:fillRect/>
            </a:stretch>
          </p:blipFill>
          <p:spPr>
            <a:xfrm>
              <a:off x="4257508" y="1521187"/>
              <a:ext cx="2184214" cy="1234248"/>
            </a:xfrm>
            <a:prstGeom prst="rect">
              <a:avLst/>
            </a:prstGeom>
          </p:spPr>
        </p:pic>
      </p:grpSp>
      <p:pic>
        <p:nvPicPr>
          <p:cNvPr id="30" name="Graphic 29" descr="Magnifying glass with solid fill">
            <a:extLst>
              <a:ext uri="{FF2B5EF4-FFF2-40B4-BE49-F238E27FC236}">
                <a16:creationId xmlns:a16="http://schemas.microsoft.com/office/drawing/2014/main" id="{2B6EDB2B-1092-4369-8B1B-B6D0EF8B16B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71532" y="3429000"/>
            <a:ext cx="4443496" cy="2809721"/>
          </a:xfrm>
          <a:prstGeom prst="rect">
            <a:avLst/>
          </a:prstGeom>
        </p:spPr>
      </p:pic>
      <p:sp>
        <p:nvSpPr>
          <p:cNvPr id="33" name="Title 1">
            <a:extLst>
              <a:ext uri="{FF2B5EF4-FFF2-40B4-BE49-F238E27FC236}">
                <a16:creationId xmlns:a16="http://schemas.microsoft.com/office/drawing/2014/main" id="{FC369A88-99AF-40D6-9BD0-D642D76616C0}"/>
              </a:ext>
            </a:extLst>
          </p:cNvPr>
          <p:cNvSpPr>
            <a:spLocks noGrp="1"/>
          </p:cNvSpPr>
          <p:nvPr>
            <p:ph type="title"/>
          </p:nvPr>
        </p:nvSpPr>
        <p:spPr>
          <a:xfrm>
            <a:off x="159512" y="60822"/>
            <a:ext cx="9814560" cy="868827"/>
          </a:xfrm>
        </p:spPr>
        <p:txBody>
          <a:bodyPr>
            <a:normAutofit/>
          </a:bodyPr>
          <a:lstStyle/>
          <a:p>
            <a:r>
              <a:rPr lang="fi-FI" dirty="0"/>
              <a:t>How </a:t>
            </a:r>
            <a:r>
              <a:rPr lang="fi-FI" dirty="0" err="1"/>
              <a:t>did</a:t>
            </a:r>
            <a:r>
              <a:rPr lang="fi-FI" dirty="0"/>
              <a:t> </a:t>
            </a:r>
            <a:r>
              <a:rPr lang="fi-FI" dirty="0" err="1"/>
              <a:t>we</a:t>
            </a:r>
            <a:r>
              <a:rPr lang="fi-FI" dirty="0"/>
              <a:t> </a:t>
            </a:r>
            <a:r>
              <a:rPr lang="fi-FI" dirty="0" err="1"/>
              <a:t>come</a:t>
            </a:r>
            <a:r>
              <a:rPr lang="fi-FI" dirty="0"/>
              <a:t> </a:t>
            </a:r>
            <a:r>
              <a:rPr lang="fi-FI" dirty="0" err="1"/>
              <a:t>up</a:t>
            </a:r>
            <a:r>
              <a:rPr lang="fi-FI" dirty="0"/>
              <a:t> </a:t>
            </a:r>
            <a:r>
              <a:rPr lang="fi-FI" dirty="0" err="1"/>
              <a:t>with</a:t>
            </a:r>
            <a:r>
              <a:rPr lang="fi-FI" dirty="0"/>
              <a:t> </a:t>
            </a:r>
            <a:r>
              <a:rPr lang="fi-FI" dirty="0" err="1"/>
              <a:t>this</a:t>
            </a:r>
            <a:r>
              <a:rPr lang="fi-FI" dirty="0"/>
              <a:t>?</a:t>
            </a:r>
          </a:p>
        </p:txBody>
      </p:sp>
    </p:spTree>
    <p:extLst>
      <p:ext uri="{BB962C8B-B14F-4D97-AF65-F5344CB8AC3E}">
        <p14:creationId xmlns:p14="http://schemas.microsoft.com/office/powerpoint/2010/main" val="183279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0" grpId="0" animBg="1"/>
      <p:bldP spid="23" grpId="0"/>
      <p:bldGraphic spid="2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6297D-A54D-47C3-BE3E-A37BFE8B6BF3}"/>
              </a:ext>
            </a:extLst>
          </p:cNvPr>
          <p:cNvSpPr>
            <a:spLocks noGrp="1"/>
          </p:cNvSpPr>
          <p:nvPr>
            <p:ph type="title"/>
          </p:nvPr>
        </p:nvSpPr>
        <p:spPr>
          <a:xfrm>
            <a:off x="331693" y="244768"/>
            <a:ext cx="11411418" cy="753104"/>
          </a:xfrm>
        </p:spPr>
        <p:txBody>
          <a:bodyPr>
            <a:normAutofit fontScale="90000"/>
          </a:bodyPr>
          <a:lstStyle/>
          <a:p>
            <a:r>
              <a:rPr lang="en-US" dirty="0"/>
              <a:t>Why don’t organizations make more digital twins?</a:t>
            </a:r>
          </a:p>
        </p:txBody>
      </p:sp>
      <p:sp>
        <p:nvSpPr>
          <p:cNvPr id="4" name="Content Placeholder 4">
            <a:extLst>
              <a:ext uri="{FF2B5EF4-FFF2-40B4-BE49-F238E27FC236}">
                <a16:creationId xmlns:a16="http://schemas.microsoft.com/office/drawing/2014/main" id="{04E734D2-4DD5-499F-814F-783234E1C2E1}"/>
              </a:ext>
            </a:extLst>
          </p:cNvPr>
          <p:cNvSpPr>
            <a:spLocks noGrp="1"/>
          </p:cNvSpPr>
          <p:nvPr>
            <p:ph idx="1"/>
          </p:nvPr>
        </p:nvSpPr>
        <p:spPr>
          <a:xfrm>
            <a:off x="331693" y="1288114"/>
            <a:ext cx="11797553" cy="3875557"/>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 twin is costly</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Typically, digital twins are made manually by teams of SMEs</a:t>
            </a:r>
          </a:p>
          <a:p>
            <a:pPr lvl="1"/>
            <a:r>
              <a:rPr lang="en-US" sz="2000" dirty="0">
                <a:latin typeface="Calibri" panose="020F0502020204030204" pitchFamily="34" charset="0"/>
                <a:cs typeface="Calibri" panose="020F0502020204030204" pitchFamily="34" charset="0"/>
              </a:rPr>
              <a:t>A digital twin needs to be maintained regularly to be relevant.</a:t>
            </a:r>
          </a:p>
          <a:p>
            <a:pPr lvl="1"/>
            <a:r>
              <a:rPr lang="en-US" sz="2000" dirty="0">
                <a:latin typeface="Calibri" panose="020F0502020204030204" pitchFamily="34" charset="0"/>
                <a:cs typeface="Calibri" panose="020F0502020204030204" pitchFamily="34" charset="0"/>
              </a:rPr>
              <a:t>Commercial OTS offerings are </a:t>
            </a:r>
            <a:r>
              <a:rPr lang="en-US" sz="2000" dirty="0"/>
              <a:t>mostly platforms and frameworks, not full solutions.</a:t>
            </a:r>
            <a:endParaRPr lang="en-US" sz="2000" dirty="0">
              <a:latin typeface="Calibri" panose="020F0502020204030204" pitchFamily="34" charset="0"/>
              <a:cs typeface="Calibri" panose="020F0502020204030204" pitchFamily="34" charset="0"/>
            </a:endParaRPr>
          </a:p>
          <a:p>
            <a:pPr marL="457200" lvl="1" indent="0">
              <a:buNone/>
            </a:pPr>
            <a:endParaRPr lang="en-US" sz="4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t>
            </a:r>
            <a:r>
              <a:rPr lang="en-US" sz="2400" dirty="0"/>
              <a:t>So then, what do companies do?</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Build digital twins only for extremely critical products.</a:t>
            </a:r>
          </a:p>
          <a:p>
            <a:pPr lvl="1"/>
            <a:r>
              <a:rPr lang="en-US" sz="2000" dirty="0"/>
              <a:t>Build digital twins only for some portions. </a:t>
            </a:r>
          </a:p>
          <a:p>
            <a:pPr lvl="1"/>
            <a:r>
              <a:rPr lang="en-US" sz="2000" dirty="0">
                <a:latin typeface="Calibri" panose="020F0502020204030204" pitchFamily="34" charset="0"/>
                <a:cs typeface="Calibri" panose="020F0502020204030204" pitchFamily="34" charset="0"/>
              </a:rPr>
              <a:t>Not maintain beyond minimal critical period.</a:t>
            </a:r>
          </a:p>
        </p:txBody>
      </p:sp>
    </p:spTree>
    <p:extLst>
      <p:ext uri="{BB962C8B-B14F-4D97-AF65-F5344CB8AC3E}">
        <p14:creationId xmlns:p14="http://schemas.microsoft.com/office/powerpoint/2010/main" val="11713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9596-3F80-4EA2-9E61-9B1E9B362B9F}"/>
              </a:ext>
            </a:extLst>
          </p:cNvPr>
          <p:cNvSpPr>
            <a:spLocks noGrp="1"/>
          </p:cNvSpPr>
          <p:nvPr>
            <p:ph type="title"/>
          </p:nvPr>
        </p:nvSpPr>
        <p:spPr>
          <a:xfrm>
            <a:off x="390291" y="92362"/>
            <a:ext cx="11411418" cy="753104"/>
          </a:xfrm>
        </p:spPr>
        <p:txBody>
          <a:bodyPr/>
          <a:lstStyle/>
          <a:p>
            <a:r>
              <a:rPr lang="en-US" dirty="0"/>
              <a:t>So, where is the opportunity?</a:t>
            </a:r>
          </a:p>
        </p:txBody>
      </p:sp>
      <p:sp>
        <p:nvSpPr>
          <p:cNvPr id="3" name="Content Placeholder 2">
            <a:extLst>
              <a:ext uri="{FF2B5EF4-FFF2-40B4-BE49-F238E27FC236}">
                <a16:creationId xmlns:a16="http://schemas.microsoft.com/office/drawing/2014/main" id="{B5E2097D-C417-4FD7-B8BF-403DF229D8AF}"/>
              </a:ext>
            </a:extLst>
          </p:cNvPr>
          <p:cNvSpPr>
            <a:spLocks noGrp="1"/>
          </p:cNvSpPr>
          <p:nvPr>
            <p:ph idx="1"/>
          </p:nvPr>
        </p:nvSpPr>
        <p:spPr>
          <a:xfrm>
            <a:off x="390291" y="964733"/>
            <a:ext cx="11411418" cy="4943008"/>
          </a:xfrm>
        </p:spPr>
        <p:txBody>
          <a:bodyPr>
            <a:normAutofit/>
          </a:bodyPr>
          <a:lstStyle/>
          <a:p>
            <a:r>
              <a:rPr lang="en-US" sz="2300" b="1" dirty="0"/>
              <a:t>Digital twins need not always be a hand-crafted SME-developed high-priced custom product</a:t>
            </a:r>
          </a:p>
          <a:p>
            <a:pPr lvl="1"/>
            <a:r>
              <a:rPr lang="en-US" sz="2100" dirty="0"/>
              <a:t>An AI-based, re-trainable, flexible off-the-shelf digital twin can serve most purposes.</a:t>
            </a:r>
          </a:p>
          <a:p>
            <a:pPr lvl="1"/>
            <a:r>
              <a:rPr lang="en-US" sz="2100" dirty="0"/>
              <a:t>We make a factory of digital twins.</a:t>
            </a:r>
          </a:p>
          <a:p>
            <a:pPr lvl="1"/>
            <a:r>
              <a:rPr lang="en-US" sz="2100" dirty="0"/>
              <a:t>We provide simulation as a service.</a:t>
            </a:r>
          </a:p>
          <a:p>
            <a:endParaRPr lang="en-US" sz="600" dirty="0"/>
          </a:p>
          <a:p>
            <a:r>
              <a:rPr lang="en-US" sz="2300" dirty="0"/>
              <a:t>Will such an AI-based digital twin work everywhere?</a:t>
            </a:r>
          </a:p>
          <a:p>
            <a:pPr lvl="1"/>
            <a:r>
              <a:rPr lang="en-US" sz="2100" dirty="0"/>
              <a:t>No, we do not challenge niche areas at all.</a:t>
            </a:r>
          </a:p>
          <a:p>
            <a:pPr lvl="1"/>
            <a:r>
              <a:rPr lang="en-US" sz="2100" dirty="0"/>
              <a:t>We will not even try FEA, CFD, Flame propagation, Soft-body dynamics, multi-body simulations.</a:t>
            </a:r>
          </a:p>
          <a:p>
            <a:endParaRPr lang="en-US" sz="600" dirty="0"/>
          </a:p>
          <a:p>
            <a:r>
              <a:rPr lang="en-US" sz="2300" dirty="0"/>
              <a:t>Then where will such an AI-based digital twin work?</a:t>
            </a:r>
          </a:p>
          <a:p>
            <a:pPr lvl="1"/>
            <a:r>
              <a:rPr lang="en-US" sz="2100" dirty="0"/>
              <a:t>This works for multi-component simulations and network models including full-factory models.</a:t>
            </a:r>
          </a:p>
          <a:p>
            <a:pPr lvl="1"/>
            <a:endParaRPr lang="en-US" sz="2100" dirty="0"/>
          </a:p>
          <a:p>
            <a:endParaRPr lang="en-US" sz="2300" dirty="0"/>
          </a:p>
        </p:txBody>
      </p:sp>
    </p:spTree>
    <p:extLst>
      <p:ext uri="{BB962C8B-B14F-4D97-AF65-F5344CB8AC3E}">
        <p14:creationId xmlns:p14="http://schemas.microsoft.com/office/powerpoint/2010/main" val="180461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9596-3F80-4EA2-9E61-9B1E9B362B9F}"/>
              </a:ext>
            </a:extLst>
          </p:cNvPr>
          <p:cNvSpPr>
            <a:spLocks noGrp="1"/>
          </p:cNvSpPr>
          <p:nvPr>
            <p:ph type="title"/>
          </p:nvPr>
        </p:nvSpPr>
        <p:spPr>
          <a:xfrm>
            <a:off x="390291" y="92362"/>
            <a:ext cx="11411418" cy="753104"/>
          </a:xfrm>
        </p:spPr>
        <p:txBody>
          <a:bodyPr/>
          <a:lstStyle/>
          <a:p>
            <a:r>
              <a:rPr lang="en-US" dirty="0"/>
              <a:t>Is this really possible?</a:t>
            </a:r>
          </a:p>
        </p:txBody>
      </p:sp>
      <p:sp>
        <p:nvSpPr>
          <p:cNvPr id="3" name="Content Placeholder 2">
            <a:extLst>
              <a:ext uri="{FF2B5EF4-FFF2-40B4-BE49-F238E27FC236}">
                <a16:creationId xmlns:a16="http://schemas.microsoft.com/office/drawing/2014/main" id="{B5E2097D-C417-4FD7-B8BF-403DF229D8AF}"/>
              </a:ext>
            </a:extLst>
          </p:cNvPr>
          <p:cNvSpPr>
            <a:spLocks noGrp="1"/>
          </p:cNvSpPr>
          <p:nvPr>
            <p:ph idx="1"/>
          </p:nvPr>
        </p:nvSpPr>
        <p:spPr>
          <a:xfrm>
            <a:off x="390291" y="964733"/>
            <a:ext cx="11411418" cy="630517"/>
          </a:xfrm>
        </p:spPr>
        <p:txBody>
          <a:bodyPr>
            <a:normAutofit/>
          </a:bodyPr>
          <a:lstStyle/>
          <a:p>
            <a:r>
              <a:rPr lang="en-US" sz="2400" b="1" dirty="0"/>
              <a:t>Our </a:t>
            </a:r>
            <a:r>
              <a:rPr lang="en-US" sz="2400" dirty="0"/>
              <a:t>Digital twins is not a hand-crafted SME-developed high-priced custom product</a:t>
            </a:r>
          </a:p>
        </p:txBody>
      </p:sp>
      <p:graphicFrame>
        <p:nvGraphicFramePr>
          <p:cNvPr id="4" name="Table 6">
            <a:extLst>
              <a:ext uri="{FF2B5EF4-FFF2-40B4-BE49-F238E27FC236}">
                <a16:creationId xmlns:a16="http://schemas.microsoft.com/office/drawing/2014/main" id="{A10BAB43-95F1-4924-B21B-0C7CDA071CD1}"/>
              </a:ext>
            </a:extLst>
          </p:cNvPr>
          <p:cNvGraphicFramePr>
            <a:graphicFrameLocks/>
          </p:cNvGraphicFramePr>
          <p:nvPr>
            <p:extLst>
              <p:ext uri="{D42A27DB-BD31-4B8C-83A1-F6EECF244321}">
                <p14:modId xmlns:p14="http://schemas.microsoft.com/office/powerpoint/2010/main" val="3124518035"/>
              </p:ext>
            </p:extLst>
          </p:nvPr>
        </p:nvGraphicFramePr>
        <p:xfrm>
          <a:off x="390291" y="1595250"/>
          <a:ext cx="10929352" cy="3465008"/>
        </p:xfrm>
        <a:graphic>
          <a:graphicData uri="http://schemas.openxmlformats.org/drawingml/2006/table">
            <a:tbl>
              <a:tblPr firstRow="1" bandRow="1">
                <a:tableStyleId>{073A0DAA-6AF3-43AB-8588-CEC1D06C72B9}</a:tableStyleId>
              </a:tblPr>
              <a:tblGrid>
                <a:gridCol w="1221148">
                  <a:extLst>
                    <a:ext uri="{9D8B030D-6E8A-4147-A177-3AD203B41FA5}">
                      <a16:colId xmlns:a16="http://schemas.microsoft.com/office/drawing/2014/main" val="197273073"/>
                    </a:ext>
                  </a:extLst>
                </a:gridCol>
                <a:gridCol w="3774332">
                  <a:extLst>
                    <a:ext uri="{9D8B030D-6E8A-4147-A177-3AD203B41FA5}">
                      <a16:colId xmlns:a16="http://schemas.microsoft.com/office/drawing/2014/main" val="259877333"/>
                    </a:ext>
                  </a:extLst>
                </a:gridCol>
                <a:gridCol w="885217">
                  <a:extLst>
                    <a:ext uri="{9D8B030D-6E8A-4147-A177-3AD203B41FA5}">
                      <a16:colId xmlns:a16="http://schemas.microsoft.com/office/drawing/2014/main" val="600198645"/>
                    </a:ext>
                  </a:extLst>
                </a:gridCol>
                <a:gridCol w="1235413">
                  <a:extLst>
                    <a:ext uri="{9D8B030D-6E8A-4147-A177-3AD203B41FA5}">
                      <a16:colId xmlns:a16="http://schemas.microsoft.com/office/drawing/2014/main" val="1774716238"/>
                    </a:ext>
                  </a:extLst>
                </a:gridCol>
                <a:gridCol w="1099225">
                  <a:extLst>
                    <a:ext uri="{9D8B030D-6E8A-4147-A177-3AD203B41FA5}">
                      <a16:colId xmlns:a16="http://schemas.microsoft.com/office/drawing/2014/main" val="3314335578"/>
                    </a:ext>
                  </a:extLst>
                </a:gridCol>
                <a:gridCol w="1274324">
                  <a:extLst>
                    <a:ext uri="{9D8B030D-6E8A-4147-A177-3AD203B41FA5}">
                      <a16:colId xmlns:a16="http://schemas.microsoft.com/office/drawing/2014/main" val="4039769929"/>
                    </a:ext>
                  </a:extLst>
                </a:gridCol>
                <a:gridCol w="1439693">
                  <a:extLst>
                    <a:ext uri="{9D8B030D-6E8A-4147-A177-3AD203B41FA5}">
                      <a16:colId xmlns:a16="http://schemas.microsoft.com/office/drawing/2014/main" val="399845266"/>
                    </a:ext>
                  </a:extLst>
                </a:gridCol>
              </a:tblGrid>
              <a:tr h="810976">
                <a:tc>
                  <a:txBody>
                    <a:bodyPr/>
                    <a:lstStyle/>
                    <a:p>
                      <a:pPr algn="ctr"/>
                      <a:r>
                        <a:rPr lang="en-US" sz="1600" dirty="0">
                          <a:latin typeface="Calibri" panose="020F0502020204030204" pitchFamily="34" charset="0"/>
                          <a:cs typeface="Calibri" panose="020F0502020204030204" pitchFamily="34" charset="0"/>
                        </a:rPr>
                        <a:t>Who?</a:t>
                      </a:r>
                    </a:p>
                  </a:txBody>
                  <a:tcPr anchor="ctr"/>
                </a:tc>
                <a:tc>
                  <a:txBody>
                    <a:bodyPr/>
                    <a:lstStyle/>
                    <a:p>
                      <a:pPr algn="ctr"/>
                      <a:r>
                        <a:rPr lang="en-US" sz="1600" dirty="0">
                          <a:latin typeface="Calibri" panose="020F0502020204030204" pitchFamily="34" charset="0"/>
                          <a:cs typeface="Calibri" panose="020F0502020204030204" pitchFamily="34" charset="0"/>
                        </a:rPr>
                        <a:t>What?</a:t>
                      </a:r>
                    </a:p>
                  </a:txBody>
                  <a:tcPr anchor="ctr"/>
                </a:tc>
                <a:tc>
                  <a:txBody>
                    <a:bodyPr/>
                    <a:lstStyle/>
                    <a:p>
                      <a:pPr algn="ctr"/>
                      <a:r>
                        <a:rPr lang="en-US" sz="1600" dirty="0">
                          <a:latin typeface="Calibri" panose="020F0502020204030204" pitchFamily="34" charset="0"/>
                          <a:cs typeface="Calibri" panose="020F0502020204030204" pitchFamily="34" charset="0"/>
                        </a:rPr>
                        <a:t>When?</a:t>
                      </a:r>
                    </a:p>
                  </a:txBody>
                  <a:tcPr anchor="ctr"/>
                </a:tc>
                <a:tc>
                  <a:txBody>
                    <a:bodyPr/>
                    <a:lstStyle/>
                    <a:p>
                      <a:pPr algn="ctr"/>
                      <a:r>
                        <a:rPr lang="en-US" sz="1600" dirty="0">
                          <a:latin typeface="Calibri" panose="020F0502020204030204" pitchFamily="34" charset="0"/>
                          <a:cs typeface="Calibri" panose="020F0502020204030204" pitchFamily="34" charset="0"/>
                        </a:rPr>
                        <a:t>Data Provided</a:t>
                      </a:r>
                    </a:p>
                  </a:txBody>
                  <a:tcPr anchor="ctr"/>
                </a:tc>
                <a:tc>
                  <a:txBody>
                    <a:bodyPr/>
                    <a:lstStyle/>
                    <a:p>
                      <a:pPr algn="ctr"/>
                      <a:r>
                        <a:rPr lang="en-US" sz="1600" dirty="0">
                          <a:latin typeface="Calibri" panose="020F0502020204030204" pitchFamily="34" charset="0"/>
                          <a:cs typeface="Calibri" panose="020F0502020204030204" pitchFamily="34" charset="0"/>
                        </a:rPr>
                        <a:t>SME Inputs</a:t>
                      </a:r>
                    </a:p>
                  </a:txBody>
                  <a:tcPr anchor="ctr"/>
                </a:tc>
                <a:tc>
                  <a:txBody>
                    <a:bodyPr/>
                    <a:lstStyle/>
                    <a:p>
                      <a:pPr algn="ctr"/>
                      <a:r>
                        <a:rPr lang="en-US" sz="1600" dirty="0">
                          <a:latin typeface="Calibri" panose="020F0502020204030204" pitchFamily="34" charset="0"/>
                          <a:cs typeface="Calibri" panose="020F0502020204030204" pitchFamily="34" charset="0"/>
                        </a:rPr>
                        <a:t>Model Creation</a:t>
                      </a:r>
                    </a:p>
                  </a:txBody>
                  <a:tcPr anchor="ctr"/>
                </a:tc>
                <a:tc>
                  <a:txBody>
                    <a:bodyPr/>
                    <a:lstStyle/>
                    <a:p>
                      <a:pPr algn="ctr"/>
                      <a:r>
                        <a:rPr lang="en-US" sz="1600" dirty="0">
                          <a:latin typeface="Calibri" panose="020F0502020204030204" pitchFamily="34" charset="0"/>
                          <a:cs typeface="Calibri" panose="020F0502020204030204" pitchFamily="34" charset="0"/>
                        </a:rPr>
                        <a:t>Validation of Digital Twin</a:t>
                      </a:r>
                    </a:p>
                  </a:txBody>
                  <a:tcPr anchor="ctr"/>
                </a:tc>
                <a:extLst>
                  <a:ext uri="{0D108BD9-81ED-4DB2-BD59-A6C34878D82A}">
                    <a16:rowId xmlns:a16="http://schemas.microsoft.com/office/drawing/2014/main" val="2925939632"/>
                  </a:ext>
                </a:extLst>
              </a:tr>
              <a:tr h="865762">
                <a:tc>
                  <a:txBody>
                    <a:bodyPr/>
                    <a:lstStyle/>
                    <a:p>
                      <a:r>
                        <a:rPr lang="en-US" dirty="0">
                          <a:latin typeface="Calibri" panose="020F0502020204030204" pitchFamily="34" charset="0"/>
                          <a:cs typeface="Calibri" panose="020F0502020204030204" pitchFamily="34" charset="0"/>
                        </a:rPr>
                        <a:t>Finnish Gold mine</a:t>
                      </a:r>
                    </a:p>
                  </a:txBody>
                  <a:tcPr anchor="ctr"/>
                </a:tc>
                <a:tc>
                  <a:txBody>
                    <a:bodyPr/>
                    <a:lstStyle/>
                    <a:p>
                      <a:r>
                        <a:rPr lang="en-US" dirty="0">
                          <a:latin typeface="Calibri" panose="020F0502020204030204" pitchFamily="34" charset="0"/>
                          <a:cs typeface="Calibri" panose="020F0502020204030204" pitchFamily="34" charset="0"/>
                        </a:rPr>
                        <a:t>Ore handling and extraction</a:t>
                      </a:r>
                    </a:p>
                  </a:txBody>
                  <a:tcPr anchor="ctr"/>
                </a:tc>
                <a:tc>
                  <a:txBody>
                    <a:bodyPr/>
                    <a:lstStyle/>
                    <a:p>
                      <a:pPr algn="ctr"/>
                      <a:r>
                        <a:rPr lang="en-US" dirty="0">
                          <a:latin typeface="Calibri" panose="020F0502020204030204" pitchFamily="34" charset="0"/>
                          <a:cs typeface="Calibri" panose="020F0502020204030204" pitchFamily="34" charset="0"/>
                        </a:rPr>
                        <a:t>2023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latin typeface="Calibri" panose="020F0502020204030204" pitchFamily="34" charset="0"/>
                        <a:cs typeface="Calibri" panose="020F0502020204030204" pitchFamily="34" charset="0"/>
                      </a:endParaRPr>
                    </a:p>
                  </a:txBody>
                  <a:tcPr anchor="ctr">
                    <a:solidFill>
                      <a:schemeClr val="tx1">
                        <a:lumMod val="50000"/>
                        <a:lumOff val="50000"/>
                      </a:schemeClr>
                    </a:solidFill>
                  </a:tcPr>
                </a:tc>
                <a:extLst>
                  <a:ext uri="{0D108BD9-81ED-4DB2-BD59-A6C34878D82A}">
                    <a16:rowId xmlns:a16="http://schemas.microsoft.com/office/drawing/2014/main" val="2088576454"/>
                  </a:ext>
                </a:extLst>
              </a:tr>
              <a:tr h="596090">
                <a:tc>
                  <a:txBody>
                    <a:bodyPr/>
                    <a:lstStyle/>
                    <a:p>
                      <a:r>
                        <a:rPr lang="en-US" dirty="0">
                          <a:latin typeface="Calibri" panose="020F0502020204030204" pitchFamily="34" charset="0"/>
                          <a:cs typeface="Calibri" panose="020F0502020204030204" pitchFamily="34" charset="0"/>
                        </a:rPr>
                        <a:t>Fortum</a:t>
                      </a:r>
                    </a:p>
                  </a:txBody>
                  <a:tcPr anchor="ctr"/>
                </a:tc>
                <a:tc>
                  <a:txBody>
                    <a:bodyPr/>
                    <a:lstStyle/>
                    <a:p>
                      <a:r>
                        <a:rPr lang="en-US" dirty="0" err="1">
                          <a:latin typeface="Calibri" panose="020F0502020204030204" pitchFamily="34" charset="0"/>
                          <a:cs typeface="Calibri" panose="020F0502020204030204" pitchFamily="34" charset="0"/>
                        </a:rPr>
                        <a:t>Kaukolämpö</a:t>
                      </a:r>
                      <a:r>
                        <a:rPr lang="en-US" dirty="0">
                          <a:latin typeface="Calibri" panose="020F0502020204030204" pitchFamily="34" charset="0"/>
                          <a:cs typeface="Calibri" panose="020F0502020204030204" pitchFamily="34" charset="0"/>
                        </a:rPr>
                        <a:t> District heating network</a:t>
                      </a:r>
                    </a:p>
                  </a:txBody>
                  <a:tcPr anchor="ctr"/>
                </a:tc>
                <a:tc>
                  <a:txBody>
                    <a:bodyPr/>
                    <a:lstStyle/>
                    <a:p>
                      <a:pPr algn="ctr"/>
                      <a:r>
                        <a:rPr lang="en-US" dirty="0">
                          <a:latin typeface="Calibri" panose="020F0502020204030204" pitchFamily="34" charset="0"/>
                          <a:cs typeface="Calibri" panose="020F0502020204030204" pitchFamily="34" charset="0"/>
                        </a:rPr>
                        <a:t>2024</a:t>
                      </a: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endParaRPr lang="en-US" sz="24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606429116"/>
                  </a:ext>
                </a:extLst>
              </a:tr>
              <a:tr h="596090">
                <a:tc>
                  <a:txBody>
                    <a:bodyPr/>
                    <a:lstStyle/>
                    <a:p>
                      <a:r>
                        <a:rPr lang="en-US" dirty="0">
                          <a:latin typeface="Calibri" panose="020F0502020204030204" pitchFamily="34" charset="0"/>
                          <a:cs typeface="Calibri" panose="020F0502020204030204" pitchFamily="34" charset="0"/>
                        </a:rPr>
                        <a:t>Danfoss</a:t>
                      </a:r>
                    </a:p>
                  </a:txBody>
                  <a:tcPr anchor="ctr"/>
                </a:tc>
                <a:tc>
                  <a:txBody>
                    <a:bodyPr/>
                    <a:lstStyle/>
                    <a:p>
                      <a:r>
                        <a:rPr lang="en-US" dirty="0">
                          <a:latin typeface="Calibri" panose="020F0502020204030204" pitchFamily="34" charset="0"/>
                          <a:cs typeface="Calibri" panose="020F0502020204030204" pitchFamily="34" charset="0"/>
                        </a:rPr>
                        <a:t>Electro-mechanical Propulsion system</a:t>
                      </a:r>
                    </a:p>
                  </a:txBody>
                  <a:tcPr anchor="ctr"/>
                </a:tc>
                <a:tc>
                  <a:txBody>
                    <a:bodyPr/>
                    <a:lstStyle/>
                    <a:p>
                      <a:pPr algn="ctr"/>
                      <a:r>
                        <a:rPr lang="en-US" dirty="0">
                          <a:latin typeface="Calibri" panose="020F0502020204030204" pitchFamily="34" charset="0"/>
                          <a:cs typeface="Calibri" panose="020F0502020204030204" pitchFamily="34" charset="0"/>
                        </a:rPr>
                        <a:t>2025</a:t>
                      </a:r>
                    </a:p>
                  </a:txBody>
                  <a:tcPr anchor="ctr"/>
                </a:tc>
                <a:tc>
                  <a:txBody>
                    <a:bodyPr/>
                    <a:lstStyle/>
                    <a:p>
                      <a:pPr algn="ct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3200" b="1" dirty="0">
                          <a:solidFill>
                            <a:srgbClr val="FFC000"/>
                          </a:solidFill>
                          <a:effectLst/>
                          <a:latin typeface="Calibri" panose="020F0502020204030204" pitchFamily="34" charset="0"/>
                          <a:cs typeface="Calibri" panose="020F0502020204030204" pitchFamily="34" charset="0"/>
                        </a:rPr>
                        <a:t>!</a:t>
                      </a:r>
                      <a:endParaRPr kumimoji="0" lang="en-US" sz="3200" b="1" i="0" u="none" strike="noStrike" kern="1200" cap="none" spc="0" normalizeH="0" baseline="0" noProof="0" dirty="0">
                        <a:ln>
                          <a:noFill/>
                        </a:ln>
                        <a:solidFill>
                          <a:srgbClr val="FFC000"/>
                        </a:solidFill>
                        <a:effectLst/>
                        <a:uLnTx/>
                        <a:uFillTx/>
                        <a:latin typeface="Calibri" panose="020F0502020204030204" pitchFamily="34" charset="0"/>
                        <a:ea typeface="+mn-ea"/>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solidFill>
                      <a:schemeClr val="bg1">
                        <a:lumMod val="50000"/>
                      </a:schemeClr>
                    </a:solidFill>
                  </a:tcPr>
                </a:tc>
                <a:extLst>
                  <a:ext uri="{0D108BD9-81ED-4DB2-BD59-A6C34878D82A}">
                    <a16:rowId xmlns:a16="http://schemas.microsoft.com/office/drawing/2014/main" val="946151977"/>
                  </a:ext>
                </a:extLst>
              </a:tr>
              <a:tr h="596090">
                <a:tc>
                  <a:txBody>
                    <a:bodyPr/>
                    <a:lstStyle/>
                    <a:p>
                      <a:r>
                        <a:rPr lang="en-US" dirty="0">
                          <a:latin typeface="Calibri" panose="020F0502020204030204" pitchFamily="34" charset="0"/>
                          <a:cs typeface="Calibri" panose="020F0502020204030204" pitchFamily="34" charset="0"/>
                        </a:rPr>
                        <a:t>Wärtsilä</a:t>
                      </a:r>
                    </a:p>
                  </a:txBody>
                  <a:tcPr anchor="ctr"/>
                </a:tc>
                <a:tc>
                  <a:txBody>
                    <a:bodyPr/>
                    <a:lstStyle/>
                    <a:p>
                      <a:r>
                        <a:rPr lang="en-US" dirty="0">
                          <a:latin typeface="Calibri" panose="020F0502020204030204" pitchFamily="34" charset="0"/>
                          <a:cs typeface="Calibri" panose="020F0502020204030204" pitchFamily="34" charset="0"/>
                        </a:rPr>
                        <a:t>Power plant</a:t>
                      </a:r>
                    </a:p>
                  </a:txBody>
                  <a:tcPr anchor="ctr"/>
                </a:tc>
                <a:tc>
                  <a:txBody>
                    <a:bodyPr/>
                    <a:lstStyle/>
                    <a:p>
                      <a:pPr algn="ctr"/>
                      <a:r>
                        <a:rPr lang="en-US" dirty="0">
                          <a:latin typeface="Calibri" panose="020F0502020204030204" pitchFamily="34" charset="0"/>
                          <a:cs typeface="Calibri" panose="020F0502020204030204" pitchFamily="34" charset="0"/>
                        </a:rPr>
                        <a:t>2025</a:t>
                      </a:r>
                    </a:p>
                  </a:txBody>
                  <a:tcPr anchor="ctr"/>
                </a:tc>
                <a:tc>
                  <a:txBody>
                    <a:bodyPr/>
                    <a:lstStyle/>
                    <a:p>
                      <a:pPr algn="ctr"/>
                      <a:r>
                        <a:rPr lang="en-IN" sz="3200" b="1" dirty="0">
                          <a:solidFill>
                            <a:srgbClr val="FFC000"/>
                          </a:solidFill>
                          <a:effectLst/>
                          <a:latin typeface="Calibri" panose="020F0502020204030204" pitchFamily="34" charset="0"/>
                          <a:cs typeface="Calibri" panose="020F0502020204030204" pitchFamily="34" charset="0"/>
                        </a:rPr>
                        <a:t>!</a:t>
                      </a:r>
                      <a:endParaRPr lang="en-US" sz="2800" b="1" dirty="0">
                        <a:solidFill>
                          <a:srgbClr val="FFC000"/>
                        </a:solidFill>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solidFill>
                      <a:schemeClr val="bg1">
                        <a:lumMod val="50000"/>
                      </a:schemeClr>
                    </a:solidFill>
                  </a:tcPr>
                </a:tc>
                <a:extLst>
                  <a:ext uri="{0D108BD9-81ED-4DB2-BD59-A6C34878D82A}">
                    <a16:rowId xmlns:a16="http://schemas.microsoft.com/office/drawing/2014/main" val="2613822212"/>
                  </a:ext>
                </a:extLst>
              </a:tr>
            </a:tbl>
          </a:graphicData>
        </a:graphic>
      </p:graphicFrame>
      <p:pic>
        <p:nvPicPr>
          <p:cNvPr id="5" name="Graphic 4" descr="Run with solid fill">
            <a:extLst>
              <a:ext uri="{FF2B5EF4-FFF2-40B4-BE49-F238E27FC236}">
                <a16:creationId xmlns:a16="http://schemas.microsoft.com/office/drawing/2014/main" id="{1FD8692E-7006-46EE-AAA3-5DE330D1A2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3638" y="3327754"/>
            <a:ext cx="489626" cy="489626"/>
          </a:xfrm>
          <a:prstGeom prst="rect">
            <a:avLst/>
          </a:prstGeom>
        </p:spPr>
      </p:pic>
      <p:pic>
        <p:nvPicPr>
          <p:cNvPr id="6" name="Graphic 5" descr="Run with solid fill">
            <a:extLst>
              <a:ext uri="{FF2B5EF4-FFF2-40B4-BE49-F238E27FC236}">
                <a16:creationId xmlns:a16="http://schemas.microsoft.com/office/drawing/2014/main" id="{6D420B80-51C5-4D32-9D53-6C4389D593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01219" y="4494734"/>
            <a:ext cx="489626" cy="489626"/>
          </a:xfrm>
          <a:prstGeom prst="rect">
            <a:avLst/>
          </a:prstGeom>
        </p:spPr>
      </p:pic>
      <p:pic>
        <p:nvPicPr>
          <p:cNvPr id="7" name="Graphic 6" descr="Run with solid fill">
            <a:extLst>
              <a:ext uri="{FF2B5EF4-FFF2-40B4-BE49-F238E27FC236}">
                <a16:creationId xmlns:a16="http://schemas.microsoft.com/office/drawing/2014/main" id="{1EDD9B18-D328-4E01-A654-40E4C56E68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01219" y="3967029"/>
            <a:ext cx="489626" cy="489626"/>
          </a:xfrm>
          <a:prstGeom prst="rect">
            <a:avLst/>
          </a:prstGeom>
        </p:spPr>
      </p:pic>
      <p:sp>
        <p:nvSpPr>
          <p:cNvPr id="8" name="TextBox 7">
            <a:extLst>
              <a:ext uri="{FF2B5EF4-FFF2-40B4-BE49-F238E27FC236}">
                <a16:creationId xmlns:a16="http://schemas.microsoft.com/office/drawing/2014/main" id="{9E89A3AC-EBB1-43C8-9C62-F8E8314DC622}"/>
              </a:ext>
            </a:extLst>
          </p:cNvPr>
          <p:cNvSpPr txBox="1"/>
          <p:nvPr/>
        </p:nvSpPr>
        <p:spPr>
          <a:xfrm>
            <a:off x="390291" y="5512420"/>
            <a:ext cx="1092935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Our work is the ongoing result of industry-supported research for other academic optimization projects where we needed digital twins before the main optimization. </a:t>
            </a:r>
          </a:p>
        </p:txBody>
      </p:sp>
    </p:spTree>
    <p:extLst>
      <p:ext uri="{BB962C8B-B14F-4D97-AF65-F5344CB8AC3E}">
        <p14:creationId xmlns:p14="http://schemas.microsoft.com/office/powerpoint/2010/main" val="4073486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DD82-C2EC-FBEB-BC72-C1F24498CC6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5CD5E58-FC9B-83D4-55E9-B512A1BBD8D1}"/>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FECE1E01-9F67-ED3E-4548-F847A5BB98BC}"/>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C9C10214-B089-DA0B-A94D-540D65B33B4A}"/>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Techno-Commercial Details</a:t>
            </a:r>
          </a:p>
        </p:txBody>
      </p:sp>
    </p:spTree>
    <p:extLst>
      <p:ext uri="{BB962C8B-B14F-4D97-AF65-F5344CB8AC3E}">
        <p14:creationId xmlns:p14="http://schemas.microsoft.com/office/powerpoint/2010/main" val="211412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3324"/>
            <a:ext cx="4544291" cy="1019175"/>
          </a:xfrm>
        </p:spPr>
        <p:txBody>
          <a:bodyPr>
            <a:normAutofit fontScale="90000"/>
          </a:bodyPr>
          <a:lstStyle/>
          <a:p>
            <a:r>
              <a:rPr lang="fi-FI" dirty="0" err="1"/>
              <a:t>Problem</a:t>
            </a:r>
            <a:r>
              <a:rPr lang="fi-FI" dirty="0"/>
              <a:t> Definition</a:t>
            </a:r>
          </a:p>
        </p:txBody>
      </p:sp>
      <p:sp>
        <p:nvSpPr>
          <p:cNvPr id="4" name="Freeform: Shape 3">
            <a:extLst>
              <a:ext uri="{FF2B5EF4-FFF2-40B4-BE49-F238E27FC236}">
                <a16:creationId xmlns:a16="http://schemas.microsoft.com/office/drawing/2014/main" id="{1CEB9A1D-42F1-4E80-86E1-60BDC532389F}"/>
              </a:ext>
            </a:extLst>
          </p:cNvPr>
          <p:cNvSpPr/>
          <p:nvPr/>
        </p:nvSpPr>
        <p:spPr>
          <a:xfrm>
            <a:off x="610940"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651" tIns="911543" rIns="121047" bIns="911544" numCol="1" spcCol="1270" anchor="t" anchorCtr="0">
            <a:noAutofit/>
          </a:bodyPr>
          <a:lstStyle/>
          <a:p>
            <a:pPr marL="0" lvl="0" indent="0" algn="l" defTabSz="844550">
              <a:lnSpc>
                <a:spcPct val="90000"/>
              </a:lnSpc>
              <a:spcBef>
                <a:spcPct val="0"/>
              </a:spcBef>
              <a:spcAft>
                <a:spcPct val="35000"/>
              </a:spcAft>
              <a:buFont typeface="Wingdings" panose="05000000000000000000" pitchFamily="2" charset="2"/>
              <a:buNone/>
            </a:pPr>
            <a:r>
              <a:rPr lang="en-US" sz="1900" b="1" kern="1200" dirty="0">
                <a:solidFill>
                  <a:srgbClr val="FFFF00"/>
                </a:solidFill>
                <a:latin typeface="Calibri" panose="020F0502020204030204" pitchFamily="34" charset="0"/>
                <a:cs typeface="Calibri" panose="020F0502020204030204" pitchFamily="34" charset="0"/>
              </a:rPr>
              <a:t>If something changes, how will my systems react?</a:t>
            </a:r>
            <a:endParaRPr lang="en-US" sz="1900" b="1" kern="1200" dirty="0">
              <a:solidFill>
                <a:srgbClr val="FFFF00"/>
              </a:solidFill>
            </a:endParaRP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In case one energy plant stops, how will the district heating </a:t>
            </a:r>
            <a:r>
              <a:rPr lang="en-US" sz="1500" kern="1200" dirty="0" err="1">
                <a:latin typeface="Calibri" panose="020F0502020204030204" pitchFamily="34" charset="0"/>
                <a:cs typeface="Calibri" panose="020F0502020204030204" pitchFamily="34" charset="0"/>
              </a:rPr>
              <a:t>kaukolämpö</a:t>
            </a:r>
            <a:r>
              <a:rPr lang="en-US" sz="1500" kern="1200" dirty="0">
                <a:latin typeface="Calibri" panose="020F0502020204030204" pitchFamily="34" charset="0"/>
                <a:cs typeface="Calibri" panose="020F0502020204030204" pitchFamily="34" charset="0"/>
              </a:rPr>
              <a:t> network be affected?</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In case one motor burns out, how will a Wärtsilä power plant be affected?</a:t>
            </a:r>
          </a:p>
        </p:txBody>
      </p:sp>
      <p:sp>
        <p:nvSpPr>
          <p:cNvPr id="5" name="Freeform: Shape 4">
            <a:extLst>
              <a:ext uri="{FF2B5EF4-FFF2-40B4-BE49-F238E27FC236}">
                <a16:creationId xmlns:a16="http://schemas.microsoft.com/office/drawing/2014/main" id="{3EEE63D9-5C7F-411A-A2FF-2319F6D4C94C}"/>
              </a:ext>
            </a:extLst>
          </p:cNvPr>
          <p:cNvSpPr/>
          <p:nvPr/>
        </p:nvSpPr>
        <p:spPr>
          <a:xfrm>
            <a:off x="4354710"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651" tIns="911543" rIns="121047" bIns="911544" numCol="1" spcCol="1270" anchor="t" anchorCtr="0">
            <a:noAutofit/>
          </a:bodyPr>
          <a:lstStyle/>
          <a:p>
            <a:pPr marL="0" lvl="0" indent="0" algn="l" defTabSz="844550">
              <a:lnSpc>
                <a:spcPct val="90000"/>
              </a:lnSpc>
              <a:spcBef>
                <a:spcPct val="0"/>
              </a:spcBef>
              <a:spcAft>
                <a:spcPct val="35000"/>
              </a:spcAft>
              <a:buNone/>
            </a:pPr>
            <a:r>
              <a:rPr lang="en-US" sz="1900" b="1" kern="1200" dirty="0">
                <a:solidFill>
                  <a:srgbClr val="FFFF00"/>
                </a:solidFill>
                <a:latin typeface="Calibri" panose="020F0502020204030204" pitchFamily="34" charset="0"/>
                <a:cs typeface="Calibri" panose="020F0502020204030204" pitchFamily="34" charset="0"/>
              </a:rPr>
              <a:t>Knowing what I know now, how best can I plan for future?</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Where should Fortum place new storage tanks for the best </a:t>
            </a:r>
            <a:r>
              <a:rPr lang="en-US" sz="1500" kern="1200" dirty="0" err="1">
                <a:latin typeface="Calibri" panose="020F0502020204030204" pitchFamily="34" charset="0"/>
                <a:cs typeface="Calibri" panose="020F0502020204030204" pitchFamily="34" charset="0"/>
              </a:rPr>
              <a:t>RoI</a:t>
            </a:r>
            <a:r>
              <a:rPr lang="en-US" sz="1500" kern="1200" dirty="0">
                <a:latin typeface="Calibri" panose="020F0502020204030204" pitchFamily="34" charset="0"/>
                <a:cs typeface="Calibri" panose="020F0502020204030204" pitchFamily="34" charset="0"/>
              </a:rPr>
              <a:t>?</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Should the next Wärtsilä power plant designs include extra motors?</a:t>
            </a:r>
          </a:p>
        </p:txBody>
      </p:sp>
      <p:sp>
        <p:nvSpPr>
          <p:cNvPr id="7" name="Freeform: Shape 6">
            <a:extLst>
              <a:ext uri="{FF2B5EF4-FFF2-40B4-BE49-F238E27FC236}">
                <a16:creationId xmlns:a16="http://schemas.microsoft.com/office/drawing/2014/main" id="{A7316927-BD52-4204-9547-C09A2DAF08BB}"/>
              </a:ext>
            </a:extLst>
          </p:cNvPr>
          <p:cNvSpPr/>
          <p:nvPr/>
        </p:nvSpPr>
        <p:spPr>
          <a:xfrm>
            <a:off x="8098481"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1" tIns="911543" rIns="57150" bIns="911544" numCol="1" spcCol="1270" anchor="t" anchorCtr="0">
            <a:noAutofit/>
          </a:bodyPr>
          <a:lstStyle/>
          <a:p>
            <a:pPr lvl="0" defTabSz="844550">
              <a:lnSpc>
                <a:spcPct val="90000"/>
              </a:lnSpc>
              <a:spcBef>
                <a:spcPct val="0"/>
              </a:spcBef>
              <a:spcAft>
                <a:spcPct val="35000"/>
              </a:spcAft>
            </a:pPr>
            <a:r>
              <a:rPr lang="en-US" sz="1900" b="1" kern="1200" dirty="0">
                <a:solidFill>
                  <a:srgbClr val="FFFF00"/>
                </a:solidFill>
                <a:latin typeface="Calibri" panose="020F0502020204030204" pitchFamily="34" charset="0"/>
                <a:cs typeface="Calibri" panose="020F0502020204030204" pitchFamily="34" charset="0"/>
              </a:rPr>
              <a:t>Can digital twin be made without </a:t>
            </a:r>
            <a:r>
              <a:rPr lang="en-US" sz="1900" b="1" dirty="0">
                <a:solidFill>
                  <a:srgbClr val="FFFF00"/>
                </a:solidFill>
                <a:latin typeface="Calibri" panose="020F0502020204030204" pitchFamily="34" charset="0"/>
                <a:cs typeface="Calibri" panose="020F0502020204030204" pitchFamily="34" charset="0"/>
              </a:rPr>
              <a:t>permanent in-house teams </a:t>
            </a:r>
            <a:r>
              <a:rPr lang="en-US" sz="1900" b="1" kern="1200" dirty="0">
                <a:solidFill>
                  <a:srgbClr val="FFFF00"/>
                </a:solidFill>
                <a:latin typeface="Calibri" panose="020F0502020204030204" pitchFamily="34" charset="0"/>
                <a:cs typeface="Calibri" panose="020F0502020204030204" pitchFamily="34" charset="0"/>
              </a:rPr>
              <a:t>of programmers and experts?</a:t>
            </a:r>
          </a:p>
          <a:p>
            <a:pPr marL="0" lvl="1" defTabSz="666750">
              <a:lnSpc>
                <a:spcPct val="90000"/>
              </a:lnSpc>
              <a:spcBef>
                <a:spcPct val="0"/>
              </a:spcBef>
              <a:spcAft>
                <a:spcPct val="15000"/>
              </a:spcAft>
            </a:pPr>
            <a:endParaRPr lang="en-US" sz="1500" dirty="0">
              <a:latin typeface="Calibri" panose="020F0502020204030204" pitchFamily="34" charset="0"/>
              <a:cs typeface="Calibri" panose="020F0502020204030204" pitchFamily="34" charset="0"/>
            </a:endParaRPr>
          </a:p>
          <a:p>
            <a:pPr marL="114300" lvl="1" indent="-114300" defTabSz="666750">
              <a:lnSpc>
                <a:spcPct val="90000"/>
              </a:lnSpc>
              <a:spcBef>
                <a:spcPct val="0"/>
              </a:spcBef>
              <a:spcAft>
                <a:spcPct val="15000"/>
              </a:spcAft>
              <a:buChar char="•"/>
            </a:pPr>
            <a:r>
              <a:rPr lang="en-US" sz="1500" dirty="0">
                <a:latin typeface="Calibri" panose="020F0502020204030204" pitchFamily="34" charset="0"/>
                <a:cs typeface="Calibri" panose="020F0502020204030204" pitchFamily="34" charset="0"/>
              </a:rPr>
              <a:t>A “core” digital twin is re-trainable for use across organizations and segments</a:t>
            </a:r>
          </a:p>
          <a:p>
            <a:pPr marL="114300" lvl="1" indent="-114300" algn="l" defTabSz="666750">
              <a:lnSpc>
                <a:spcPct val="90000"/>
              </a:lnSpc>
              <a:spcBef>
                <a:spcPct val="0"/>
              </a:spcBef>
              <a:spcAft>
                <a:spcPct val="15000"/>
              </a:spcAft>
              <a:buChar char="•"/>
            </a:pPr>
            <a:endParaRPr lang="en-US" sz="1500" kern="1200" dirty="0">
              <a:latin typeface="Calibri" panose="020F0502020204030204" pitchFamily="34" charset="0"/>
              <a:cs typeface="Calibri" panose="020F0502020204030204" pitchFamily="34" charset="0"/>
            </a:endParaRP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The digital twin adapts to changed circumstances</a:t>
            </a:r>
          </a:p>
        </p:txBody>
      </p:sp>
      <p:sp>
        <p:nvSpPr>
          <p:cNvPr id="8" name="TextBox 7">
            <a:extLst>
              <a:ext uri="{FF2B5EF4-FFF2-40B4-BE49-F238E27FC236}">
                <a16:creationId xmlns:a16="http://schemas.microsoft.com/office/drawing/2014/main" id="{FCDC68F0-0F5E-4078-914B-34C88C0DD3E0}"/>
              </a:ext>
            </a:extLst>
          </p:cNvPr>
          <p:cNvSpPr txBox="1"/>
          <p:nvPr/>
        </p:nvSpPr>
        <p:spPr>
          <a:xfrm>
            <a:off x="1386735" y="1580970"/>
            <a:ext cx="1986116" cy="369332"/>
          </a:xfrm>
          <a:prstGeom prst="rect">
            <a:avLst/>
          </a:prstGeom>
          <a:noFill/>
        </p:spPr>
        <p:txBody>
          <a:bodyPr wrap="square" rtlCol="0">
            <a:spAutoFit/>
          </a:bodyPr>
          <a:lstStyle/>
          <a:p>
            <a:r>
              <a:rPr lang="en-US" dirty="0"/>
              <a:t>What-If Analysis</a:t>
            </a:r>
          </a:p>
        </p:txBody>
      </p:sp>
      <p:sp>
        <p:nvSpPr>
          <p:cNvPr id="9" name="TextBox 8">
            <a:extLst>
              <a:ext uri="{FF2B5EF4-FFF2-40B4-BE49-F238E27FC236}">
                <a16:creationId xmlns:a16="http://schemas.microsoft.com/office/drawing/2014/main" id="{E509C87A-5B4E-45CE-AD2F-E92D851DD6C8}"/>
              </a:ext>
            </a:extLst>
          </p:cNvPr>
          <p:cNvSpPr txBox="1"/>
          <p:nvPr/>
        </p:nvSpPr>
        <p:spPr>
          <a:xfrm>
            <a:off x="5220928" y="1592826"/>
            <a:ext cx="1986116" cy="369332"/>
          </a:xfrm>
          <a:prstGeom prst="rect">
            <a:avLst/>
          </a:prstGeom>
          <a:noFill/>
        </p:spPr>
        <p:txBody>
          <a:bodyPr wrap="square" rtlCol="0">
            <a:spAutoFit/>
          </a:bodyPr>
          <a:lstStyle/>
          <a:p>
            <a:r>
              <a:rPr lang="en-US" dirty="0"/>
              <a:t>If-What Analysis</a:t>
            </a:r>
          </a:p>
        </p:txBody>
      </p:sp>
      <p:sp>
        <p:nvSpPr>
          <p:cNvPr id="10" name="TextBox 9">
            <a:extLst>
              <a:ext uri="{FF2B5EF4-FFF2-40B4-BE49-F238E27FC236}">
                <a16:creationId xmlns:a16="http://schemas.microsoft.com/office/drawing/2014/main" id="{F389D2F0-920C-4344-B13C-06739708B993}"/>
              </a:ext>
            </a:extLst>
          </p:cNvPr>
          <p:cNvSpPr txBox="1"/>
          <p:nvPr/>
        </p:nvSpPr>
        <p:spPr>
          <a:xfrm>
            <a:off x="8790037" y="1592826"/>
            <a:ext cx="2674375" cy="646331"/>
          </a:xfrm>
          <a:prstGeom prst="rect">
            <a:avLst/>
          </a:prstGeom>
          <a:noFill/>
        </p:spPr>
        <p:txBody>
          <a:bodyPr wrap="square" rtlCol="0">
            <a:spAutoFit/>
          </a:bodyPr>
          <a:lstStyle/>
          <a:p>
            <a:pPr algn="ctr"/>
            <a:r>
              <a:rPr lang="en-US" b="1" dirty="0">
                <a:solidFill>
                  <a:srgbClr val="FF0000"/>
                </a:solidFill>
                <a:highlight>
                  <a:srgbClr val="FFFF00"/>
                </a:highlight>
              </a:rPr>
              <a:t>Automate the creation of Digital Twins</a:t>
            </a:r>
          </a:p>
        </p:txBody>
      </p:sp>
    </p:spTree>
    <p:extLst>
      <p:ext uri="{BB962C8B-B14F-4D97-AF65-F5344CB8AC3E}">
        <p14:creationId xmlns:p14="http://schemas.microsoft.com/office/powerpoint/2010/main" val="277573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17" y="22759"/>
            <a:ext cx="9814560" cy="711664"/>
          </a:xfrm>
        </p:spPr>
        <p:txBody>
          <a:bodyPr>
            <a:normAutofit fontScale="90000"/>
          </a:bodyPr>
          <a:lstStyle/>
          <a:p>
            <a:r>
              <a:rPr lang="fi-FI" dirty="0" err="1"/>
              <a:t>Our</a:t>
            </a:r>
            <a:r>
              <a:rPr lang="fi-FI" dirty="0"/>
              <a:t> Technical </a:t>
            </a:r>
            <a:r>
              <a:rPr lang="fi-FI" dirty="0" err="1"/>
              <a:t>Solution</a:t>
            </a:r>
            <a:endParaRPr lang="fi-FI" dirty="0"/>
          </a:p>
        </p:txBody>
      </p:sp>
      <p:sp>
        <p:nvSpPr>
          <p:cNvPr id="6" name="Rectangle 5">
            <a:extLst>
              <a:ext uri="{FF2B5EF4-FFF2-40B4-BE49-F238E27FC236}">
                <a16:creationId xmlns:a16="http://schemas.microsoft.com/office/drawing/2014/main" id="{F6F53BAD-A8A0-49B5-B8AA-7D9A39548442}"/>
              </a:ext>
            </a:extLst>
          </p:cNvPr>
          <p:cNvSpPr/>
          <p:nvPr/>
        </p:nvSpPr>
        <p:spPr>
          <a:xfrm>
            <a:off x="1456767" y="2774337"/>
            <a:ext cx="1425678" cy="675162"/>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Network Builder</a:t>
            </a:r>
          </a:p>
        </p:txBody>
      </p:sp>
      <p:sp>
        <p:nvSpPr>
          <p:cNvPr id="4" name="Rectangle 3">
            <a:extLst>
              <a:ext uri="{FF2B5EF4-FFF2-40B4-BE49-F238E27FC236}">
                <a16:creationId xmlns:a16="http://schemas.microsoft.com/office/drawing/2014/main" id="{E5CDF048-FF64-4C53-BD5B-A9DF596A52DC}"/>
              </a:ext>
            </a:extLst>
          </p:cNvPr>
          <p:cNvSpPr/>
          <p:nvPr/>
        </p:nvSpPr>
        <p:spPr>
          <a:xfrm>
            <a:off x="3928281" y="1087684"/>
            <a:ext cx="2394442" cy="250950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System Model</a:t>
            </a:r>
          </a:p>
        </p:txBody>
      </p:sp>
      <p:sp>
        <p:nvSpPr>
          <p:cNvPr id="3" name="Rectangle 2">
            <a:extLst>
              <a:ext uri="{FF2B5EF4-FFF2-40B4-BE49-F238E27FC236}">
                <a16:creationId xmlns:a16="http://schemas.microsoft.com/office/drawing/2014/main" id="{2E4A0559-4A63-4327-8790-6281AFA3F7A7}"/>
              </a:ext>
            </a:extLst>
          </p:cNvPr>
          <p:cNvSpPr/>
          <p:nvPr/>
        </p:nvSpPr>
        <p:spPr>
          <a:xfrm>
            <a:off x="4056677" y="2816506"/>
            <a:ext cx="2137650" cy="578684"/>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Core: Deep Reinforcement learning</a:t>
            </a:r>
          </a:p>
        </p:txBody>
      </p:sp>
      <p:sp>
        <p:nvSpPr>
          <p:cNvPr id="8" name="Oval 7">
            <a:extLst>
              <a:ext uri="{FF2B5EF4-FFF2-40B4-BE49-F238E27FC236}">
                <a16:creationId xmlns:a16="http://schemas.microsoft.com/office/drawing/2014/main" id="{D863866A-3CEF-48E9-8E60-049B769CC68F}"/>
              </a:ext>
            </a:extLst>
          </p:cNvPr>
          <p:cNvSpPr/>
          <p:nvPr/>
        </p:nvSpPr>
        <p:spPr>
          <a:xfrm>
            <a:off x="1456767" y="3788129"/>
            <a:ext cx="1425678" cy="78642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Customer    Data</a:t>
            </a:r>
          </a:p>
        </p:txBody>
      </p:sp>
      <p:cxnSp>
        <p:nvCxnSpPr>
          <p:cNvPr id="10" name="Straight Arrow Connector 9">
            <a:extLst>
              <a:ext uri="{FF2B5EF4-FFF2-40B4-BE49-F238E27FC236}">
                <a16:creationId xmlns:a16="http://schemas.microsoft.com/office/drawing/2014/main" id="{611BBBD1-F9E9-430E-B522-347741C43B25}"/>
              </a:ext>
            </a:extLst>
          </p:cNvPr>
          <p:cNvCxnSpPr>
            <a:cxnSpLocks/>
            <a:stCxn id="6" idx="3"/>
            <a:endCxn id="3" idx="1"/>
          </p:cNvCxnSpPr>
          <p:nvPr/>
        </p:nvCxnSpPr>
        <p:spPr>
          <a:xfrm flipV="1">
            <a:off x="2882445" y="3105848"/>
            <a:ext cx="1174232" cy="60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3AC50EEB-2D98-46A6-9A88-17E9D5C69FD7}"/>
              </a:ext>
            </a:extLst>
          </p:cNvPr>
          <p:cNvCxnSpPr>
            <a:cxnSpLocks/>
            <a:stCxn id="32" idx="0"/>
            <a:endCxn id="15" idx="2"/>
          </p:cNvCxnSpPr>
          <p:nvPr/>
        </p:nvCxnSpPr>
        <p:spPr>
          <a:xfrm>
            <a:off x="2882445" y="1557354"/>
            <a:ext cx="128932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Oval 14">
            <a:extLst>
              <a:ext uri="{FF2B5EF4-FFF2-40B4-BE49-F238E27FC236}">
                <a16:creationId xmlns:a16="http://schemas.microsoft.com/office/drawing/2014/main" id="{93D03A7D-3843-4C8E-954E-DE30D10087CD}"/>
              </a:ext>
            </a:extLst>
          </p:cNvPr>
          <p:cNvSpPr/>
          <p:nvPr/>
        </p:nvSpPr>
        <p:spPr>
          <a:xfrm>
            <a:off x="4171773" y="1194790"/>
            <a:ext cx="1907458" cy="725128"/>
          </a:xfrm>
          <a:prstGeom prst="ellipse">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Expert Basis Functions</a:t>
            </a:r>
          </a:p>
        </p:txBody>
      </p:sp>
      <p:sp>
        <p:nvSpPr>
          <p:cNvPr id="32" name="Hexagon 31">
            <a:extLst>
              <a:ext uri="{FF2B5EF4-FFF2-40B4-BE49-F238E27FC236}">
                <a16:creationId xmlns:a16="http://schemas.microsoft.com/office/drawing/2014/main" id="{E8B5438B-3445-4322-A2E8-77E056730C0A}"/>
              </a:ext>
            </a:extLst>
          </p:cNvPr>
          <p:cNvSpPr/>
          <p:nvPr/>
        </p:nvSpPr>
        <p:spPr>
          <a:xfrm>
            <a:off x="1456767" y="1164144"/>
            <a:ext cx="1425678" cy="786420"/>
          </a:xfrm>
          <a:prstGeom prst="hexagon">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SME Inputs</a:t>
            </a:r>
          </a:p>
        </p:txBody>
      </p:sp>
      <p:cxnSp>
        <p:nvCxnSpPr>
          <p:cNvPr id="41" name="Straight Arrow Connector 40">
            <a:extLst>
              <a:ext uri="{FF2B5EF4-FFF2-40B4-BE49-F238E27FC236}">
                <a16:creationId xmlns:a16="http://schemas.microsoft.com/office/drawing/2014/main" id="{CA21A0B0-1F88-456C-B590-61C305EE5B77}"/>
              </a:ext>
            </a:extLst>
          </p:cNvPr>
          <p:cNvCxnSpPr>
            <a:cxnSpLocks/>
            <a:stCxn id="8" idx="0"/>
            <a:endCxn id="6" idx="2"/>
          </p:cNvCxnSpPr>
          <p:nvPr/>
        </p:nvCxnSpPr>
        <p:spPr>
          <a:xfrm flipV="1">
            <a:off x="2169606" y="3449499"/>
            <a:ext cx="0" cy="3386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Rectangle 44">
            <a:extLst>
              <a:ext uri="{FF2B5EF4-FFF2-40B4-BE49-F238E27FC236}">
                <a16:creationId xmlns:a16="http://schemas.microsoft.com/office/drawing/2014/main" id="{FFC3B735-F54B-4D4F-A3AF-D187C49FB475}"/>
              </a:ext>
            </a:extLst>
          </p:cNvPr>
          <p:cNvSpPr/>
          <p:nvPr/>
        </p:nvSpPr>
        <p:spPr>
          <a:xfrm>
            <a:off x="6773855" y="1910539"/>
            <a:ext cx="1475414" cy="86379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Simulation Engine</a:t>
            </a:r>
          </a:p>
        </p:txBody>
      </p:sp>
      <p:cxnSp>
        <p:nvCxnSpPr>
          <p:cNvPr id="46" name="Straight Arrow Connector 45">
            <a:extLst>
              <a:ext uri="{FF2B5EF4-FFF2-40B4-BE49-F238E27FC236}">
                <a16:creationId xmlns:a16="http://schemas.microsoft.com/office/drawing/2014/main" id="{8A3AEE0E-F85C-47BA-9A6D-46B845A4CC44}"/>
              </a:ext>
            </a:extLst>
          </p:cNvPr>
          <p:cNvCxnSpPr>
            <a:cxnSpLocks/>
            <a:stCxn id="4" idx="3"/>
            <a:endCxn id="45" idx="1"/>
          </p:cNvCxnSpPr>
          <p:nvPr/>
        </p:nvCxnSpPr>
        <p:spPr>
          <a:xfrm>
            <a:off x="6322723" y="2342438"/>
            <a:ext cx="45113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Connector: Elbow 49">
            <a:extLst>
              <a:ext uri="{FF2B5EF4-FFF2-40B4-BE49-F238E27FC236}">
                <a16:creationId xmlns:a16="http://schemas.microsoft.com/office/drawing/2014/main" id="{8A33992D-8936-4401-98DA-5E6CAA3CA601}"/>
              </a:ext>
            </a:extLst>
          </p:cNvPr>
          <p:cNvCxnSpPr>
            <a:stCxn id="8" idx="6"/>
            <a:endCxn id="45" idx="2"/>
          </p:cNvCxnSpPr>
          <p:nvPr/>
        </p:nvCxnSpPr>
        <p:spPr>
          <a:xfrm flipV="1">
            <a:off x="2882445" y="2774337"/>
            <a:ext cx="4629117" cy="140700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53" name="Rectangle 52">
            <a:extLst>
              <a:ext uri="{FF2B5EF4-FFF2-40B4-BE49-F238E27FC236}">
                <a16:creationId xmlns:a16="http://schemas.microsoft.com/office/drawing/2014/main" id="{306132F9-71F9-4263-9E07-8AC9790134FA}"/>
              </a:ext>
            </a:extLst>
          </p:cNvPr>
          <p:cNvSpPr/>
          <p:nvPr/>
        </p:nvSpPr>
        <p:spPr>
          <a:xfrm>
            <a:off x="9376360" y="1914133"/>
            <a:ext cx="1475414" cy="863798"/>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Optimizer     If-What</a:t>
            </a:r>
          </a:p>
        </p:txBody>
      </p:sp>
      <p:cxnSp>
        <p:nvCxnSpPr>
          <p:cNvPr id="54" name="Straight Arrow Connector 53">
            <a:extLst>
              <a:ext uri="{FF2B5EF4-FFF2-40B4-BE49-F238E27FC236}">
                <a16:creationId xmlns:a16="http://schemas.microsoft.com/office/drawing/2014/main" id="{8C2D0CF9-486D-400F-A4F2-288A13C04E3B}"/>
              </a:ext>
            </a:extLst>
          </p:cNvPr>
          <p:cNvCxnSpPr>
            <a:cxnSpLocks/>
            <a:stCxn id="45" idx="3"/>
            <a:endCxn id="53" idx="1"/>
          </p:cNvCxnSpPr>
          <p:nvPr/>
        </p:nvCxnSpPr>
        <p:spPr>
          <a:xfrm>
            <a:off x="8249269" y="2342438"/>
            <a:ext cx="1127091" cy="35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EDE8D36E-DD3C-421E-9E6F-4EDA93C46917}"/>
              </a:ext>
            </a:extLst>
          </p:cNvPr>
          <p:cNvGrpSpPr/>
          <p:nvPr/>
        </p:nvGrpSpPr>
        <p:grpSpPr>
          <a:xfrm>
            <a:off x="1090819" y="4756186"/>
            <a:ext cx="9605093" cy="1461868"/>
            <a:chOff x="1971308" y="3864283"/>
            <a:chExt cx="9605093" cy="1461868"/>
          </a:xfrm>
        </p:grpSpPr>
        <p:sp>
          <p:nvSpPr>
            <p:cNvPr id="13" name="Rectangle: Rounded Corners 12">
              <a:extLst>
                <a:ext uri="{FF2B5EF4-FFF2-40B4-BE49-F238E27FC236}">
                  <a16:creationId xmlns:a16="http://schemas.microsoft.com/office/drawing/2014/main" id="{33C6C4C4-DE48-4419-B65C-39C7FFF96147}"/>
                </a:ext>
              </a:extLst>
            </p:cNvPr>
            <p:cNvSpPr/>
            <p:nvPr/>
          </p:nvSpPr>
          <p:spPr>
            <a:xfrm>
              <a:off x="1971308" y="3864283"/>
              <a:ext cx="9605093" cy="1461868"/>
            </a:xfrm>
            <a:prstGeom prst="roundRect">
              <a:avLst/>
            </a:prstGeom>
            <a:solidFill>
              <a:srgbClr val="9999FF"/>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defTabSz="844550">
                <a:lnSpc>
                  <a:spcPct val="90000"/>
                </a:lnSpc>
                <a:spcBef>
                  <a:spcPct val="0"/>
                </a:spcBef>
                <a:spcAft>
                  <a:spcPct val="35000"/>
                </a:spcAft>
                <a:buFont typeface="Wingdings" panose="05000000000000000000" pitchFamily="2" charset="2"/>
                <a:buNone/>
              </a:pPr>
              <a:endParaRPr lang="en-US" sz="1900" kern="1200" dirty="0"/>
            </a:p>
          </p:txBody>
        </p:sp>
        <p:sp>
          <p:nvSpPr>
            <p:cNvPr id="14" name="Freeform: Shape 13">
              <a:extLst>
                <a:ext uri="{FF2B5EF4-FFF2-40B4-BE49-F238E27FC236}">
                  <a16:creationId xmlns:a16="http://schemas.microsoft.com/office/drawing/2014/main" id="{A2FF459C-E07A-4C04-97AC-933D81766FD5}"/>
                </a:ext>
              </a:extLst>
            </p:cNvPr>
            <p:cNvSpPr/>
            <p:nvPr/>
          </p:nvSpPr>
          <p:spPr>
            <a:xfrm>
              <a:off x="4183384" y="4147141"/>
              <a:ext cx="2611979" cy="1024814"/>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Network builder</a:t>
              </a:r>
            </a:p>
          </p:txBody>
        </p:sp>
        <p:sp>
          <p:nvSpPr>
            <p:cNvPr id="16" name="Freeform: Shape 15">
              <a:extLst>
                <a:ext uri="{FF2B5EF4-FFF2-40B4-BE49-F238E27FC236}">
                  <a16:creationId xmlns:a16="http://schemas.microsoft.com/office/drawing/2014/main" id="{14675FCC-3B69-4EF6-BD14-11F65B43C79A}"/>
                </a:ext>
              </a:extLst>
            </p:cNvPr>
            <p:cNvSpPr/>
            <p:nvPr/>
          </p:nvSpPr>
          <p:spPr>
            <a:xfrm>
              <a:off x="6534165" y="4147142"/>
              <a:ext cx="2611979" cy="1024812"/>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Expert Basis functions</a:t>
              </a:r>
            </a:p>
          </p:txBody>
        </p:sp>
        <p:sp>
          <p:nvSpPr>
            <p:cNvPr id="17" name="Freeform: Shape 16">
              <a:extLst>
                <a:ext uri="{FF2B5EF4-FFF2-40B4-BE49-F238E27FC236}">
                  <a16:creationId xmlns:a16="http://schemas.microsoft.com/office/drawing/2014/main" id="{E007ED46-B9B8-44AC-AAC9-494F628DA7B5}"/>
                </a:ext>
              </a:extLst>
            </p:cNvPr>
            <p:cNvSpPr/>
            <p:nvPr/>
          </p:nvSpPr>
          <p:spPr>
            <a:xfrm>
              <a:off x="8884946" y="4147144"/>
              <a:ext cx="2611979" cy="1024812"/>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RL Core </a:t>
              </a:r>
            </a:p>
          </p:txBody>
        </p:sp>
        <p:sp>
          <p:nvSpPr>
            <p:cNvPr id="18" name="TextBox 17">
              <a:extLst>
                <a:ext uri="{FF2B5EF4-FFF2-40B4-BE49-F238E27FC236}">
                  <a16:creationId xmlns:a16="http://schemas.microsoft.com/office/drawing/2014/main" id="{2F43CA85-8A83-4875-8408-913E900E8685}"/>
                </a:ext>
              </a:extLst>
            </p:cNvPr>
            <p:cNvSpPr txBox="1"/>
            <p:nvPr/>
          </p:nvSpPr>
          <p:spPr>
            <a:xfrm>
              <a:off x="1971308" y="3988831"/>
              <a:ext cx="2838845" cy="1140825"/>
            </a:xfrm>
            <a:prstGeom prst="rect">
              <a:avLst/>
            </a:prstGeom>
            <a:noFill/>
          </p:spPr>
          <p:txBody>
            <a:bodyPr wrap="square" rtlCol="0">
              <a:spAutoFit/>
            </a:bodyPr>
            <a:lstStyle/>
            <a:p>
              <a:pPr defTabSz="844550">
                <a:lnSpc>
                  <a:spcPct val="150000"/>
                </a:lnSpc>
                <a:spcBef>
                  <a:spcPct val="0"/>
                </a:spcBef>
                <a:spcAft>
                  <a:spcPct val="35000"/>
                </a:spcAft>
              </a:pPr>
              <a:r>
                <a:rPr lang="en-US" sz="2400" b="1" kern="1200" dirty="0">
                  <a:latin typeface="Calibri" panose="020F0502020204030204" pitchFamily="34" charset="0"/>
                  <a:cs typeface="Calibri" panose="020F0502020204030204" pitchFamily="34" charset="0"/>
                </a:rPr>
                <a:t>Novel algorithms: </a:t>
              </a:r>
              <a:r>
                <a:rPr lang="en-US" sz="2400" b="1" i="1" kern="1200" dirty="0">
                  <a:latin typeface="Calibri" panose="020F0502020204030204" pitchFamily="34" charset="0"/>
                  <a:cs typeface="Calibri" panose="020F0502020204030204" pitchFamily="34" charset="0"/>
                </a:rPr>
                <a:t>Patent</a:t>
              </a:r>
              <a:r>
                <a:rPr lang="en-US" sz="2400" b="1" kern="1200" dirty="0">
                  <a:latin typeface="Calibri" panose="020F0502020204030204" pitchFamily="34" charset="0"/>
                  <a:cs typeface="Calibri" panose="020F0502020204030204" pitchFamily="34" charset="0"/>
                </a:rPr>
                <a:t>-</a:t>
              </a:r>
              <a:r>
                <a:rPr lang="en-US" sz="2400" b="1" i="1" kern="1200" dirty="0">
                  <a:latin typeface="Calibri" panose="020F0502020204030204" pitchFamily="34" charset="0"/>
                  <a:cs typeface="Calibri" panose="020F0502020204030204" pitchFamily="34" charset="0"/>
                </a:rPr>
                <a:t>able</a:t>
              </a:r>
              <a:r>
                <a:rPr lang="en-US" sz="2400" b="1" kern="1200" dirty="0">
                  <a:latin typeface="Calibri" panose="020F0502020204030204" pitchFamily="34" charset="0"/>
                  <a:cs typeface="Calibri" panose="020F0502020204030204" pitchFamily="34" charset="0"/>
                </a:rPr>
                <a:t> IP</a:t>
              </a:r>
              <a:endParaRPr lang="en-US" sz="2400" b="1" dirty="0"/>
            </a:p>
          </p:txBody>
        </p:sp>
      </p:grpSp>
    </p:spTree>
    <p:extLst>
      <p:ext uri="{BB962C8B-B14F-4D97-AF65-F5344CB8AC3E}">
        <p14:creationId xmlns:p14="http://schemas.microsoft.com/office/powerpoint/2010/main" val="404646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3" grpId="0" animBg="1"/>
      <p:bldP spid="8" grpId="0" animBg="1"/>
      <p:bldP spid="15" grpId="0" animBg="1"/>
      <p:bldP spid="32" grpId="0" animBg="1"/>
      <p:bldP spid="45" grpId="0" animBg="1"/>
      <p:bldP spid="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FCD1E-C67C-41BC-939B-DE183335A1FF}"/>
              </a:ext>
            </a:extLst>
          </p:cNvPr>
          <p:cNvSpPr>
            <a:spLocks noGrp="1"/>
          </p:cNvSpPr>
          <p:nvPr>
            <p:ph type="title"/>
          </p:nvPr>
        </p:nvSpPr>
        <p:spPr/>
        <p:txBody>
          <a:bodyPr/>
          <a:lstStyle/>
          <a:p>
            <a:r>
              <a:rPr lang="en-US" dirty="0"/>
              <a:t>Commercial Viability</a:t>
            </a:r>
          </a:p>
        </p:txBody>
      </p:sp>
      <p:grpSp>
        <p:nvGrpSpPr>
          <p:cNvPr id="4" name="Group 3">
            <a:extLst>
              <a:ext uri="{FF2B5EF4-FFF2-40B4-BE49-F238E27FC236}">
                <a16:creationId xmlns:a16="http://schemas.microsoft.com/office/drawing/2014/main" id="{62B7FA28-7CBF-4EDE-8F98-F6B19E1D833B}"/>
              </a:ext>
            </a:extLst>
          </p:cNvPr>
          <p:cNvGrpSpPr/>
          <p:nvPr/>
        </p:nvGrpSpPr>
        <p:grpSpPr>
          <a:xfrm>
            <a:off x="210850" y="3429000"/>
            <a:ext cx="2782532" cy="1368247"/>
            <a:chOff x="422782" y="4760538"/>
            <a:chExt cx="2782532" cy="1368247"/>
          </a:xfrm>
        </p:grpSpPr>
        <p:sp>
          <p:nvSpPr>
            <p:cNvPr id="5" name="Freeform: Shape 4">
              <a:extLst>
                <a:ext uri="{FF2B5EF4-FFF2-40B4-BE49-F238E27FC236}">
                  <a16:creationId xmlns:a16="http://schemas.microsoft.com/office/drawing/2014/main" id="{8E026488-F523-4ECC-A901-C4FB07581B2F}"/>
                </a:ext>
              </a:extLst>
            </p:cNvPr>
            <p:cNvSpPr/>
            <p:nvPr/>
          </p:nvSpPr>
          <p:spPr>
            <a:xfrm>
              <a:off x="1274091" y="4760538"/>
              <a:ext cx="1931223"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Share Data</a:t>
              </a:r>
            </a:p>
          </p:txBody>
        </p:sp>
        <p:sp>
          <p:nvSpPr>
            <p:cNvPr id="6" name="Freeform: Shape 5">
              <a:extLst>
                <a:ext uri="{FF2B5EF4-FFF2-40B4-BE49-F238E27FC236}">
                  <a16:creationId xmlns:a16="http://schemas.microsoft.com/office/drawing/2014/main" id="{DCD0EEE3-D7B7-4685-B119-6C99814E6BA6}"/>
                </a:ext>
              </a:extLst>
            </p:cNvPr>
            <p:cNvSpPr/>
            <p:nvPr/>
          </p:nvSpPr>
          <p:spPr>
            <a:xfrm>
              <a:off x="422782" y="5053343"/>
              <a:ext cx="1160212"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Initial Agreement</a:t>
              </a:r>
            </a:p>
          </p:txBody>
        </p:sp>
      </p:grpSp>
      <p:grpSp>
        <p:nvGrpSpPr>
          <p:cNvPr id="7" name="Group 6">
            <a:extLst>
              <a:ext uri="{FF2B5EF4-FFF2-40B4-BE49-F238E27FC236}">
                <a16:creationId xmlns:a16="http://schemas.microsoft.com/office/drawing/2014/main" id="{E549D4CC-B7C6-453C-943A-0A36EB3A3C4C}"/>
              </a:ext>
            </a:extLst>
          </p:cNvPr>
          <p:cNvGrpSpPr/>
          <p:nvPr/>
        </p:nvGrpSpPr>
        <p:grpSpPr>
          <a:xfrm>
            <a:off x="3162804" y="3428559"/>
            <a:ext cx="2789942" cy="1368247"/>
            <a:chOff x="3306058" y="4760536"/>
            <a:chExt cx="2789942" cy="1368247"/>
          </a:xfrm>
        </p:grpSpPr>
        <p:sp>
          <p:nvSpPr>
            <p:cNvPr id="8" name="Freeform: Shape 7">
              <a:extLst>
                <a:ext uri="{FF2B5EF4-FFF2-40B4-BE49-F238E27FC236}">
                  <a16:creationId xmlns:a16="http://schemas.microsoft.com/office/drawing/2014/main" id="{6AE965E8-D669-4B2A-9646-EE221BFD6DDE}"/>
                </a:ext>
              </a:extLst>
            </p:cNvPr>
            <p:cNvSpPr/>
            <p:nvPr/>
          </p:nvSpPr>
          <p:spPr>
            <a:xfrm>
              <a:off x="3968598" y="4760536"/>
              <a:ext cx="212740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Validate model</a:t>
              </a:r>
            </a:p>
          </p:txBody>
        </p:sp>
        <p:sp>
          <p:nvSpPr>
            <p:cNvPr id="9" name="Freeform: Shape 8">
              <a:extLst>
                <a:ext uri="{FF2B5EF4-FFF2-40B4-BE49-F238E27FC236}">
                  <a16:creationId xmlns:a16="http://schemas.microsoft.com/office/drawing/2014/main" id="{A6D86569-6131-4B8D-B09B-5AAB516114F8}"/>
                </a:ext>
              </a:extLst>
            </p:cNvPr>
            <p:cNvSpPr/>
            <p:nvPr/>
          </p:nvSpPr>
          <p:spPr>
            <a:xfrm>
              <a:off x="3306058" y="5053342"/>
              <a:ext cx="985783"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Model Ready</a:t>
              </a:r>
            </a:p>
          </p:txBody>
        </p:sp>
      </p:grpSp>
      <p:grpSp>
        <p:nvGrpSpPr>
          <p:cNvPr id="10" name="Group 9">
            <a:extLst>
              <a:ext uri="{FF2B5EF4-FFF2-40B4-BE49-F238E27FC236}">
                <a16:creationId xmlns:a16="http://schemas.microsoft.com/office/drawing/2014/main" id="{2280DE3B-75E7-4854-A681-FBA178FA9112}"/>
              </a:ext>
            </a:extLst>
          </p:cNvPr>
          <p:cNvGrpSpPr/>
          <p:nvPr/>
        </p:nvGrpSpPr>
        <p:grpSpPr>
          <a:xfrm>
            <a:off x="6122168" y="3428558"/>
            <a:ext cx="2676126" cy="1368247"/>
            <a:chOff x="6066541" y="4760097"/>
            <a:chExt cx="2676126" cy="1368247"/>
          </a:xfrm>
        </p:grpSpPr>
        <p:sp>
          <p:nvSpPr>
            <p:cNvPr id="11" name="Freeform: Shape 10">
              <a:extLst>
                <a:ext uri="{FF2B5EF4-FFF2-40B4-BE49-F238E27FC236}">
                  <a16:creationId xmlns:a16="http://schemas.microsoft.com/office/drawing/2014/main" id="{ED287507-571D-4F71-BF23-9A6364308955}"/>
                </a:ext>
              </a:extLst>
            </p:cNvPr>
            <p:cNvSpPr/>
            <p:nvPr/>
          </p:nvSpPr>
          <p:spPr>
            <a:xfrm>
              <a:off x="6658915" y="4760097"/>
              <a:ext cx="208375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b="1" kern="1200" dirty="0">
                  <a:solidFill>
                    <a:srgbClr val="92D050"/>
                  </a:solidFill>
                  <a:latin typeface="Calibri" panose="020F0502020204030204" pitchFamily="34" charset="0"/>
                  <a:cs typeface="Calibri" panose="020F0502020204030204" pitchFamily="34" charset="0"/>
                </a:rPr>
                <a:t>Pay on Success</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Model Purchase</a:t>
              </a:r>
            </a:p>
          </p:txBody>
        </p:sp>
        <p:sp>
          <p:nvSpPr>
            <p:cNvPr id="12" name="Freeform: Shape 11">
              <a:extLst>
                <a:ext uri="{FF2B5EF4-FFF2-40B4-BE49-F238E27FC236}">
                  <a16:creationId xmlns:a16="http://schemas.microsoft.com/office/drawing/2014/main" id="{D698BF74-A221-486F-979F-537836749AD0}"/>
                </a:ext>
              </a:extLst>
            </p:cNvPr>
            <p:cNvSpPr/>
            <p:nvPr/>
          </p:nvSpPr>
          <p:spPr>
            <a:xfrm>
              <a:off x="6066541" y="5053342"/>
              <a:ext cx="924194"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Run Proven Model</a:t>
              </a:r>
            </a:p>
          </p:txBody>
        </p:sp>
      </p:grpSp>
      <p:grpSp>
        <p:nvGrpSpPr>
          <p:cNvPr id="13" name="Group 12">
            <a:extLst>
              <a:ext uri="{FF2B5EF4-FFF2-40B4-BE49-F238E27FC236}">
                <a16:creationId xmlns:a16="http://schemas.microsoft.com/office/drawing/2014/main" id="{6F5E2073-ADC2-41DB-9709-00241AF568AB}"/>
              </a:ext>
            </a:extLst>
          </p:cNvPr>
          <p:cNvGrpSpPr/>
          <p:nvPr/>
        </p:nvGrpSpPr>
        <p:grpSpPr>
          <a:xfrm>
            <a:off x="8967715" y="3428559"/>
            <a:ext cx="2805877" cy="1368247"/>
            <a:chOff x="9071494" y="4760097"/>
            <a:chExt cx="2805877" cy="1368247"/>
          </a:xfrm>
        </p:grpSpPr>
        <p:sp>
          <p:nvSpPr>
            <p:cNvPr id="14" name="Freeform: Shape 13">
              <a:extLst>
                <a:ext uri="{FF2B5EF4-FFF2-40B4-BE49-F238E27FC236}">
                  <a16:creationId xmlns:a16="http://schemas.microsoft.com/office/drawing/2014/main" id="{D5C3D758-BED6-4D7C-A2E8-3B9C72979C3A}"/>
                </a:ext>
              </a:extLst>
            </p:cNvPr>
            <p:cNvSpPr/>
            <p:nvPr/>
          </p:nvSpPr>
          <p:spPr>
            <a:xfrm>
              <a:off x="9833581" y="4760097"/>
              <a:ext cx="2043790"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Pay-per-use </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Pay-per-update</a:t>
              </a:r>
            </a:p>
          </p:txBody>
        </p:sp>
        <p:sp>
          <p:nvSpPr>
            <p:cNvPr id="15" name="Freeform: Shape 14">
              <a:extLst>
                <a:ext uri="{FF2B5EF4-FFF2-40B4-BE49-F238E27FC236}">
                  <a16:creationId xmlns:a16="http://schemas.microsoft.com/office/drawing/2014/main" id="{7B3F65CF-A268-4654-B6BC-61E9BFF201E6}"/>
                </a:ext>
              </a:extLst>
            </p:cNvPr>
            <p:cNvSpPr/>
            <p:nvPr/>
          </p:nvSpPr>
          <p:spPr>
            <a:xfrm>
              <a:off x="9071494" y="5053344"/>
              <a:ext cx="1084411"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Maintain and use</a:t>
              </a:r>
            </a:p>
          </p:txBody>
        </p:sp>
      </p:grpSp>
      <p:sp>
        <p:nvSpPr>
          <p:cNvPr id="17" name="Content Placeholder 4">
            <a:extLst>
              <a:ext uri="{FF2B5EF4-FFF2-40B4-BE49-F238E27FC236}">
                <a16:creationId xmlns:a16="http://schemas.microsoft.com/office/drawing/2014/main" id="{D1361542-276D-4A02-895B-AC7C723275DE}"/>
              </a:ext>
            </a:extLst>
          </p:cNvPr>
          <p:cNvSpPr>
            <a:spLocks noGrp="1"/>
          </p:cNvSpPr>
          <p:nvPr>
            <p:ph idx="1"/>
          </p:nvPr>
        </p:nvSpPr>
        <p:spPr>
          <a:xfrm>
            <a:off x="394447" y="1281713"/>
            <a:ext cx="11797553" cy="1679204"/>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Currently, we are a research-based academic initiative</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We are building Simulation-as-a-Service</a:t>
            </a:r>
          </a:p>
          <a:p>
            <a:pPr lvl="1"/>
            <a:r>
              <a:rPr lang="en-US" sz="2000" dirty="0">
                <a:latin typeface="Calibri" panose="020F0502020204030204" pitchFamily="34" charset="0"/>
                <a:cs typeface="Calibri" panose="020F0502020204030204" pitchFamily="34" charset="0"/>
              </a:rPr>
              <a:t>Eventually, our work can offer subscription-based and usage-based pricing</a:t>
            </a:r>
          </a:p>
          <a:p>
            <a:pPr marL="457200" lvl="1" indent="0">
              <a:buNone/>
            </a:pPr>
            <a:endParaRPr lang="en-US" sz="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E59AD61-C88E-0CB3-B714-F35C47135161}"/>
              </a:ext>
            </a:extLst>
          </p:cNvPr>
          <p:cNvSpPr txBox="1"/>
          <p:nvPr/>
        </p:nvSpPr>
        <p:spPr>
          <a:xfrm>
            <a:off x="87330" y="5704512"/>
            <a:ext cx="11884603" cy="646331"/>
          </a:xfrm>
          <a:prstGeom prst="rect">
            <a:avLst/>
          </a:prstGeom>
          <a:noFill/>
        </p:spPr>
        <p:txBody>
          <a:bodyPr wrap="square">
            <a:spAutoFit/>
          </a:bodyPr>
          <a:lstStyle/>
          <a:p>
            <a:pPr marL="201168" lvl="1" indent="0">
              <a:buNone/>
            </a:pPr>
            <a:r>
              <a:rPr lang="en-US" b="1" dirty="0"/>
              <a:t>All participants are currently working on voluntary basis without any payment and without any promises of payment, financial rewards or ownership stakes. No IP rights are being created or committed for any organization. </a:t>
            </a:r>
          </a:p>
        </p:txBody>
      </p:sp>
    </p:spTree>
    <p:extLst>
      <p:ext uri="{BB962C8B-B14F-4D97-AF65-F5344CB8AC3E}">
        <p14:creationId xmlns:p14="http://schemas.microsoft.com/office/powerpoint/2010/main" val="192997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C9CCC-0DE9-1BFD-592E-59AFFDC5E93F}"/>
              </a:ext>
            </a:extLst>
          </p:cNvPr>
          <p:cNvSpPr>
            <a:spLocks noGrp="1"/>
          </p:cNvSpPr>
          <p:nvPr>
            <p:ph type="title"/>
          </p:nvPr>
        </p:nvSpPr>
        <p:spPr>
          <a:xfrm>
            <a:off x="2383568" y="84385"/>
            <a:ext cx="9808432" cy="622960"/>
          </a:xfrm>
        </p:spPr>
        <p:txBody>
          <a:bodyPr>
            <a:normAutofit fontScale="90000"/>
          </a:bodyPr>
          <a:lstStyle/>
          <a:p>
            <a:r>
              <a:rPr lang="en-US" dirty="0"/>
              <a:t>Overall Market Opportunities</a:t>
            </a:r>
          </a:p>
        </p:txBody>
      </p:sp>
      <p:sp>
        <p:nvSpPr>
          <p:cNvPr id="4" name="Date Placeholder 3">
            <a:extLst>
              <a:ext uri="{FF2B5EF4-FFF2-40B4-BE49-F238E27FC236}">
                <a16:creationId xmlns:a16="http://schemas.microsoft.com/office/drawing/2014/main" id="{D9CEA741-D299-CBD4-55D4-B1024DB14352}"/>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6" name="Slide Number Placeholder 5">
            <a:extLst>
              <a:ext uri="{FF2B5EF4-FFF2-40B4-BE49-F238E27FC236}">
                <a16:creationId xmlns:a16="http://schemas.microsoft.com/office/drawing/2014/main" id="{6A0FF66E-102C-A420-E6D4-8AC978C09A2F}"/>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13</a:t>
            </a:fld>
            <a:endParaRPr lang="fi-FI"/>
          </a:p>
        </p:txBody>
      </p:sp>
      <p:graphicFrame>
        <p:nvGraphicFramePr>
          <p:cNvPr id="9" name="Diagram 8">
            <a:extLst>
              <a:ext uri="{FF2B5EF4-FFF2-40B4-BE49-F238E27FC236}">
                <a16:creationId xmlns:a16="http://schemas.microsoft.com/office/drawing/2014/main" id="{D6EAD127-0C51-4E1E-97B3-460C46EFBFA4}"/>
              </a:ext>
            </a:extLst>
          </p:cNvPr>
          <p:cNvGraphicFramePr/>
          <p:nvPr>
            <p:extLst>
              <p:ext uri="{D42A27DB-BD31-4B8C-83A1-F6EECF244321}">
                <p14:modId xmlns:p14="http://schemas.microsoft.com/office/powerpoint/2010/main" val="2355296414"/>
              </p:ext>
            </p:extLst>
          </p:nvPr>
        </p:nvGraphicFramePr>
        <p:xfrm>
          <a:off x="7300858" y="587074"/>
          <a:ext cx="3784448" cy="2940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800FF934-F9FC-45D2-8E3D-E052259FB61A}"/>
              </a:ext>
            </a:extLst>
          </p:cNvPr>
          <p:cNvGraphicFramePr/>
          <p:nvPr>
            <p:extLst>
              <p:ext uri="{D42A27DB-BD31-4B8C-83A1-F6EECF244321}">
                <p14:modId xmlns:p14="http://schemas.microsoft.com/office/powerpoint/2010/main" val="3939529023"/>
              </p:ext>
            </p:extLst>
          </p:nvPr>
        </p:nvGraphicFramePr>
        <p:xfrm>
          <a:off x="7282450" y="3390818"/>
          <a:ext cx="3784448" cy="29405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25" name="Group 24">
            <a:extLst>
              <a:ext uri="{FF2B5EF4-FFF2-40B4-BE49-F238E27FC236}">
                <a16:creationId xmlns:a16="http://schemas.microsoft.com/office/drawing/2014/main" id="{426843D6-F963-40EA-A84A-0E4A92E9CC3A}"/>
              </a:ext>
            </a:extLst>
          </p:cNvPr>
          <p:cNvGrpSpPr/>
          <p:nvPr/>
        </p:nvGrpSpPr>
        <p:grpSpPr>
          <a:xfrm>
            <a:off x="249095" y="2309364"/>
            <a:ext cx="5783084" cy="2681242"/>
            <a:chOff x="5937813" y="2663524"/>
            <a:chExt cx="5783084" cy="2681242"/>
          </a:xfrm>
        </p:grpSpPr>
        <p:grpSp>
          <p:nvGrpSpPr>
            <p:cNvPr id="24" name="Group 23">
              <a:extLst>
                <a:ext uri="{FF2B5EF4-FFF2-40B4-BE49-F238E27FC236}">
                  <a16:creationId xmlns:a16="http://schemas.microsoft.com/office/drawing/2014/main" id="{2E97EDB6-717E-4338-9499-B48E9006F060}"/>
                </a:ext>
              </a:extLst>
            </p:cNvPr>
            <p:cNvGrpSpPr/>
            <p:nvPr/>
          </p:nvGrpSpPr>
          <p:grpSpPr>
            <a:xfrm>
              <a:off x="5937813" y="2663524"/>
              <a:ext cx="5783084" cy="2681242"/>
              <a:chOff x="5937813" y="2663524"/>
              <a:chExt cx="5783084" cy="2681242"/>
            </a:xfrm>
          </p:grpSpPr>
          <p:sp>
            <p:nvSpPr>
              <p:cNvPr id="16" name="Hexagon 15">
                <a:extLst>
                  <a:ext uri="{FF2B5EF4-FFF2-40B4-BE49-F238E27FC236}">
                    <a16:creationId xmlns:a16="http://schemas.microsoft.com/office/drawing/2014/main" id="{608EF9E3-8A10-4146-9530-461A43056C21}"/>
                  </a:ext>
                </a:extLst>
              </p:cNvPr>
              <p:cNvSpPr/>
              <p:nvPr/>
            </p:nvSpPr>
            <p:spPr>
              <a:xfrm>
                <a:off x="5937813" y="3202506"/>
                <a:ext cx="1805084" cy="1600988"/>
              </a:xfrm>
              <a:prstGeom prst="hexagon">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a:p>
            </p:txBody>
          </p:sp>
          <p:grpSp>
            <p:nvGrpSpPr>
              <p:cNvPr id="23" name="Group 22">
                <a:extLst>
                  <a:ext uri="{FF2B5EF4-FFF2-40B4-BE49-F238E27FC236}">
                    <a16:creationId xmlns:a16="http://schemas.microsoft.com/office/drawing/2014/main" id="{856A2642-5C22-4BEA-BF23-72C3DF4BE794}"/>
                  </a:ext>
                </a:extLst>
              </p:cNvPr>
              <p:cNvGrpSpPr/>
              <p:nvPr/>
            </p:nvGrpSpPr>
            <p:grpSpPr>
              <a:xfrm>
                <a:off x="7407526" y="2663524"/>
                <a:ext cx="4313371" cy="1069985"/>
                <a:chOff x="7407526" y="2292933"/>
                <a:chExt cx="4313371" cy="1069985"/>
              </a:xfrm>
            </p:grpSpPr>
            <p:sp>
              <p:nvSpPr>
                <p:cNvPr id="17" name="Freeform: Shape 16">
                  <a:extLst>
                    <a:ext uri="{FF2B5EF4-FFF2-40B4-BE49-F238E27FC236}">
                      <a16:creationId xmlns:a16="http://schemas.microsoft.com/office/drawing/2014/main" id="{D95F2EA7-9496-44ED-AC5B-29FC73A2DCD6}"/>
                    </a:ext>
                  </a:extLst>
                </p:cNvPr>
                <p:cNvSpPr/>
                <p:nvPr/>
              </p:nvSpPr>
              <p:spPr>
                <a:xfrm>
                  <a:off x="7407526" y="2292933"/>
                  <a:ext cx="1650783" cy="1069985"/>
                </a:xfrm>
                <a:custGeom>
                  <a:avLst/>
                  <a:gdLst>
                    <a:gd name="connsiteX0" fmla="*/ 0 w 1650783"/>
                    <a:gd name="connsiteY0" fmla="*/ 534993 h 1069985"/>
                    <a:gd name="connsiteX1" fmla="*/ 267496 w 1650783"/>
                    <a:gd name="connsiteY1" fmla="*/ 0 h 1069985"/>
                    <a:gd name="connsiteX2" fmla="*/ 1383287 w 1650783"/>
                    <a:gd name="connsiteY2" fmla="*/ 0 h 1069985"/>
                    <a:gd name="connsiteX3" fmla="*/ 1650783 w 1650783"/>
                    <a:gd name="connsiteY3" fmla="*/ 534993 h 1069985"/>
                    <a:gd name="connsiteX4" fmla="*/ 1383287 w 1650783"/>
                    <a:gd name="connsiteY4" fmla="*/ 1069985 h 1069985"/>
                    <a:gd name="connsiteX5" fmla="*/ 267496 w 1650783"/>
                    <a:gd name="connsiteY5" fmla="*/ 1069985 h 1069985"/>
                    <a:gd name="connsiteX6" fmla="*/ 0 w 1650783"/>
                    <a:gd name="connsiteY6" fmla="*/ 534993 h 106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0783" h="1069985">
                      <a:moveTo>
                        <a:pt x="0" y="534993"/>
                      </a:moveTo>
                      <a:lnTo>
                        <a:pt x="267496" y="0"/>
                      </a:lnTo>
                      <a:lnTo>
                        <a:pt x="1383287" y="0"/>
                      </a:lnTo>
                      <a:lnTo>
                        <a:pt x="1650783" y="534993"/>
                      </a:lnTo>
                      <a:lnTo>
                        <a:pt x="1383287" y="1069985"/>
                      </a:lnTo>
                      <a:lnTo>
                        <a:pt x="267496" y="1069985"/>
                      </a:lnTo>
                      <a:lnTo>
                        <a:pt x="0" y="5349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39431" tIns="159660" rIns="239431" bIns="15966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panose="020F0502020204030204" pitchFamily="34" charset="0"/>
                      <a:cs typeface="Calibri" panose="020F0502020204030204" pitchFamily="34" charset="0"/>
                    </a:rPr>
                    <a:t>Portfolio</a:t>
                  </a:r>
                </a:p>
              </p:txBody>
            </p:sp>
            <p:sp>
              <p:nvSpPr>
                <p:cNvPr id="18" name="Freeform: Shape 17">
                  <a:extLst>
                    <a:ext uri="{FF2B5EF4-FFF2-40B4-BE49-F238E27FC236}">
                      <a16:creationId xmlns:a16="http://schemas.microsoft.com/office/drawing/2014/main" id="{11AA8382-F508-4BE2-9507-6E4D0634ECA0}"/>
                    </a:ext>
                  </a:extLst>
                </p:cNvPr>
                <p:cNvSpPr/>
                <p:nvPr/>
              </p:nvSpPr>
              <p:spPr>
                <a:xfrm>
                  <a:off x="9244722" y="2292933"/>
                  <a:ext cx="2476175" cy="1069985"/>
                </a:xfrm>
                <a:custGeom>
                  <a:avLst/>
                  <a:gdLst>
                    <a:gd name="connsiteX0" fmla="*/ 0 w 2476175"/>
                    <a:gd name="connsiteY0" fmla="*/ 0 h 1069985"/>
                    <a:gd name="connsiteX1" fmla="*/ 2476175 w 2476175"/>
                    <a:gd name="connsiteY1" fmla="*/ 0 h 1069985"/>
                    <a:gd name="connsiteX2" fmla="*/ 2476175 w 2476175"/>
                    <a:gd name="connsiteY2" fmla="*/ 1069985 h 1069985"/>
                    <a:gd name="connsiteX3" fmla="*/ 0 w 2476175"/>
                    <a:gd name="connsiteY3" fmla="*/ 1069985 h 1069985"/>
                    <a:gd name="connsiteX4" fmla="*/ 0 w 2476175"/>
                    <a:gd name="connsiteY4" fmla="*/ 0 h 1069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175" h="1069985">
                      <a:moveTo>
                        <a:pt x="0" y="0"/>
                      </a:moveTo>
                      <a:lnTo>
                        <a:pt x="2476175" y="0"/>
                      </a:lnTo>
                      <a:lnTo>
                        <a:pt x="2476175" y="1069985"/>
                      </a:lnTo>
                      <a:lnTo>
                        <a:pt x="0" y="1069985"/>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Process optimization</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Supply chain management</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Predictive maintenance</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Engineering Analysis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Application Operations</a:t>
                  </a:r>
                </a:p>
              </p:txBody>
            </p:sp>
          </p:grpSp>
          <p:grpSp>
            <p:nvGrpSpPr>
              <p:cNvPr id="22" name="Group 21">
                <a:extLst>
                  <a:ext uri="{FF2B5EF4-FFF2-40B4-BE49-F238E27FC236}">
                    <a16:creationId xmlns:a16="http://schemas.microsoft.com/office/drawing/2014/main" id="{597FBF42-5E3D-4EF3-9870-4F6DD5C9507E}"/>
                  </a:ext>
                </a:extLst>
              </p:cNvPr>
              <p:cNvGrpSpPr/>
              <p:nvPr/>
            </p:nvGrpSpPr>
            <p:grpSpPr>
              <a:xfrm>
                <a:off x="7407526" y="4272491"/>
                <a:ext cx="4313371" cy="1072275"/>
                <a:chOff x="7407526" y="4509547"/>
                <a:chExt cx="4313371" cy="1072275"/>
              </a:xfrm>
            </p:grpSpPr>
            <p:sp>
              <p:nvSpPr>
                <p:cNvPr id="19" name="Freeform: Shape 18">
                  <a:extLst>
                    <a:ext uri="{FF2B5EF4-FFF2-40B4-BE49-F238E27FC236}">
                      <a16:creationId xmlns:a16="http://schemas.microsoft.com/office/drawing/2014/main" id="{ED1507D4-5E3F-4CF8-8098-2455EECA18B4}"/>
                    </a:ext>
                  </a:extLst>
                </p:cNvPr>
                <p:cNvSpPr/>
                <p:nvPr/>
              </p:nvSpPr>
              <p:spPr>
                <a:xfrm>
                  <a:off x="7407526" y="4509547"/>
                  <a:ext cx="1650783" cy="1069985"/>
                </a:xfrm>
                <a:custGeom>
                  <a:avLst/>
                  <a:gdLst>
                    <a:gd name="connsiteX0" fmla="*/ 0 w 1650783"/>
                    <a:gd name="connsiteY0" fmla="*/ 534993 h 1069985"/>
                    <a:gd name="connsiteX1" fmla="*/ 267496 w 1650783"/>
                    <a:gd name="connsiteY1" fmla="*/ 0 h 1069985"/>
                    <a:gd name="connsiteX2" fmla="*/ 1383287 w 1650783"/>
                    <a:gd name="connsiteY2" fmla="*/ 0 h 1069985"/>
                    <a:gd name="connsiteX3" fmla="*/ 1650783 w 1650783"/>
                    <a:gd name="connsiteY3" fmla="*/ 534993 h 1069985"/>
                    <a:gd name="connsiteX4" fmla="*/ 1383287 w 1650783"/>
                    <a:gd name="connsiteY4" fmla="*/ 1069985 h 1069985"/>
                    <a:gd name="connsiteX5" fmla="*/ 267496 w 1650783"/>
                    <a:gd name="connsiteY5" fmla="*/ 1069985 h 1069985"/>
                    <a:gd name="connsiteX6" fmla="*/ 0 w 1650783"/>
                    <a:gd name="connsiteY6" fmla="*/ 534993 h 106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0783" h="1069985">
                      <a:moveTo>
                        <a:pt x="0" y="534993"/>
                      </a:moveTo>
                      <a:lnTo>
                        <a:pt x="267496" y="0"/>
                      </a:lnTo>
                      <a:lnTo>
                        <a:pt x="1383287" y="0"/>
                      </a:lnTo>
                      <a:lnTo>
                        <a:pt x="1650783" y="534993"/>
                      </a:lnTo>
                      <a:lnTo>
                        <a:pt x="1383287" y="1069985"/>
                      </a:lnTo>
                      <a:lnTo>
                        <a:pt x="267496" y="1069985"/>
                      </a:lnTo>
                      <a:lnTo>
                        <a:pt x="0" y="5349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38161" tIns="158390" rIns="238161" bIns="1583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Industry Sectors</a:t>
                  </a:r>
                </a:p>
              </p:txBody>
            </p:sp>
            <p:sp>
              <p:nvSpPr>
                <p:cNvPr id="20" name="Freeform: Shape 19">
                  <a:extLst>
                    <a:ext uri="{FF2B5EF4-FFF2-40B4-BE49-F238E27FC236}">
                      <a16:creationId xmlns:a16="http://schemas.microsoft.com/office/drawing/2014/main" id="{0BFFFAF5-7AE2-41A0-BF85-55299F8A9246}"/>
                    </a:ext>
                  </a:extLst>
                </p:cNvPr>
                <p:cNvSpPr/>
                <p:nvPr/>
              </p:nvSpPr>
              <p:spPr>
                <a:xfrm>
                  <a:off x="9244722" y="4511837"/>
                  <a:ext cx="2476175" cy="1069985"/>
                </a:xfrm>
                <a:custGeom>
                  <a:avLst/>
                  <a:gdLst>
                    <a:gd name="connsiteX0" fmla="*/ 0 w 2476175"/>
                    <a:gd name="connsiteY0" fmla="*/ 0 h 1069985"/>
                    <a:gd name="connsiteX1" fmla="*/ 2476175 w 2476175"/>
                    <a:gd name="connsiteY1" fmla="*/ 0 h 1069985"/>
                    <a:gd name="connsiteX2" fmla="*/ 2476175 w 2476175"/>
                    <a:gd name="connsiteY2" fmla="*/ 1069985 h 1069985"/>
                    <a:gd name="connsiteX3" fmla="*/ 0 w 2476175"/>
                    <a:gd name="connsiteY3" fmla="*/ 1069985 h 1069985"/>
                    <a:gd name="connsiteX4" fmla="*/ 0 w 2476175"/>
                    <a:gd name="connsiteY4" fmla="*/ 0 h 1069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175" h="1069985">
                      <a:moveTo>
                        <a:pt x="0" y="0"/>
                      </a:moveTo>
                      <a:lnTo>
                        <a:pt x="2476175" y="0"/>
                      </a:lnTo>
                      <a:lnTo>
                        <a:pt x="2476175" y="1069985"/>
                      </a:lnTo>
                      <a:lnTo>
                        <a:pt x="0" y="1069985"/>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Energy &amp; Utilities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Manufacturing</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Automotive</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Electronics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FMCG</a:t>
                  </a:r>
                </a:p>
              </p:txBody>
            </p:sp>
          </p:grpSp>
        </p:grpSp>
        <p:sp>
          <p:nvSpPr>
            <p:cNvPr id="21" name="TextBox 20">
              <a:extLst>
                <a:ext uri="{FF2B5EF4-FFF2-40B4-BE49-F238E27FC236}">
                  <a16:creationId xmlns:a16="http://schemas.microsoft.com/office/drawing/2014/main" id="{DF7FB48F-F40E-49AC-90CB-B5964B977BC3}"/>
                </a:ext>
              </a:extLst>
            </p:cNvPr>
            <p:cNvSpPr txBox="1"/>
            <p:nvPr/>
          </p:nvSpPr>
          <p:spPr>
            <a:xfrm>
              <a:off x="6192453" y="3552957"/>
              <a:ext cx="1307942" cy="923330"/>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Industry and Market Segments</a:t>
              </a:r>
            </a:p>
          </p:txBody>
        </p:sp>
      </p:grpSp>
      <p:cxnSp>
        <p:nvCxnSpPr>
          <p:cNvPr id="27" name="Straight Connector 26">
            <a:extLst>
              <a:ext uri="{FF2B5EF4-FFF2-40B4-BE49-F238E27FC236}">
                <a16:creationId xmlns:a16="http://schemas.microsoft.com/office/drawing/2014/main" id="{F98CF2F8-6AD8-4D89-B04C-64C7F1AE51CB}"/>
              </a:ext>
            </a:extLst>
          </p:cNvPr>
          <p:cNvCxnSpPr/>
          <p:nvPr/>
        </p:nvCxnSpPr>
        <p:spPr>
          <a:xfrm>
            <a:off x="6313467" y="1756130"/>
            <a:ext cx="0" cy="3785420"/>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340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1"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BE1DF-EF75-3430-BEAE-B4F6AD7797C6}"/>
              </a:ext>
            </a:extLst>
          </p:cNvPr>
          <p:cNvSpPr>
            <a:spLocks noGrp="1"/>
          </p:cNvSpPr>
          <p:nvPr>
            <p:ph type="title"/>
          </p:nvPr>
        </p:nvSpPr>
        <p:spPr>
          <a:xfrm>
            <a:off x="4507326" y="-30495"/>
            <a:ext cx="3177347" cy="827656"/>
          </a:xfrm>
        </p:spPr>
        <p:txBody>
          <a:bodyPr/>
          <a:lstStyle/>
          <a:p>
            <a:r>
              <a:rPr lang="en-US" dirty="0"/>
              <a:t>Competitors</a:t>
            </a:r>
            <a:endParaRPr lang="en-US" b="0" dirty="0">
              <a:solidFill>
                <a:srgbClr val="000000"/>
              </a:solidFill>
            </a:endParaRPr>
          </a:p>
        </p:txBody>
      </p:sp>
      <p:sp>
        <p:nvSpPr>
          <p:cNvPr id="4" name="Date Placeholder 3">
            <a:extLst>
              <a:ext uri="{FF2B5EF4-FFF2-40B4-BE49-F238E27FC236}">
                <a16:creationId xmlns:a16="http://schemas.microsoft.com/office/drawing/2014/main" id="{5D15C163-2B11-0EB6-99C6-5F87093ED59E}"/>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6" name="Slide Number Placeholder 5">
            <a:extLst>
              <a:ext uri="{FF2B5EF4-FFF2-40B4-BE49-F238E27FC236}">
                <a16:creationId xmlns:a16="http://schemas.microsoft.com/office/drawing/2014/main" id="{675A91DE-53DC-B1C2-51D4-90C6E4BCD102}"/>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14</a:t>
            </a:fld>
            <a:endParaRPr lang="fi-FI"/>
          </a:p>
        </p:txBody>
      </p:sp>
      <p:graphicFrame>
        <p:nvGraphicFramePr>
          <p:cNvPr id="3" name="Diagram 2">
            <a:extLst>
              <a:ext uri="{FF2B5EF4-FFF2-40B4-BE49-F238E27FC236}">
                <a16:creationId xmlns:a16="http://schemas.microsoft.com/office/drawing/2014/main" id="{601D8712-7577-452B-9D6B-9FB2F363BB44}"/>
              </a:ext>
            </a:extLst>
          </p:cNvPr>
          <p:cNvGraphicFramePr/>
          <p:nvPr>
            <p:extLst>
              <p:ext uri="{D42A27DB-BD31-4B8C-83A1-F6EECF244321}">
                <p14:modId xmlns:p14="http://schemas.microsoft.com/office/powerpoint/2010/main" val="1824453532"/>
              </p:ext>
            </p:extLst>
          </p:nvPr>
        </p:nvGraphicFramePr>
        <p:xfrm>
          <a:off x="-1222203" y="1022490"/>
          <a:ext cx="7520561" cy="4891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5AE4D96-D2D3-4E13-A900-75FD40DCA2DC}"/>
              </a:ext>
            </a:extLst>
          </p:cNvPr>
          <p:cNvSpPr txBox="1"/>
          <p:nvPr/>
        </p:nvSpPr>
        <p:spPr>
          <a:xfrm>
            <a:off x="3151762" y="1313234"/>
            <a:ext cx="2509736" cy="617733"/>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MS Azure Digital Twin Platform</a:t>
            </a:r>
          </a:p>
          <a:p>
            <a:pPr>
              <a:lnSpc>
                <a:spcPct val="150000"/>
              </a:lnSpc>
            </a:pPr>
            <a:r>
              <a:rPr lang="en-US" sz="1200" dirty="0">
                <a:latin typeface="Calibri" panose="020F0502020204030204" pitchFamily="34" charset="0"/>
                <a:cs typeface="Calibri" panose="020F0502020204030204" pitchFamily="34" charset="0"/>
              </a:rPr>
              <a:t>IBM Watson</a:t>
            </a:r>
          </a:p>
        </p:txBody>
      </p:sp>
      <p:sp>
        <p:nvSpPr>
          <p:cNvPr id="9" name="TextBox 8">
            <a:extLst>
              <a:ext uri="{FF2B5EF4-FFF2-40B4-BE49-F238E27FC236}">
                <a16:creationId xmlns:a16="http://schemas.microsoft.com/office/drawing/2014/main" id="{BDDB78EB-910A-437A-AEFC-6D6DE5326B94}"/>
              </a:ext>
            </a:extLst>
          </p:cNvPr>
          <p:cNvSpPr txBox="1"/>
          <p:nvPr/>
        </p:nvSpPr>
        <p:spPr>
          <a:xfrm>
            <a:off x="3443592" y="3946291"/>
            <a:ext cx="2509736" cy="617733"/>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Ansys Digital Twin Solution</a:t>
            </a:r>
          </a:p>
          <a:p>
            <a:pPr>
              <a:lnSpc>
                <a:spcPct val="150000"/>
              </a:lnSpc>
            </a:pPr>
            <a:r>
              <a:rPr lang="en-US" sz="1200" dirty="0">
                <a:latin typeface="Calibri" panose="020F0502020204030204" pitchFamily="34" charset="0"/>
                <a:cs typeface="Calibri" panose="020F0502020204030204" pitchFamily="34" charset="0"/>
              </a:rPr>
              <a:t>PTC </a:t>
            </a:r>
            <a:r>
              <a:rPr lang="en-US" sz="1200" dirty="0" err="1">
                <a:latin typeface="Calibri" panose="020F0502020204030204" pitchFamily="34" charset="0"/>
                <a:cs typeface="Calibri" panose="020F0502020204030204" pitchFamily="34" charset="0"/>
              </a:rPr>
              <a:t>Thingworx</a:t>
            </a:r>
            <a:endParaRPr lang="en-US" sz="12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386D276-D23C-4C65-9277-C8E871A61A0C}"/>
              </a:ext>
            </a:extLst>
          </p:cNvPr>
          <p:cNvSpPr txBox="1"/>
          <p:nvPr/>
        </p:nvSpPr>
        <p:spPr>
          <a:xfrm>
            <a:off x="121033" y="2310349"/>
            <a:ext cx="1162176" cy="617733"/>
          </a:xfrm>
          <a:prstGeom prst="rect">
            <a:avLst/>
          </a:prstGeom>
          <a:noFill/>
        </p:spPr>
        <p:txBody>
          <a:bodyPr wrap="square" rtlCol="0">
            <a:spAutoFit/>
          </a:bodyPr>
          <a:lstStyle>
            <a:defPPr>
              <a:defRPr lang="fi-FI"/>
            </a:defPPr>
            <a:lvl1pPr>
              <a:lnSpc>
                <a:spcPct val="150000"/>
              </a:lnSpc>
              <a:defRPr sz="1200">
                <a:latin typeface="Calibri" panose="020F0502020204030204" pitchFamily="34" charset="0"/>
                <a:cs typeface="Calibri" panose="020F0502020204030204" pitchFamily="34" charset="0"/>
              </a:defRPr>
            </a:lvl1pPr>
          </a:lstStyle>
          <a:p>
            <a:r>
              <a:rPr lang="en-US" dirty="0" err="1"/>
              <a:t>Cognascents</a:t>
            </a:r>
            <a:endParaRPr lang="en-US" dirty="0"/>
          </a:p>
          <a:p>
            <a:r>
              <a:rPr lang="en-US" dirty="0" err="1"/>
              <a:t>ProSims</a:t>
            </a:r>
            <a:endParaRPr lang="en-US" dirty="0"/>
          </a:p>
        </p:txBody>
      </p:sp>
      <p:sp>
        <p:nvSpPr>
          <p:cNvPr id="12" name="TextBox 11">
            <a:extLst>
              <a:ext uri="{FF2B5EF4-FFF2-40B4-BE49-F238E27FC236}">
                <a16:creationId xmlns:a16="http://schemas.microsoft.com/office/drawing/2014/main" id="{B799CF8F-C45C-46B5-A5AD-30ECED385FAD}"/>
              </a:ext>
            </a:extLst>
          </p:cNvPr>
          <p:cNvSpPr txBox="1"/>
          <p:nvPr/>
        </p:nvSpPr>
        <p:spPr>
          <a:xfrm>
            <a:off x="1283209" y="4825584"/>
            <a:ext cx="2509736" cy="1171731"/>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Silo.AI</a:t>
            </a:r>
          </a:p>
          <a:p>
            <a:pPr>
              <a:lnSpc>
                <a:spcPct val="150000"/>
              </a:lnSpc>
            </a:pPr>
            <a:r>
              <a:rPr lang="en-US" sz="1200" dirty="0" err="1">
                <a:latin typeface="Calibri" panose="020F0502020204030204" pitchFamily="34" charset="0"/>
                <a:cs typeface="Calibri" panose="020F0502020204030204" pitchFamily="34" charset="0"/>
              </a:rPr>
              <a:t>Reaktor</a:t>
            </a:r>
            <a:endParaRPr lang="en-US" sz="1200" dirty="0">
              <a:latin typeface="Calibri" panose="020F0502020204030204" pitchFamily="34" charset="0"/>
              <a:cs typeface="Calibri" panose="020F0502020204030204" pitchFamily="34" charset="0"/>
            </a:endParaRPr>
          </a:p>
          <a:p>
            <a:pPr>
              <a:lnSpc>
                <a:spcPct val="150000"/>
              </a:lnSpc>
            </a:pPr>
            <a:r>
              <a:rPr lang="en-US" sz="1200" dirty="0" err="1">
                <a:latin typeface="Calibri" panose="020F0502020204030204" pitchFamily="34" charset="0"/>
                <a:cs typeface="Calibri" panose="020F0502020204030204" pitchFamily="34" charset="0"/>
              </a:rPr>
              <a:t>Futurice</a:t>
            </a:r>
            <a:endParaRPr lang="en-US" sz="1200" dirty="0">
              <a:latin typeface="Calibri" panose="020F0502020204030204" pitchFamily="34" charset="0"/>
              <a:cs typeface="Calibri" panose="020F0502020204030204" pitchFamily="34" charset="0"/>
            </a:endParaRPr>
          </a:p>
          <a:p>
            <a:pPr>
              <a:lnSpc>
                <a:spcPct val="150000"/>
              </a:lnSpc>
            </a:pPr>
            <a:r>
              <a:rPr lang="en-US" sz="1200" dirty="0" err="1">
                <a:latin typeface="Calibri" panose="020F0502020204030204" pitchFamily="34" charset="0"/>
                <a:cs typeface="Calibri" panose="020F0502020204030204" pitchFamily="34" charset="0"/>
              </a:rPr>
              <a:t>Valohai</a:t>
            </a:r>
            <a:endParaRPr lang="en-US" sz="1200" dirty="0">
              <a:latin typeface="Calibri" panose="020F0502020204030204" pitchFamily="34" charset="0"/>
              <a:cs typeface="Calibri" panose="020F0502020204030204" pitchFamily="34" charset="0"/>
            </a:endParaRPr>
          </a:p>
        </p:txBody>
      </p:sp>
      <p:graphicFrame>
        <p:nvGraphicFramePr>
          <p:cNvPr id="14" name="Chart 13">
            <a:extLst>
              <a:ext uri="{FF2B5EF4-FFF2-40B4-BE49-F238E27FC236}">
                <a16:creationId xmlns:a16="http://schemas.microsoft.com/office/drawing/2014/main" id="{C82B4806-C364-4AAC-AF3A-5A34B16D01F0}"/>
              </a:ext>
            </a:extLst>
          </p:cNvPr>
          <p:cNvGraphicFramePr/>
          <p:nvPr>
            <p:extLst>
              <p:ext uri="{D42A27DB-BD31-4B8C-83A1-F6EECF244321}">
                <p14:modId xmlns:p14="http://schemas.microsoft.com/office/powerpoint/2010/main" val="58352529"/>
              </p:ext>
            </p:extLst>
          </p:nvPr>
        </p:nvGraphicFramePr>
        <p:xfrm>
          <a:off x="5577844" y="1265822"/>
          <a:ext cx="6776716" cy="4891927"/>
        </p:xfrm>
        <a:graphic>
          <a:graphicData uri="http://schemas.openxmlformats.org/drawingml/2006/chart">
            <c:chart xmlns:c="http://schemas.openxmlformats.org/drawingml/2006/chart" xmlns:r="http://schemas.openxmlformats.org/officeDocument/2006/relationships" r:id="rId7"/>
          </a:graphicData>
        </a:graphic>
      </p:graphicFrame>
      <p:cxnSp>
        <p:nvCxnSpPr>
          <p:cNvPr id="17" name="Straight Connector 16">
            <a:extLst>
              <a:ext uri="{FF2B5EF4-FFF2-40B4-BE49-F238E27FC236}">
                <a16:creationId xmlns:a16="http://schemas.microsoft.com/office/drawing/2014/main" id="{DF44B0AC-62E9-4506-B22A-242DF1676578}"/>
              </a:ext>
            </a:extLst>
          </p:cNvPr>
          <p:cNvCxnSpPr>
            <a:cxnSpLocks/>
          </p:cNvCxnSpPr>
          <p:nvPr/>
        </p:nvCxnSpPr>
        <p:spPr>
          <a:xfrm>
            <a:off x="6060903" y="1186914"/>
            <a:ext cx="0" cy="4648596"/>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7769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7" grpId="0"/>
      <p:bldP spid="9" grpId="0"/>
      <p:bldP spid="11" grpId="0"/>
      <p:bldP spid="12" grpId="0"/>
      <p:bldGraphic spid="1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6C0A9A40-9C8E-44A4-9CB1-D183AFF6C04D}"/>
              </a:ext>
            </a:extLst>
          </p:cNvPr>
          <p:cNvCxnSpPr>
            <a:cxnSpLocks/>
          </p:cNvCxnSpPr>
          <p:nvPr/>
        </p:nvCxnSpPr>
        <p:spPr>
          <a:xfrm>
            <a:off x="6995069" y="3927818"/>
            <a:ext cx="0" cy="436371"/>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9046" y="103839"/>
            <a:ext cx="4318450" cy="819640"/>
          </a:xfrm>
        </p:spPr>
        <p:txBody>
          <a:bodyPr>
            <a:normAutofit/>
          </a:bodyPr>
          <a:lstStyle/>
          <a:p>
            <a:r>
              <a:rPr lang="fi-FI" sz="4000" dirty="0" err="1"/>
              <a:t>Planned</a:t>
            </a:r>
            <a:r>
              <a:rPr lang="fi-FI" sz="4000" dirty="0"/>
              <a:t> </a:t>
            </a:r>
            <a:r>
              <a:rPr lang="fi-FI" sz="4000" dirty="0" err="1"/>
              <a:t>Milestones</a:t>
            </a:r>
            <a:endParaRPr lang="fi-FI" sz="4000" dirty="0"/>
          </a:p>
        </p:txBody>
      </p:sp>
      <p:grpSp>
        <p:nvGrpSpPr>
          <p:cNvPr id="20" name="Group 19">
            <a:extLst>
              <a:ext uri="{FF2B5EF4-FFF2-40B4-BE49-F238E27FC236}">
                <a16:creationId xmlns:a16="http://schemas.microsoft.com/office/drawing/2014/main" id="{8CC43092-98CC-4867-84CC-CBBD2D64D235}"/>
              </a:ext>
            </a:extLst>
          </p:cNvPr>
          <p:cNvGrpSpPr/>
          <p:nvPr/>
        </p:nvGrpSpPr>
        <p:grpSpPr>
          <a:xfrm>
            <a:off x="4311358" y="67979"/>
            <a:ext cx="5920668" cy="3225675"/>
            <a:chOff x="4699561" y="663383"/>
            <a:chExt cx="5172024" cy="3225675"/>
          </a:xfrm>
        </p:grpSpPr>
        <p:sp>
          <p:nvSpPr>
            <p:cNvPr id="21" name="Shape 20">
              <a:extLst>
                <a:ext uri="{FF2B5EF4-FFF2-40B4-BE49-F238E27FC236}">
                  <a16:creationId xmlns:a16="http://schemas.microsoft.com/office/drawing/2014/main" id="{CC5927EA-7688-4CAC-98D4-ABC3CBE33B78}"/>
                </a:ext>
              </a:extLst>
            </p:cNvPr>
            <p:cNvSpPr/>
            <p:nvPr/>
          </p:nvSpPr>
          <p:spPr>
            <a:xfrm>
              <a:off x="4710504" y="663383"/>
              <a:ext cx="5161081" cy="3225675"/>
            </a:xfrm>
            <a:prstGeom prst="swooshArrow">
              <a:avLst>
                <a:gd name="adj1" fmla="val 25000"/>
                <a:gd name="adj2" fmla="val 25000"/>
              </a:avLst>
            </a:prstGeom>
            <a:solidFill>
              <a:srgbClr val="FFFFCC"/>
            </a:solidFill>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Oval 21">
              <a:extLst>
                <a:ext uri="{FF2B5EF4-FFF2-40B4-BE49-F238E27FC236}">
                  <a16:creationId xmlns:a16="http://schemas.microsoft.com/office/drawing/2014/main" id="{BF3FACFA-522C-4E24-9C08-B31E2B265CFC}"/>
                </a:ext>
              </a:extLst>
            </p:cNvPr>
            <p:cNvSpPr/>
            <p:nvPr/>
          </p:nvSpPr>
          <p:spPr>
            <a:xfrm>
              <a:off x="5218870" y="3061996"/>
              <a:ext cx="118704" cy="118704"/>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3" name="Freeform: Shape 22">
              <a:extLst>
                <a:ext uri="{FF2B5EF4-FFF2-40B4-BE49-F238E27FC236}">
                  <a16:creationId xmlns:a16="http://schemas.microsoft.com/office/drawing/2014/main" id="{B4F4A2BB-F2D3-43CE-B071-38E9ADF1544E}"/>
                </a:ext>
              </a:extLst>
            </p:cNvPr>
            <p:cNvSpPr/>
            <p:nvPr/>
          </p:nvSpPr>
          <p:spPr>
            <a:xfrm>
              <a:off x="4699561" y="3251685"/>
              <a:ext cx="1503656" cy="426434"/>
            </a:xfrm>
            <a:custGeom>
              <a:avLst/>
              <a:gdLst>
                <a:gd name="connsiteX0" fmla="*/ 0 w 882544"/>
                <a:gd name="connsiteY0" fmla="*/ 0 h 767710"/>
                <a:gd name="connsiteX1" fmla="*/ 882544 w 882544"/>
                <a:gd name="connsiteY1" fmla="*/ 0 h 767710"/>
                <a:gd name="connsiteX2" fmla="*/ 882544 w 882544"/>
                <a:gd name="connsiteY2" fmla="*/ 767710 h 767710"/>
                <a:gd name="connsiteX3" fmla="*/ 0 w 882544"/>
                <a:gd name="connsiteY3" fmla="*/ 767710 h 767710"/>
                <a:gd name="connsiteX4" fmla="*/ 0 w 882544"/>
                <a:gd name="connsiteY4" fmla="*/ 0 h 76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44" h="767710">
                  <a:moveTo>
                    <a:pt x="0" y="0"/>
                  </a:moveTo>
                  <a:lnTo>
                    <a:pt x="882544" y="0"/>
                  </a:lnTo>
                  <a:lnTo>
                    <a:pt x="882544" y="767710"/>
                  </a:lnTo>
                  <a:lnTo>
                    <a:pt x="0" y="76771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2899"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Validate stand-alone Industry-specific models</a:t>
              </a:r>
            </a:p>
          </p:txBody>
        </p:sp>
        <p:sp>
          <p:nvSpPr>
            <p:cNvPr id="24" name="Oval 23">
              <a:extLst>
                <a:ext uri="{FF2B5EF4-FFF2-40B4-BE49-F238E27FC236}">
                  <a16:creationId xmlns:a16="http://schemas.microsoft.com/office/drawing/2014/main" id="{2837ABCC-0CA5-40A5-9FD1-E13947384FFB}"/>
                </a:ext>
              </a:extLst>
            </p:cNvPr>
            <p:cNvSpPr/>
            <p:nvPr/>
          </p:nvSpPr>
          <p:spPr>
            <a:xfrm>
              <a:off x="6057546" y="2311703"/>
              <a:ext cx="206443" cy="206443"/>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5" name="Freeform: Shape 24">
              <a:extLst>
                <a:ext uri="{FF2B5EF4-FFF2-40B4-BE49-F238E27FC236}">
                  <a16:creationId xmlns:a16="http://schemas.microsoft.com/office/drawing/2014/main" id="{E63BDC40-5D94-4460-9E66-7475796794C2}"/>
                </a:ext>
              </a:extLst>
            </p:cNvPr>
            <p:cNvSpPr/>
            <p:nvPr/>
          </p:nvSpPr>
          <p:spPr>
            <a:xfrm>
              <a:off x="5576782" y="2604181"/>
              <a:ext cx="1186944" cy="419766"/>
            </a:xfrm>
            <a:custGeom>
              <a:avLst/>
              <a:gdLst>
                <a:gd name="connsiteX0" fmla="*/ 0 w 1083827"/>
                <a:gd name="connsiteY0" fmla="*/ 0 h 1474133"/>
                <a:gd name="connsiteX1" fmla="*/ 1083827 w 1083827"/>
                <a:gd name="connsiteY1" fmla="*/ 0 h 1474133"/>
                <a:gd name="connsiteX2" fmla="*/ 1083827 w 1083827"/>
                <a:gd name="connsiteY2" fmla="*/ 1474133 h 1474133"/>
                <a:gd name="connsiteX3" fmla="*/ 0 w 1083827"/>
                <a:gd name="connsiteY3" fmla="*/ 1474133 h 1474133"/>
                <a:gd name="connsiteX4" fmla="*/ 0 w 1083827"/>
                <a:gd name="connsiteY4" fmla="*/ 0 h 1474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1474133">
                  <a:moveTo>
                    <a:pt x="0" y="0"/>
                  </a:moveTo>
                  <a:lnTo>
                    <a:pt x="1083827" y="0"/>
                  </a:lnTo>
                  <a:lnTo>
                    <a:pt x="1083827" y="1474133"/>
                  </a:lnTo>
                  <a:lnTo>
                    <a:pt x="0" y="147413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9390"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Validate integration with overall core</a:t>
              </a:r>
            </a:p>
          </p:txBody>
        </p:sp>
        <p:sp>
          <p:nvSpPr>
            <p:cNvPr id="26" name="Oval 25">
              <a:extLst>
                <a:ext uri="{FF2B5EF4-FFF2-40B4-BE49-F238E27FC236}">
                  <a16:creationId xmlns:a16="http://schemas.microsoft.com/office/drawing/2014/main" id="{30AF6FBC-6D4F-4D56-AA7F-FFFF63627203}"/>
                </a:ext>
              </a:extLst>
            </p:cNvPr>
            <p:cNvSpPr/>
            <p:nvPr/>
          </p:nvSpPr>
          <p:spPr>
            <a:xfrm>
              <a:off x="7269369" y="1733587"/>
              <a:ext cx="273537" cy="273537"/>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7" name="Freeform: Shape 26">
              <a:extLst>
                <a:ext uri="{FF2B5EF4-FFF2-40B4-BE49-F238E27FC236}">
                  <a16:creationId xmlns:a16="http://schemas.microsoft.com/office/drawing/2014/main" id="{1735F2EF-F6FF-41D5-8366-3FBAE9C71F54}"/>
                </a:ext>
              </a:extLst>
            </p:cNvPr>
            <p:cNvSpPr/>
            <p:nvPr/>
          </p:nvSpPr>
          <p:spPr>
            <a:xfrm>
              <a:off x="6726166" y="2036454"/>
              <a:ext cx="1380358" cy="455646"/>
            </a:xfrm>
            <a:custGeom>
              <a:avLst/>
              <a:gdLst>
                <a:gd name="connsiteX0" fmla="*/ 0 w 1083827"/>
                <a:gd name="connsiteY0" fmla="*/ 0 h 1993467"/>
                <a:gd name="connsiteX1" fmla="*/ 1083827 w 1083827"/>
                <a:gd name="connsiteY1" fmla="*/ 0 h 1993467"/>
                <a:gd name="connsiteX2" fmla="*/ 1083827 w 1083827"/>
                <a:gd name="connsiteY2" fmla="*/ 1993467 h 1993467"/>
                <a:gd name="connsiteX3" fmla="*/ 0 w 1083827"/>
                <a:gd name="connsiteY3" fmla="*/ 1993467 h 1993467"/>
                <a:gd name="connsiteX4" fmla="*/ 0 w 1083827"/>
                <a:gd name="connsiteY4" fmla="*/ 0 h 1993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1993467">
                  <a:moveTo>
                    <a:pt x="0" y="0"/>
                  </a:moveTo>
                  <a:lnTo>
                    <a:pt x="1083827" y="0"/>
                  </a:lnTo>
                  <a:lnTo>
                    <a:pt x="1083827" y="1993467"/>
                  </a:lnTo>
                  <a:lnTo>
                    <a:pt x="0" y="1993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942"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Auto-train to adapt to changed data</a:t>
              </a:r>
            </a:p>
          </p:txBody>
        </p:sp>
        <p:sp>
          <p:nvSpPr>
            <p:cNvPr id="28" name="Oval 27">
              <a:extLst>
                <a:ext uri="{FF2B5EF4-FFF2-40B4-BE49-F238E27FC236}">
                  <a16:creationId xmlns:a16="http://schemas.microsoft.com/office/drawing/2014/main" id="{3325A939-22E3-4386-95E4-D77239A03EF6}"/>
                </a:ext>
              </a:extLst>
            </p:cNvPr>
            <p:cNvSpPr/>
            <p:nvPr/>
          </p:nvSpPr>
          <p:spPr>
            <a:xfrm>
              <a:off x="8404398" y="1350631"/>
              <a:ext cx="366436" cy="366436"/>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9" name="Freeform: Shape 28">
              <a:extLst>
                <a:ext uri="{FF2B5EF4-FFF2-40B4-BE49-F238E27FC236}">
                  <a16:creationId xmlns:a16="http://schemas.microsoft.com/office/drawing/2014/main" id="{DCC288AE-7E95-47BA-A18E-058F9A9E7C68}"/>
                </a:ext>
              </a:extLst>
            </p:cNvPr>
            <p:cNvSpPr/>
            <p:nvPr/>
          </p:nvSpPr>
          <p:spPr>
            <a:xfrm>
              <a:off x="7893621" y="1761409"/>
              <a:ext cx="1368592" cy="366436"/>
            </a:xfrm>
            <a:custGeom>
              <a:avLst/>
              <a:gdLst>
                <a:gd name="connsiteX0" fmla="*/ 0 w 1083827"/>
                <a:gd name="connsiteY0" fmla="*/ 0 h 2312809"/>
                <a:gd name="connsiteX1" fmla="*/ 1083827 w 1083827"/>
                <a:gd name="connsiteY1" fmla="*/ 0 h 2312809"/>
                <a:gd name="connsiteX2" fmla="*/ 1083827 w 1083827"/>
                <a:gd name="connsiteY2" fmla="*/ 2312809 h 2312809"/>
                <a:gd name="connsiteX3" fmla="*/ 0 w 1083827"/>
                <a:gd name="connsiteY3" fmla="*/ 2312809 h 2312809"/>
                <a:gd name="connsiteX4" fmla="*/ 0 w 1083827"/>
                <a:gd name="connsiteY4" fmla="*/ 0 h 2312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2312809">
                  <a:moveTo>
                    <a:pt x="0" y="0"/>
                  </a:moveTo>
                  <a:lnTo>
                    <a:pt x="1083827" y="0"/>
                  </a:lnTo>
                  <a:lnTo>
                    <a:pt x="1083827" y="2312809"/>
                  </a:lnTo>
                  <a:lnTo>
                    <a:pt x="0" y="231280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4167"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Prove the flexible optimizer</a:t>
              </a:r>
            </a:p>
          </p:txBody>
        </p:sp>
      </p:grpSp>
      <p:grpSp>
        <p:nvGrpSpPr>
          <p:cNvPr id="30" name="Group 29">
            <a:extLst>
              <a:ext uri="{FF2B5EF4-FFF2-40B4-BE49-F238E27FC236}">
                <a16:creationId xmlns:a16="http://schemas.microsoft.com/office/drawing/2014/main" id="{03484941-50D7-4144-AB79-8E1388B8A51D}"/>
              </a:ext>
            </a:extLst>
          </p:cNvPr>
          <p:cNvGrpSpPr/>
          <p:nvPr/>
        </p:nvGrpSpPr>
        <p:grpSpPr>
          <a:xfrm>
            <a:off x="6354446" y="2087061"/>
            <a:ext cx="5837554" cy="3147391"/>
            <a:chOff x="4709540" y="3102957"/>
            <a:chExt cx="5099417" cy="3147391"/>
          </a:xfrm>
        </p:grpSpPr>
        <p:sp>
          <p:nvSpPr>
            <p:cNvPr id="31" name="Shape 30">
              <a:extLst>
                <a:ext uri="{FF2B5EF4-FFF2-40B4-BE49-F238E27FC236}">
                  <a16:creationId xmlns:a16="http://schemas.microsoft.com/office/drawing/2014/main" id="{52096191-2507-4E39-A314-F1BB9A2A1A9B}"/>
                </a:ext>
              </a:extLst>
            </p:cNvPr>
            <p:cNvSpPr/>
            <p:nvPr/>
          </p:nvSpPr>
          <p:spPr>
            <a:xfrm>
              <a:off x="4773131" y="3102957"/>
              <a:ext cx="5035826" cy="3147391"/>
            </a:xfrm>
            <a:prstGeom prst="swooshArrow">
              <a:avLst>
                <a:gd name="adj1" fmla="val 25000"/>
                <a:gd name="adj2" fmla="val 25000"/>
              </a:avLst>
            </a:prstGeom>
            <a:solidFill>
              <a:srgbClr val="99CCFF"/>
            </a:solidFill>
          </p:spPr>
          <p:style>
            <a:lnRef idx="0">
              <a:schemeClr val="accent6">
                <a:hueOff val="0"/>
                <a:satOff val="0"/>
                <a:lumOff val="0"/>
                <a:alphaOff val="0"/>
              </a:schemeClr>
            </a:lnRef>
            <a:fillRef idx="1">
              <a:schemeClr val="accent6">
                <a:tint val="40000"/>
                <a:hueOff val="0"/>
                <a:satOff val="0"/>
                <a:lumOff val="0"/>
                <a:alphaOff val="0"/>
              </a:schemeClr>
            </a:fillRef>
            <a:effectRef idx="0">
              <a:schemeClr val="accent6">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2" name="Oval 31">
              <a:extLst>
                <a:ext uri="{FF2B5EF4-FFF2-40B4-BE49-F238E27FC236}">
                  <a16:creationId xmlns:a16="http://schemas.microsoft.com/office/drawing/2014/main" id="{896BF2F6-A6BB-4149-978A-60289AE61665}"/>
                </a:ext>
              </a:extLst>
            </p:cNvPr>
            <p:cNvSpPr/>
            <p:nvPr/>
          </p:nvSpPr>
          <p:spPr>
            <a:xfrm>
              <a:off x="5269159" y="5443357"/>
              <a:ext cx="115823" cy="11582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3" name="Freeform: Shape 32">
              <a:extLst>
                <a:ext uri="{FF2B5EF4-FFF2-40B4-BE49-F238E27FC236}">
                  <a16:creationId xmlns:a16="http://schemas.microsoft.com/office/drawing/2014/main" id="{46DF1B16-58DE-418A-8430-E1FCA64B6DDD}"/>
                </a:ext>
              </a:extLst>
            </p:cNvPr>
            <p:cNvSpPr/>
            <p:nvPr/>
          </p:nvSpPr>
          <p:spPr>
            <a:xfrm>
              <a:off x="4709540" y="5634164"/>
              <a:ext cx="1198327" cy="474564"/>
            </a:xfrm>
            <a:custGeom>
              <a:avLst/>
              <a:gdLst>
                <a:gd name="connsiteX0" fmla="*/ 0 w 861126"/>
                <a:gd name="connsiteY0" fmla="*/ 0 h 749079"/>
                <a:gd name="connsiteX1" fmla="*/ 861126 w 861126"/>
                <a:gd name="connsiteY1" fmla="*/ 0 h 749079"/>
                <a:gd name="connsiteX2" fmla="*/ 861126 w 861126"/>
                <a:gd name="connsiteY2" fmla="*/ 749079 h 749079"/>
                <a:gd name="connsiteX3" fmla="*/ 0 w 861126"/>
                <a:gd name="connsiteY3" fmla="*/ 749079 h 749079"/>
                <a:gd name="connsiteX4" fmla="*/ 0 w 861126"/>
                <a:gd name="connsiteY4" fmla="*/ 0 h 749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126" h="749079">
                  <a:moveTo>
                    <a:pt x="0" y="0"/>
                  </a:moveTo>
                  <a:lnTo>
                    <a:pt x="861126" y="0"/>
                  </a:lnTo>
                  <a:lnTo>
                    <a:pt x="861126" y="749079"/>
                  </a:lnTo>
                  <a:lnTo>
                    <a:pt x="0" y="74907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1373"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per-model customization effort</a:t>
              </a:r>
            </a:p>
          </p:txBody>
        </p:sp>
        <p:sp>
          <p:nvSpPr>
            <p:cNvPr id="34" name="Oval 33">
              <a:extLst>
                <a:ext uri="{FF2B5EF4-FFF2-40B4-BE49-F238E27FC236}">
                  <a16:creationId xmlns:a16="http://schemas.microsoft.com/office/drawing/2014/main" id="{E6CECF95-B276-407B-8E0B-C2DEF2A73766}"/>
                </a:ext>
              </a:extLst>
            </p:cNvPr>
            <p:cNvSpPr/>
            <p:nvPr/>
          </p:nvSpPr>
          <p:spPr>
            <a:xfrm>
              <a:off x="6110974" y="4711275"/>
              <a:ext cx="201433" cy="20143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5" name="Freeform: Shape 34">
              <a:extLst>
                <a:ext uri="{FF2B5EF4-FFF2-40B4-BE49-F238E27FC236}">
                  <a16:creationId xmlns:a16="http://schemas.microsoft.com/office/drawing/2014/main" id="{9C50D6B9-B543-4551-BC96-8A6212055554}"/>
                </a:ext>
              </a:extLst>
            </p:cNvPr>
            <p:cNvSpPr/>
            <p:nvPr/>
          </p:nvSpPr>
          <p:spPr>
            <a:xfrm>
              <a:off x="5395811" y="4972111"/>
              <a:ext cx="1410807" cy="407974"/>
            </a:xfrm>
            <a:custGeom>
              <a:avLst/>
              <a:gdLst>
                <a:gd name="connsiteX0" fmla="*/ 0 w 1057523"/>
                <a:gd name="connsiteY0" fmla="*/ 0 h 1438357"/>
                <a:gd name="connsiteX1" fmla="*/ 1057523 w 1057523"/>
                <a:gd name="connsiteY1" fmla="*/ 0 h 1438357"/>
                <a:gd name="connsiteX2" fmla="*/ 1057523 w 1057523"/>
                <a:gd name="connsiteY2" fmla="*/ 1438357 h 1438357"/>
                <a:gd name="connsiteX3" fmla="*/ 0 w 1057523"/>
                <a:gd name="connsiteY3" fmla="*/ 1438357 h 1438357"/>
                <a:gd name="connsiteX4" fmla="*/ 0 w 1057523"/>
                <a:gd name="connsiteY4" fmla="*/ 0 h 143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1438357">
                  <a:moveTo>
                    <a:pt x="0" y="0"/>
                  </a:moveTo>
                  <a:lnTo>
                    <a:pt x="1057523" y="0"/>
                  </a:lnTo>
                  <a:lnTo>
                    <a:pt x="1057523" y="1438357"/>
                  </a:lnTo>
                  <a:lnTo>
                    <a:pt x="0" y="143835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735"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re-training effort</a:t>
              </a:r>
            </a:p>
          </p:txBody>
        </p:sp>
        <p:sp>
          <p:nvSpPr>
            <p:cNvPr id="36" name="Oval 35">
              <a:extLst>
                <a:ext uri="{FF2B5EF4-FFF2-40B4-BE49-F238E27FC236}">
                  <a16:creationId xmlns:a16="http://schemas.microsoft.com/office/drawing/2014/main" id="{59CBE06B-65BE-4F88-B97F-A2B94418A1EC}"/>
                </a:ext>
              </a:extLst>
            </p:cNvPr>
            <p:cNvSpPr/>
            <p:nvPr/>
          </p:nvSpPr>
          <p:spPr>
            <a:xfrm>
              <a:off x="7202117" y="4125764"/>
              <a:ext cx="266898" cy="266898"/>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7" name="Freeform: Shape 36">
              <a:extLst>
                <a:ext uri="{FF2B5EF4-FFF2-40B4-BE49-F238E27FC236}">
                  <a16:creationId xmlns:a16="http://schemas.microsoft.com/office/drawing/2014/main" id="{DDD3B932-367B-452D-9CC6-29D8FF90FE7A}"/>
                </a:ext>
              </a:extLst>
            </p:cNvPr>
            <p:cNvSpPr/>
            <p:nvPr/>
          </p:nvSpPr>
          <p:spPr>
            <a:xfrm>
              <a:off x="6503037" y="4421326"/>
              <a:ext cx="1533941" cy="336699"/>
            </a:xfrm>
            <a:custGeom>
              <a:avLst/>
              <a:gdLst>
                <a:gd name="connsiteX0" fmla="*/ 0 w 1057523"/>
                <a:gd name="connsiteY0" fmla="*/ 0 h 1945087"/>
                <a:gd name="connsiteX1" fmla="*/ 1057523 w 1057523"/>
                <a:gd name="connsiteY1" fmla="*/ 0 h 1945087"/>
                <a:gd name="connsiteX2" fmla="*/ 1057523 w 1057523"/>
                <a:gd name="connsiteY2" fmla="*/ 1945087 h 1945087"/>
                <a:gd name="connsiteX3" fmla="*/ 0 w 1057523"/>
                <a:gd name="connsiteY3" fmla="*/ 1945087 h 1945087"/>
                <a:gd name="connsiteX4" fmla="*/ 0 w 1057523"/>
                <a:gd name="connsiteY4" fmla="*/ 0 h 1945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1945087">
                  <a:moveTo>
                    <a:pt x="0" y="0"/>
                  </a:moveTo>
                  <a:lnTo>
                    <a:pt x="1057523" y="0"/>
                  </a:lnTo>
                  <a:lnTo>
                    <a:pt x="1057523" y="1945087"/>
                  </a:lnTo>
                  <a:lnTo>
                    <a:pt x="0" y="194508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1424"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total optimization effort</a:t>
              </a:r>
            </a:p>
          </p:txBody>
        </p:sp>
        <p:sp>
          <p:nvSpPr>
            <p:cNvPr id="38" name="Oval 37">
              <a:extLst>
                <a:ext uri="{FF2B5EF4-FFF2-40B4-BE49-F238E27FC236}">
                  <a16:creationId xmlns:a16="http://schemas.microsoft.com/office/drawing/2014/main" id="{449E35F6-0501-4E39-9553-C4D85A0B6C35}"/>
                </a:ext>
              </a:extLst>
            </p:cNvPr>
            <p:cNvSpPr/>
            <p:nvPr/>
          </p:nvSpPr>
          <p:spPr>
            <a:xfrm>
              <a:off x="8273443" y="3832827"/>
              <a:ext cx="357543" cy="35754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9" name="Freeform: Shape 38">
              <a:extLst>
                <a:ext uri="{FF2B5EF4-FFF2-40B4-BE49-F238E27FC236}">
                  <a16:creationId xmlns:a16="http://schemas.microsoft.com/office/drawing/2014/main" id="{A747E5AC-2733-4F54-BED5-65AF0027A889}"/>
                </a:ext>
              </a:extLst>
            </p:cNvPr>
            <p:cNvSpPr/>
            <p:nvPr/>
          </p:nvSpPr>
          <p:spPr>
            <a:xfrm>
              <a:off x="7764888" y="4190370"/>
              <a:ext cx="1367388" cy="445040"/>
            </a:xfrm>
            <a:custGeom>
              <a:avLst/>
              <a:gdLst>
                <a:gd name="connsiteX0" fmla="*/ 0 w 1057523"/>
                <a:gd name="connsiteY0" fmla="*/ 0 h 2256679"/>
                <a:gd name="connsiteX1" fmla="*/ 1057523 w 1057523"/>
                <a:gd name="connsiteY1" fmla="*/ 0 h 2256679"/>
                <a:gd name="connsiteX2" fmla="*/ 1057523 w 1057523"/>
                <a:gd name="connsiteY2" fmla="*/ 2256679 h 2256679"/>
                <a:gd name="connsiteX3" fmla="*/ 0 w 1057523"/>
                <a:gd name="connsiteY3" fmla="*/ 2256679 h 2256679"/>
                <a:gd name="connsiteX4" fmla="*/ 0 w 1057523"/>
                <a:gd name="connsiteY4" fmla="*/ 0 h 225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2256679">
                  <a:moveTo>
                    <a:pt x="0" y="0"/>
                  </a:moveTo>
                  <a:lnTo>
                    <a:pt x="1057523" y="0"/>
                  </a:lnTo>
                  <a:lnTo>
                    <a:pt x="1057523" y="2256679"/>
                  </a:lnTo>
                  <a:lnTo>
                    <a:pt x="0" y="225667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89455"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Correlate with </a:t>
              </a:r>
              <a:r>
                <a:rPr lang="en-US" sz="1200" b="1" kern="1200" dirty="0" err="1">
                  <a:latin typeface="Calibri" panose="020F0502020204030204" pitchFamily="34" charset="0"/>
                  <a:cs typeface="Calibri" panose="020F0502020204030204" pitchFamily="34" charset="0"/>
                </a:rPr>
                <a:t>RoI</a:t>
              </a:r>
              <a:r>
                <a:rPr lang="en-US" sz="1200" b="1" kern="1200" dirty="0">
                  <a:latin typeface="Calibri" panose="020F0502020204030204" pitchFamily="34" charset="0"/>
                  <a:cs typeface="Calibri" panose="020F0502020204030204" pitchFamily="34" charset="0"/>
                </a:rPr>
                <a:t> to ensure profitability</a:t>
              </a:r>
            </a:p>
          </p:txBody>
        </p:sp>
      </p:grpSp>
      <p:graphicFrame>
        <p:nvGraphicFramePr>
          <p:cNvPr id="40" name="Diagram 39">
            <a:extLst>
              <a:ext uri="{FF2B5EF4-FFF2-40B4-BE49-F238E27FC236}">
                <a16:creationId xmlns:a16="http://schemas.microsoft.com/office/drawing/2014/main" id="{4BA8A655-EEE3-4A69-9C51-C44ADFE3C214}"/>
              </a:ext>
            </a:extLst>
          </p:cNvPr>
          <p:cNvGraphicFramePr/>
          <p:nvPr>
            <p:extLst>
              <p:ext uri="{D42A27DB-BD31-4B8C-83A1-F6EECF244321}">
                <p14:modId xmlns:p14="http://schemas.microsoft.com/office/powerpoint/2010/main" val="3694642842"/>
              </p:ext>
            </p:extLst>
          </p:nvPr>
        </p:nvGraphicFramePr>
        <p:xfrm>
          <a:off x="4594738" y="5249318"/>
          <a:ext cx="5907979" cy="1085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2" name="Straight Connector 51">
            <a:extLst>
              <a:ext uri="{FF2B5EF4-FFF2-40B4-BE49-F238E27FC236}">
                <a16:creationId xmlns:a16="http://schemas.microsoft.com/office/drawing/2014/main" id="{7EED6E54-E79F-4D01-890A-58A6B0B8EBB8}"/>
              </a:ext>
            </a:extLst>
          </p:cNvPr>
          <p:cNvCxnSpPr>
            <a:cxnSpLocks/>
          </p:cNvCxnSpPr>
          <p:nvPr/>
        </p:nvCxnSpPr>
        <p:spPr>
          <a:xfrm>
            <a:off x="7046832" y="487108"/>
            <a:ext cx="0" cy="436371"/>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38D96E37-5B1D-4192-9F60-4C0B65D91D48}"/>
              </a:ext>
            </a:extLst>
          </p:cNvPr>
          <p:cNvSpPr txBox="1"/>
          <p:nvPr/>
        </p:nvSpPr>
        <p:spPr>
          <a:xfrm>
            <a:off x="2480755" y="5607235"/>
            <a:ext cx="2039980" cy="369332"/>
          </a:xfrm>
          <a:prstGeom prst="rect">
            <a:avLst/>
          </a:prstGeom>
          <a:solidFill>
            <a:srgbClr val="002060"/>
          </a:solid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Timelines</a:t>
            </a:r>
          </a:p>
        </p:txBody>
      </p:sp>
      <p:sp>
        <p:nvSpPr>
          <p:cNvPr id="55" name="TextBox 54">
            <a:extLst>
              <a:ext uri="{FF2B5EF4-FFF2-40B4-BE49-F238E27FC236}">
                <a16:creationId xmlns:a16="http://schemas.microsoft.com/office/drawing/2014/main" id="{3851A4D8-9A25-4695-9B87-3600C16F258F}"/>
              </a:ext>
            </a:extLst>
          </p:cNvPr>
          <p:cNvSpPr txBox="1"/>
          <p:nvPr/>
        </p:nvSpPr>
        <p:spPr>
          <a:xfrm>
            <a:off x="2480755" y="3822195"/>
            <a:ext cx="3054966" cy="369332"/>
          </a:xfrm>
          <a:prstGeom prst="rect">
            <a:avLst/>
          </a:prstGeom>
          <a:solidFill>
            <a:schemeClr val="tx2">
              <a:lumMod val="25000"/>
              <a:lumOff val="75000"/>
            </a:schemeClr>
          </a:solidFill>
        </p:spPr>
        <p:txBody>
          <a:bodyPr wrap="square" rtlCol="0">
            <a:spAutoFit/>
          </a:bodyPr>
          <a:lstStyle/>
          <a:p>
            <a:r>
              <a:rPr lang="en-US" dirty="0">
                <a:latin typeface="Calibri" panose="020F0502020204030204" pitchFamily="34" charset="0"/>
                <a:cs typeface="Calibri" panose="020F0502020204030204" pitchFamily="34" charset="0"/>
              </a:rPr>
              <a:t>Commercial Milestones</a:t>
            </a:r>
          </a:p>
        </p:txBody>
      </p:sp>
      <p:sp>
        <p:nvSpPr>
          <p:cNvPr id="56" name="TextBox 55">
            <a:extLst>
              <a:ext uri="{FF2B5EF4-FFF2-40B4-BE49-F238E27FC236}">
                <a16:creationId xmlns:a16="http://schemas.microsoft.com/office/drawing/2014/main" id="{3DFD4062-E701-4819-9313-F9D23A4DF116}"/>
              </a:ext>
            </a:extLst>
          </p:cNvPr>
          <p:cNvSpPr txBox="1"/>
          <p:nvPr/>
        </p:nvSpPr>
        <p:spPr>
          <a:xfrm>
            <a:off x="2480755" y="1302417"/>
            <a:ext cx="3054966" cy="369332"/>
          </a:xfrm>
          <a:prstGeom prst="rect">
            <a:avLst/>
          </a:prstGeom>
          <a:solidFill>
            <a:srgbClr val="FFFF00"/>
          </a:solidFill>
        </p:spPr>
        <p:txBody>
          <a:bodyPr wrap="square" rtlCol="0">
            <a:spAutoFit/>
          </a:bodyPr>
          <a:lstStyle/>
          <a:p>
            <a:r>
              <a:rPr lang="en-US" dirty="0">
                <a:latin typeface="Calibri" panose="020F0502020204030204" pitchFamily="34" charset="0"/>
                <a:cs typeface="Calibri" panose="020F0502020204030204" pitchFamily="34" charset="0"/>
              </a:rPr>
              <a:t>Technical Research Milestones</a:t>
            </a:r>
          </a:p>
        </p:txBody>
      </p:sp>
    </p:spTree>
    <p:extLst>
      <p:ext uri="{BB962C8B-B14F-4D97-AF65-F5344CB8AC3E}">
        <p14:creationId xmlns:p14="http://schemas.microsoft.com/office/powerpoint/2010/main" val="63936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BDC5-0CCF-4AFC-9B69-979C2EC72EC7}"/>
              </a:ext>
            </a:extLst>
          </p:cNvPr>
          <p:cNvSpPr>
            <a:spLocks noGrp="1"/>
          </p:cNvSpPr>
          <p:nvPr>
            <p:ph type="title"/>
          </p:nvPr>
        </p:nvSpPr>
        <p:spPr>
          <a:xfrm>
            <a:off x="2383568" y="118286"/>
            <a:ext cx="9808432" cy="679944"/>
          </a:xfrm>
        </p:spPr>
        <p:txBody>
          <a:bodyPr>
            <a:normAutofit fontScale="90000"/>
          </a:bodyPr>
          <a:lstStyle/>
          <a:p>
            <a:r>
              <a:rPr lang="en-US" dirty="0"/>
              <a:t>Commercialization Plans</a:t>
            </a:r>
          </a:p>
        </p:txBody>
      </p:sp>
      <p:graphicFrame>
        <p:nvGraphicFramePr>
          <p:cNvPr id="7" name="Content Placeholder 6">
            <a:extLst>
              <a:ext uri="{FF2B5EF4-FFF2-40B4-BE49-F238E27FC236}">
                <a16:creationId xmlns:a16="http://schemas.microsoft.com/office/drawing/2014/main" id="{11002CA1-0BB2-4586-8325-3A630A750D65}"/>
              </a:ext>
            </a:extLst>
          </p:cNvPr>
          <p:cNvGraphicFramePr>
            <a:graphicFrameLocks noGrp="1"/>
          </p:cNvGraphicFramePr>
          <p:nvPr>
            <p:ph idx="1"/>
            <p:extLst>
              <p:ext uri="{D42A27DB-BD31-4B8C-83A1-F6EECF244321}">
                <p14:modId xmlns:p14="http://schemas.microsoft.com/office/powerpoint/2010/main" val="3004243373"/>
              </p:ext>
            </p:extLst>
          </p:nvPr>
        </p:nvGraphicFramePr>
        <p:xfrm>
          <a:off x="2036015" y="1091036"/>
          <a:ext cx="7291492" cy="2839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6FFF970E-D62B-4A43-88D5-1CA5866908B8}"/>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dirty="0"/>
          </a:p>
        </p:txBody>
      </p:sp>
      <p:sp>
        <p:nvSpPr>
          <p:cNvPr id="6" name="Slide Number Placeholder 5">
            <a:extLst>
              <a:ext uri="{FF2B5EF4-FFF2-40B4-BE49-F238E27FC236}">
                <a16:creationId xmlns:a16="http://schemas.microsoft.com/office/drawing/2014/main" id="{923D7E7E-A9EC-410C-872E-7B1C233FDFFA}"/>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16</a:t>
            </a:fld>
            <a:endParaRPr lang="fi-FI"/>
          </a:p>
        </p:txBody>
      </p:sp>
      <p:grpSp>
        <p:nvGrpSpPr>
          <p:cNvPr id="31" name="Group 30">
            <a:extLst>
              <a:ext uri="{FF2B5EF4-FFF2-40B4-BE49-F238E27FC236}">
                <a16:creationId xmlns:a16="http://schemas.microsoft.com/office/drawing/2014/main" id="{F2779044-2CC6-46A9-843D-24BF92163E49}"/>
              </a:ext>
            </a:extLst>
          </p:cNvPr>
          <p:cNvGrpSpPr/>
          <p:nvPr/>
        </p:nvGrpSpPr>
        <p:grpSpPr>
          <a:xfrm>
            <a:off x="377219" y="4737847"/>
            <a:ext cx="2782532" cy="1368247"/>
            <a:chOff x="422782" y="4760538"/>
            <a:chExt cx="2782532" cy="1368247"/>
          </a:xfrm>
        </p:grpSpPr>
        <p:sp>
          <p:nvSpPr>
            <p:cNvPr id="32" name="Freeform: Shape 31">
              <a:extLst>
                <a:ext uri="{FF2B5EF4-FFF2-40B4-BE49-F238E27FC236}">
                  <a16:creationId xmlns:a16="http://schemas.microsoft.com/office/drawing/2014/main" id="{B41F778E-1EC9-4813-93A1-9CD8F5094113}"/>
                </a:ext>
              </a:extLst>
            </p:cNvPr>
            <p:cNvSpPr/>
            <p:nvPr/>
          </p:nvSpPr>
          <p:spPr>
            <a:xfrm>
              <a:off x="1274091" y="4760538"/>
              <a:ext cx="1931223"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Share Data</a:t>
              </a:r>
            </a:p>
          </p:txBody>
        </p:sp>
        <p:sp>
          <p:nvSpPr>
            <p:cNvPr id="33" name="Freeform: Shape 32">
              <a:extLst>
                <a:ext uri="{FF2B5EF4-FFF2-40B4-BE49-F238E27FC236}">
                  <a16:creationId xmlns:a16="http://schemas.microsoft.com/office/drawing/2014/main" id="{B8A02D96-7BFB-458E-BA7B-8A63189F7716}"/>
                </a:ext>
              </a:extLst>
            </p:cNvPr>
            <p:cNvSpPr/>
            <p:nvPr/>
          </p:nvSpPr>
          <p:spPr>
            <a:xfrm>
              <a:off x="422782" y="5053343"/>
              <a:ext cx="1160212"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Initial Agreement</a:t>
              </a:r>
            </a:p>
          </p:txBody>
        </p:sp>
      </p:grpSp>
      <p:grpSp>
        <p:nvGrpSpPr>
          <p:cNvPr id="35" name="Group 34">
            <a:extLst>
              <a:ext uri="{FF2B5EF4-FFF2-40B4-BE49-F238E27FC236}">
                <a16:creationId xmlns:a16="http://schemas.microsoft.com/office/drawing/2014/main" id="{F00A8507-A7D2-4739-8C3B-78EC36211899}"/>
              </a:ext>
            </a:extLst>
          </p:cNvPr>
          <p:cNvGrpSpPr/>
          <p:nvPr/>
        </p:nvGrpSpPr>
        <p:grpSpPr>
          <a:xfrm>
            <a:off x="3329173" y="4737406"/>
            <a:ext cx="2789942" cy="1368247"/>
            <a:chOff x="3306058" y="4760536"/>
            <a:chExt cx="2789942" cy="1368247"/>
          </a:xfrm>
        </p:grpSpPr>
        <p:sp>
          <p:nvSpPr>
            <p:cNvPr id="36" name="Freeform: Shape 35">
              <a:extLst>
                <a:ext uri="{FF2B5EF4-FFF2-40B4-BE49-F238E27FC236}">
                  <a16:creationId xmlns:a16="http://schemas.microsoft.com/office/drawing/2014/main" id="{48313804-ACD1-48B1-9148-82C31B92A138}"/>
                </a:ext>
              </a:extLst>
            </p:cNvPr>
            <p:cNvSpPr/>
            <p:nvPr/>
          </p:nvSpPr>
          <p:spPr>
            <a:xfrm>
              <a:off x="3968598" y="4760536"/>
              <a:ext cx="212740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Validate model</a:t>
              </a:r>
            </a:p>
          </p:txBody>
        </p:sp>
        <p:sp>
          <p:nvSpPr>
            <p:cNvPr id="37" name="Freeform: Shape 36">
              <a:extLst>
                <a:ext uri="{FF2B5EF4-FFF2-40B4-BE49-F238E27FC236}">
                  <a16:creationId xmlns:a16="http://schemas.microsoft.com/office/drawing/2014/main" id="{13BB88EC-78A3-4619-9ECD-C26D695DA1BA}"/>
                </a:ext>
              </a:extLst>
            </p:cNvPr>
            <p:cNvSpPr/>
            <p:nvPr/>
          </p:nvSpPr>
          <p:spPr>
            <a:xfrm>
              <a:off x="3306058" y="5053342"/>
              <a:ext cx="985783"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Model Ready</a:t>
              </a:r>
            </a:p>
          </p:txBody>
        </p:sp>
      </p:grpSp>
      <p:grpSp>
        <p:nvGrpSpPr>
          <p:cNvPr id="38" name="Group 37">
            <a:extLst>
              <a:ext uri="{FF2B5EF4-FFF2-40B4-BE49-F238E27FC236}">
                <a16:creationId xmlns:a16="http://schemas.microsoft.com/office/drawing/2014/main" id="{ED05E0C6-D8DC-4862-BB28-AE69BE7AD377}"/>
              </a:ext>
            </a:extLst>
          </p:cNvPr>
          <p:cNvGrpSpPr/>
          <p:nvPr/>
        </p:nvGrpSpPr>
        <p:grpSpPr>
          <a:xfrm>
            <a:off x="6288537" y="4737405"/>
            <a:ext cx="2676126" cy="1368247"/>
            <a:chOff x="6066541" y="4760097"/>
            <a:chExt cx="2676126" cy="1368247"/>
          </a:xfrm>
        </p:grpSpPr>
        <p:sp>
          <p:nvSpPr>
            <p:cNvPr id="39" name="Freeform: Shape 38">
              <a:extLst>
                <a:ext uri="{FF2B5EF4-FFF2-40B4-BE49-F238E27FC236}">
                  <a16:creationId xmlns:a16="http://schemas.microsoft.com/office/drawing/2014/main" id="{FDDCEDF9-A6B9-47B5-AA65-DD857DBE4465}"/>
                </a:ext>
              </a:extLst>
            </p:cNvPr>
            <p:cNvSpPr/>
            <p:nvPr/>
          </p:nvSpPr>
          <p:spPr>
            <a:xfrm>
              <a:off x="6658915" y="4760097"/>
              <a:ext cx="208375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b="1" kern="1200" dirty="0">
                  <a:solidFill>
                    <a:srgbClr val="92D050"/>
                  </a:solidFill>
                  <a:latin typeface="Calibri" panose="020F0502020204030204" pitchFamily="34" charset="0"/>
                  <a:cs typeface="Calibri" panose="020F0502020204030204" pitchFamily="34" charset="0"/>
                </a:rPr>
                <a:t>Pay on Success</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Model Purchase</a:t>
              </a:r>
            </a:p>
          </p:txBody>
        </p:sp>
        <p:sp>
          <p:nvSpPr>
            <p:cNvPr id="40" name="Freeform: Shape 39">
              <a:extLst>
                <a:ext uri="{FF2B5EF4-FFF2-40B4-BE49-F238E27FC236}">
                  <a16:creationId xmlns:a16="http://schemas.microsoft.com/office/drawing/2014/main" id="{C51F8D5F-1F55-4E99-B7B7-8332CEDA3451}"/>
                </a:ext>
              </a:extLst>
            </p:cNvPr>
            <p:cNvSpPr/>
            <p:nvPr/>
          </p:nvSpPr>
          <p:spPr>
            <a:xfrm>
              <a:off x="6066541" y="5053342"/>
              <a:ext cx="924194"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Run Proven Model</a:t>
              </a:r>
            </a:p>
          </p:txBody>
        </p:sp>
      </p:grpSp>
      <p:grpSp>
        <p:nvGrpSpPr>
          <p:cNvPr id="41" name="Group 40">
            <a:extLst>
              <a:ext uri="{FF2B5EF4-FFF2-40B4-BE49-F238E27FC236}">
                <a16:creationId xmlns:a16="http://schemas.microsoft.com/office/drawing/2014/main" id="{12F9D012-D871-42D7-9675-442E05EBB1BC}"/>
              </a:ext>
            </a:extLst>
          </p:cNvPr>
          <p:cNvGrpSpPr/>
          <p:nvPr/>
        </p:nvGrpSpPr>
        <p:grpSpPr>
          <a:xfrm>
            <a:off x="9134084" y="4737406"/>
            <a:ext cx="2805877" cy="1368247"/>
            <a:chOff x="9071494" y="4760097"/>
            <a:chExt cx="2805877" cy="1368247"/>
          </a:xfrm>
        </p:grpSpPr>
        <p:sp>
          <p:nvSpPr>
            <p:cNvPr id="42" name="Freeform: Shape 41">
              <a:extLst>
                <a:ext uri="{FF2B5EF4-FFF2-40B4-BE49-F238E27FC236}">
                  <a16:creationId xmlns:a16="http://schemas.microsoft.com/office/drawing/2014/main" id="{8F5CE5D0-1E12-444C-A75F-87C1679C8BC3}"/>
                </a:ext>
              </a:extLst>
            </p:cNvPr>
            <p:cNvSpPr/>
            <p:nvPr/>
          </p:nvSpPr>
          <p:spPr>
            <a:xfrm>
              <a:off x="9833581" y="4760097"/>
              <a:ext cx="2043790"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Pay-per-use </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Pay-per-update</a:t>
              </a:r>
            </a:p>
          </p:txBody>
        </p:sp>
        <p:sp>
          <p:nvSpPr>
            <p:cNvPr id="43" name="Freeform: Shape 42">
              <a:extLst>
                <a:ext uri="{FF2B5EF4-FFF2-40B4-BE49-F238E27FC236}">
                  <a16:creationId xmlns:a16="http://schemas.microsoft.com/office/drawing/2014/main" id="{699428D4-B59C-4B7B-B97B-1545D221C644}"/>
                </a:ext>
              </a:extLst>
            </p:cNvPr>
            <p:cNvSpPr/>
            <p:nvPr/>
          </p:nvSpPr>
          <p:spPr>
            <a:xfrm>
              <a:off x="9071494" y="5053344"/>
              <a:ext cx="1084411"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Maintain and use</a:t>
              </a:r>
            </a:p>
          </p:txBody>
        </p:sp>
      </p:grpSp>
    </p:spTree>
    <p:extLst>
      <p:ext uri="{BB962C8B-B14F-4D97-AF65-F5344CB8AC3E}">
        <p14:creationId xmlns:p14="http://schemas.microsoft.com/office/powerpoint/2010/main" val="320791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44A4-220B-4428-AD96-8F0F833B59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BA7AB2-B9B4-F166-3110-2912323B44EB}"/>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1666AEC8-6A26-4F8C-0C09-5A3AD9CB2255}"/>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437CD207-053A-220B-365D-A03E34344CBD}"/>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Current Team</a:t>
            </a:r>
          </a:p>
        </p:txBody>
      </p:sp>
    </p:spTree>
    <p:extLst>
      <p:ext uri="{BB962C8B-B14F-4D97-AF65-F5344CB8AC3E}">
        <p14:creationId xmlns:p14="http://schemas.microsoft.com/office/powerpoint/2010/main" val="1431670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207" y="27579"/>
            <a:ext cx="9814560" cy="1019175"/>
          </a:xfrm>
        </p:spPr>
        <p:txBody>
          <a:bodyPr>
            <a:normAutofit/>
          </a:bodyPr>
          <a:lstStyle/>
          <a:p>
            <a:r>
              <a:rPr lang="fi-FI" dirty="0"/>
              <a:t>Team and </a:t>
            </a:r>
            <a:r>
              <a:rPr lang="fi-FI" dirty="0" err="1"/>
              <a:t>skillsets</a:t>
            </a:r>
            <a:endParaRPr lang="fi-FI" dirty="0"/>
          </a:p>
        </p:txBody>
      </p:sp>
      <p:graphicFrame>
        <p:nvGraphicFramePr>
          <p:cNvPr id="3" name="Diagram 2">
            <a:extLst>
              <a:ext uri="{FF2B5EF4-FFF2-40B4-BE49-F238E27FC236}">
                <a16:creationId xmlns:a16="http://schemas.microsoft.com/office/drawing/2014/main" id="{ABD2A1D2-5E2D-428A-AB60-E0A4DF8D253F}"/>
              </a:ext>
            </a:extLst>
          </p:cNvPr>
          <p:cNvGraphicFramePr/>
          <p:nvPr>
            <p:extLst>
              <p:ext uri="{D42A27DB-BD31-4B8C-83A1-F6EECF244321}">
                <p14:modId xmlns:p14="http://schemas.microsoft.com/office/powerpoint/2010/main" val="3348099999"/>
              </p:ext>
            </p:extLst>
          </p:nvPr>
        </p:nvGraphicFramePr>
        <p:xfrm>
          <a:off x="45766" y="1052295"/>
          <a:ext cx="10232473" cy="4720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06346D9B-8FAD-4FA8-BBCA-096B18BCE8AC}"/>
              </a:ext>
            </a:extLst>
          </p:cNvPr>
          <p:cNvPicPr>
            <a:picLocks noChangeAspect="1"/>
          </p:cNvPicPr>
          <p:nvPr/>
        </p:nvPicPr>
        <p:blipFill>
          <a:blip r:embed="rId8"/>
          <a:stretch>
            <a:fillRect/>
          </a:stretch>
        </p:blipFill>
        <p:spPr>
          <a:xfrm>
            <a:off x="826079" y="1098507"/>
            <a:ext cx="1025336" cy="894027"/>
          </a:xfrm>
          <a:prstGeom prst="rect">
            <a:avLst/>
          </a:prstGeom>
        </p:spPr>
      </p:pic>
      <p:pic>
        <p:nvPicPr>
          <p:cNvPr id="3080" name="Picture 8" descr="The Finnish flag | Nordic cooperation">
            <a:extLst>
              <a:ext uri="{FF2B5EF4-FFF2-40B4-BE49-F238E27FC236}">
                <a16:creationId xmlns:a16="http://schemas.microsoft.com/office/drawing/2014/main" id="{351E6D34-CA36-43B1-8F3F-D9C4F6AD64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1201030"/>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The Finnish flag | Nordic cooperation">
            <a:extLst>
              <a:ext uri="{FF2B5EF4-FFF2-40B4-BE49-F238E27FC236}">
                <a16:creationId xmlns:a16="http://schemas.microsoft.com/office/drawing/2014/main" id="{12C8EDB5-E34A-498A-A28B-BA08403DD0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2414561"/>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descr="cdn.britannica.com/97/1597-004-05816F4E/Flag-India...">
            <a:extLst>
              <a:ext uri="{FF2B5EF4-FFF2-40B4-BE49-F238E27FC236}">
                <a16:creationId xmlns:a16="http://schemas.microsoft.com/office/drawing/2014/main" id="{0B54B809-E1CF-49BD-BC95-6BF579C9EE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22721" y="4841623"/>
            <a:ext cx="1214390" cy="80757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The Finnish flag | Nordic cooperation">
            <a:extLst>
              <a:ext uri="{FF2B5EF4-FFF2-40B4-BE49-F238E27FC236}">
                <a16:creationId xmlns:a16="http://schemas.microsoft.com/office/drawing/2014/main" id="{BE51A95B-DBFB-44E7-883F-212F24890A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3628092"/>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B520997-AA35-412C-93C9-AD112E2141CA}"/>
              </a:ext>
            </a:extLst>
          </p:cNvPr>
          <p:cNvPicPr>
            <a:picLocks noChangeAspect="1"/>
          </p:cNvPicPr>
          <p:nvPr/>
        </p:nvPicPr>
        <p:blipFill>
          <a:blip r:embed="rId11"/>
          <a:stretch>
            <a:fillRect/>
          </a:stretch>
        </p:blipFill>
        <p:spPr>
          <a:xfrm>
            <a:off x="826079" y="4736895"/>
            <a:ext cx="1025336" cy="1017028"/>
          </a:xfrm>
          <a:prstGeom prst="rect">
            <a:avLst/>
          </a:prstGeom>
        </p:spPr>
      </p:pic>
      <p:sp>
        <p:nvSpPr>
          <p:cNvPr id="6" name="TextBox 5">
            <a:extLst>
              <a:ext uri="{FF2B5EF4-FFF2-40B4-BE49-F238E27FC236}">
                <a16:creationId xmlns:a16="http://schemas.microsoft.com/office/drawing/2014/main" id="{83B53F01-78BF-2F28-3F65-31DC3C563F98}"/>
              </a:ext>
            </a:extLst>
          </p:cNvPr>
          <p:cNvSpPr txBox="1"/>
          <p:nvPr/>
        </p:nvSpPr>
        <p:spPr>
          <a:xfrm>
            <a:off x="153698" y="5855657"/>
            <a:ext cx="11884603" cy="369332"/>
          </a:xfrm>
          <a:prstGeom prst="rect">
            <a:avLst/>
          </a:prstGeom>
          <a:noFill/>
        </p:spPr>
        <p:txBody>
          <a:bodyPr wrap="square">
            <a:spAutoFit/>
          </a:bodyPr>
          <a:lstStyle/>
          <a:p>
            <a:pPr marL="201168" lvl="1" indent="0">
              <a:buNone/>
            </a:pPr>
            <a:r>
              <a:rPr lang="en-US" b="1" dirty="0"/>
              <a:t>No IP rights will be committed for any organization at the current stage. </a:t>
            </a:r>
          </a:p>
        </p:txBody>
      </p:sp>
      <p:sp>
        <p:nvSpPr>
          <p:cNvPr id="4" name="Rectangle 3">
            <a:extLst>
              <a:ext uri="{FF2B5EF4-FFF2-40B4-BE49-F238E27FC236}">
                <a16:creationId xmlns:a16="http://schemas.microsoft.com/office/drawing/2014/main" id="{F5CC5F7D-8F9A-D953-06ED-616DC560EAF7}"/>
              </a:ext>
            </a:extLst>
          </p:cNvPr>
          <p:cNvSpPr/>
          <p:nvPr/>
        </p:nvSpPr>
        <p:spPr>
          <a:xfrm>
            <a:off x="826079" y="2319454"/>
            <a:ext cx="1025336" cy="8360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Needed</a:t>
            </a:r>
          </a:p>
        </p:txBody>
      </p:sp>
    </p:spTree>
    <p:extLst>
      <p:ext uri="{BB962C8B-B14F-4D97-AF65-F5344CB8AC3E}">
        <p14:creationId xmlns:p14="http://schemas.microsoft.com/office/powerpoint/2010/main" val="2251906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3324"/>
            <a:ext cx="9814560" cy="1019175"/>
          </a:xfrm>
        </p:spPr>
        <p:txBody>
          <a:bodyPr>
            <a:normAutofit/>
          </a:bodyPr>
          <a:lstStyle/>
          <a:p>
            <a:r>
              <a:rPr lang="en-US" dirty="0"/>
              <a:t>Committed Steering group</a:t>
            </a:r>
            <a:endParaRPr lang="fi-FI" dirty="0"/>
          </a:p>
        </p:txBody>
      </p:sp>
      <p:graphicFrame>
        <p:nvGraphicFramePr>
          <p:cNvPr id="3" name="Table 3">
            <a:extLst>
              <a:ext uri="{FF2B5EF4-FFF2-40B4-BE49-F238E27FC236}">
                <a16:creationId xmlns:a16="http://schemas.microsoft.com/office/drawing/2014/main" id="{06DBA981-C8CC-4724-B4F4-83EE38893146}"/>
              </a:ext>
            </a:extLst>
          </p:cNvPr>
          <p:cNvGraphicFramePr>
            <a:graphicFrameLocks noGrp="1"/>
          </p:cNvGraphicFramePr>
          <p:nvPr>
            <p:extLst>
              <p:ext uri="{D42A27DB-BD31-4B8C-83A1-F6EECF244321}">
                <p14:modId xmlns:p14="http://schemas.microsoft.com/office/powerpoint/2010/main" val="1555449959"/>
              </p:ext>
            </p:extLst>
          </p:nvPr>
        </p:nvGraphicFramePr>
        <p:xfrm>
          <a:off x="609600" y="1345764"/>
          <a:ext cx="9425145" cy="2794832"/>
        </p:xfrm>
        <a:graphic>
          <a:graphicData uri="http://schemas.openxmlformats.org/drawingml/2006/table">
            <a:tbl>
              <a:tblPr firstRow="1" bandRow="1">
                <a:tableStyleId>{93296810-A885-4BE3-A3E7-6D5BEEA58F35}</a:tableStyleId>
              </a:tblPr>
              <a:tblGrid>
                <a:gridCol w="2493403">
                  <a:extLst>
                    <a:ext uri="{9D8B030D-6E8A-4147-A177-3AD203B41FA5}">
                      <a16:colId xmlns:a16="http://schemas.microsoft.com/office/drawing/2014/main" val="438053010"/>
                    </a:ext>
                  </a:extLst>
                </a:gridCol>
                <a:gridCol w="1944126">
                  <a:extLst>
                    <a:ext uri="{9D8B030D-6E8A-4147-A177-3AD203B41FA5}">
                      <a16:colId xmlns:a16="http://schemas.microsoft.com/office/drawing/2014/main" val="2943861550"/>
                    </a:ext>
                  </a:extLst>
                </a:gridCol>
                <a:gridCol w="4987616">
                  <a:extLst>
                    <a:ext uri="{9D8B030D-6E8A-4147-A177-3AD203B41FA5}">
                      <a16:colId xmlns:a16="http://schemas.microsoft.com/office/drawing/2014/main" val="2217747861"/>
                    </a:ext>
                  </a:extLst>
                </a:gridCol>
              </a:tblGrid>
              <a:tr h="569792">
                <a:tc>
                  <a:txBody>
                    <a:bodyPr/>
                    <a:lstStyle/>
                    <a:p>
                      <a:pPr algn="ctr"/>
                      <a:r>
                        <a:rPr lang="en-US" dirty="0">
                          <a:latin typeface="Calibri" panose="020F0502020204030204" pitchFamily="34" charset="0"/>
                          <a:cs typeface="Calibri" panose="020F0502020204030204" pitchFamily="34" charset="0"/>
                        </a:rPr>
                        <a:t>Person Name</a:t>
                      </a:r>
                    </a:p>
                  </a:txBody>
                  <a:tcPr>
                    <a:solidFill>
                      <a:schemeClr val="accent2">
                        <a:lumMod val="75000"/>
                      </a:schemeClr>
                    </a:solidFill>
                  </a:tcPr>
                </a:tc>
                <a:tc>
                  <a:txBody>
                    <a:bodyPr/>
                    <a:lstStyle/>
                    <a:p>
                      <a:pPr algn="ctr"/>
                      <a:r>
                        <a:rPr lang="en-US" dirty="0">
                          <a:latin typeface="Calibri" panose="020F0502020204030204" pitchFamily="34" charset="0"/>
                          <a:cs typeface="Calibri" panose="020F0502020204030204" pitchFamily="34" charset="0"/>
                        </a:rPr>
                        <a:t>Organization</a:t>
                      </a:r>
                    </a:p>
                  </a:txBody>
                  <a:tcPr>
                    <a:solidFill>
                      <a:schemeClr val="accent2">
                        <a:lumMod val="75000"/>
                      </a:schemeClr>
                    </a:solidFill>
                  </a:tcPr>
                </a:tc>
                <a:tc>
                  <a:txBody>
                    <a:bodyPr/>
                    <a:lstStyle/>
                    <a:p>
                      <a:pPr algn="ctr"/>
                      <a:r>
                        <a:rPr lang="en-US" dirty="0">
                          <a:latin typeface="Calibri" panose="020F0502020204030204" pitchFamily="34" charset="0"/>
                          <a:cs typeface="Calibri" panose="020F0502020204030204" pitchFamily="34" charset="0"/>
                        </a:rPr>
                        <a:t>Interest</a:t>
                      </a:r>
                    </a:p>
                  </a:txBody>
                  <a:tcPr>
                    <a:solidFill>
                      <a:schemeClr val="accent2">
                        <a:lumMod val="75000"/>
                      </a:schemeClr>
                    </a:solidFill>
                  </a:tcPr>
                </a:tc>
                <a:extLst>
                  <a:ext uri="{0D108BD9-81ED-4DB2-BD59-A6C34878D82A}">
                    <a16:rowId xmlns:a16="http://schemas.microsoft.com/office/drawing/2014/main" val="3044044523"/>
                  </a:ext>
                </a:extLst>
              </a:tr>
              <a:tr h="370840">
                <a:tc rowSpan="6">
                  <a:txBody>
                    <a:bodyPr/>
                    <a:lstStyle/>
                    <a:p>
                      <a:r>
                        <a:rPr lang="en-US" dirty="0">
                          <a:latin typeface="Calibri" panose="020F0502020204030204" pitchFamily="34" charset="0"/>
                          <a:cs typeface="Calibri" panose="020F0502020204030204" pitchFamily="34" charset="0"/>
                        </a:rPr>
                        <a:t>Redacted from current version of deck</a:t>
                      </a:r>
                    </a:p>
                  </a:txBody>
                  <a:tcPr anchor="ctr"/>
                </a:tc>
                <a:tc>
                  <a:txBody>
                    <a:bodyPr/>
                    <a:lstStyle/>
                    <a:p>
                      <a:r>
                        <a:rPr lang="en-US" dirty="0">
                          <a:latin typeface="Calibri" panose="020F0502020204030204" pitchFamily="34" charset="0"/>
                          <a:cs typeface="Calibri" panose="020F0502020204030204" pitchFamily="34" charset="0"/>
                        </a:rPr>
                        <a:t>Fortum</a:t>
                      </a:r>
                    </a:p>
                  </a:txBody>
                  <a:tcPr/>
                </a:tc>
                <a:tc>
                  <a:txBody>
                    <a:bodyPr/>
                    <a:lstStyle/>
                    <a:p>
                      <a:r>
                        <a:rPr lang="en-US" dirty="0">
                          <a:latin typeface="Calibri" panose="020F0502020204030204" pitchFamily="34" charset="0"/>
                          <a:cs typeface="Calibri" panose="020F0502020204030204" pitchFamily="34" charset="0"/>
                        </a:rPr>
                        <a:t>Twin of </a:t>
                      </a:r>
                      <a:r>
                        <a:rPr lang="en-US" dirty="0" err="1">
                          <a:latin typeface="Calibri" panose="020F0502020204030204" pitchFamily="34" charset="0"/>
                          <a:cs typeface="Calibri" panose="020F0502020204030204" pitchFamily="34" charset="0"/>
                        </a:rPr>
                        <a:t>Kaukolämpö</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49637582"/>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Wärtsilä</a:t>
                      </a:r>
                    </a:p>
                  </a:txBody>
                  <a:tcPr/>
                </a:tc>
                <a:tc>
                  <a:txBody>
                    <a:bodyPr/>
                    <a:lstStyle/>
                    <a:p>
                      <a:r>
                        <a:rPr lang="en-US" dirty="0">
                          <a:latin typeface="Calibri" panose="020F0502020204030204" pitchFamily="34" charset="0"/>
                          <a:cs typeface="Calibri" panose="020F0502020204030204" pitchFamily="34" charset="0"/>
                        </a:rPr>
                        <a:t>Full factory model</a:t>
                      </a:r>
                    </a:p>
                  </a:txBody>
                  <a:tcPr/>
                </a:tc>
                <a:extLst>
                  <a:ext uri="{0D108BD9-81ED-4DB2-BD59-A6C34878D82A}">
                    <a16:rowId xmlns:a16="http://schemas.microsoft.com/office/drawing/2014/main" val="1491795031"/>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Danfoss</a:t>
                      </a:r>
                    </a:p>
                  </a:txBody>
                  <a:tcPr/>
                </a:tc>
                <a:tc>
                  <a:txBody>
                    <a:bodyPr/>
                    <a:lstStyle/>
                    <a:p>
                      <a:r>
                        <a:rPr lang="en-US" dirty="0">
                          <a:latin typeface="Calibri" panose="020F0502020204030204" pitchFamily="34" charset="0"/>
                          <a:cs typeface="Calibri" panose="020F0502020204030204" pitchFamily="34" charset="0"/>
                        </a:rPr>
                        <a:t>Model of electromechanical propulsion system</a:t>
                      </a:r>
                    </a:p>
                  </a:txBody>
                  <a:tcPr/>
                </a:tc>
                <a:extLst>
                  <a:ext uri="{0D108BD9-81ED-4DB2-BD59-A6C34878D82A}">
                    <a16:rowId xmlns:a16="http://schemas.microsoft.com/office/drawing/2014/main" val="53731529"/>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i="1" dirty="0">
                          <a:latin typeface="Calibri" panose="020F0502020204030204" pitchFamily="34" charset="0"/>
                          <a:cs typeface="Calibri" panose="020F0502020204030204" pitchFamily="34" charset="0"/>
                        </a:rPr>
                        <a:t>Pending</a:t>
                      </a:r>
                    </a:p>
                  </a:txBody>
                  <a:tcPr/>
                </a:tc>
                <a:tc>
                  <a:txBody>
                    <a:bodyPr/>
                    <a:lstStyle/>
                    <a:p>
                      <a:r>
                        <a:rPr lang="en-US" i="1" dirty="0">
                          <a:latin typeface="Calibri" panose="020F0502020204030204" pitchFamily="34" charset="0"/>
                          <a:cs typeface="Calibri" panose="020F0502020204030204" pitchFamily="34" charset="0"/>
                        </a:rPr>
                        <a:t>Research in marketing and strategy</a:t>
                      </a:r>
                    </a:p>
                  </a:txBody>
                  <a:tcPr/>
                </a:tc>
                <a:extLst>
                  <a:ext uri="{0D108BD9-81ED-4DB2-BD59-A6C34878D82A}">
                    <a16:rowId xmlns:a16="http://schemas.microsoft.com/office/drawing/2014/main" val="2410954049"/>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Arcada UAS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Research in industrial simulation</a:t>
                      </a:r>
                    </a:p>
                  </a:txBody>
                  <a:tcPr/>
                </a:tc>
                <a:extLst>
                  <a:ext uri="{0D108BD9-81ED-4DB2-BD59-A6C34878D82A}">
                    <a16:rowId xmlns:a16="http://schemas.microsoft.com/office/drawing/2014/main" val="2750415587"/>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University of Turku</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Research in Deep learning</a:t>
                      </a:r>
                    </a:p>
                  </a:txBody>
                  <a:tcPr/>
                </a:tc>
                <a:extLst>
                  <a:ext uri="{0D108BD9-81ED-4DB2-BD59-A6C34878D82A}">
                    <a16:rowId xmlns:a16="http://schemas.microsoft.com/office/drawing/2014/main" val="2480950142"/>
                  </a:ext>
                </a:extLst>
              </a:tr>
            </a:tbl>
          </a:graphicData>
        </a:graphic>
      </p:graphicFrame>
      <p:pic>
        <p:nvPicPr>
          <p:cNvPr id="4098" name="Picture 2">
            <a:extLst>
              <a:ext uri="{FF2B5EF4-FFF2-40B4-BE49-F238E27FC236}">
                <a16:creationId xmlns:a16="http://schemas.microsoft.com/office/drawing/2014/main" id="{F96863D7-5BB1-4A46-9163-4FAAC251B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96" y="5254880"/>
            <a:ext cx="2738120" cy="7334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32C3907-748A-4930-A51C-CB6C07E74DF0}"/>
              </a:ext>
            </a:extLst>
          </p:cNvPr>
          <p:cNvPicPr>
            <a:picLocks noChangeAspect="1"/>
          </p:cNvPicPr>
          <p:nvPr/>
        </p:nvPicPr>
        <p:blipFill>
          <a:blip r:embed="rId4"/>
          <a:stretch>
            <a:fillRect/>
          </a:stretch>
        </p:blipFill>
        <p:spPr>
          <a:xfrm>
            <a:off x="3183962" y="5254880"/>
            <a:ext cx="2543175" cy="733425"/>
          </a:xfrm>
          <a:prstGeom prst="rect">
            <a:avLst/>
          </a:prstGeom>
        </p:spPr>
      </p:pic>
      <p:pic>
        <p:nvPicPr>
          <p:cNvPr id="9" name="Picture 8">
            <a:extLst>
              <a:ext uri="{FF2B5EF4-FFF2-40B4-BE49-F238E27FC236}">
                <a16:creationId xmlns:a16="http://schemas.microsoft.com/office/drawing/2014/main" id="{6B1D4E57-9938-4D86-80EF-3A40E3E9D1E0}"/>
              </a:ext>
            </a:extLst>
          </p:cNvPr>
          <p:cNvPicPr>
            <a:picLocks noChangeAspect="1"/>
          </p:cNvPicPr>
          <p:nvPr/>
        </p:nvPicPr>
        <p:blipFill>
          <a:blip r:embed="rId5"/>
          <a:stretch>
            <a:fillRect/>
          </a:stretch>
        </p:blipFill>
        <p:spPr>
          <a:xfrm>
            <a:off x="5923183" y="5254880"/>
            <a:ext cx="2543176" cy="800189"/>
          </a:xfrm>
          <a:prstGeom prst="rect">
            <a:avLst/>
          </a:prstGeom>
        </p:spPr>
      </p:pic>
      <p:pic>
        <p:nvPicPr>
          <p:cNvPr id="11" name="Picture 10">
            <a:extLst>
              <a:ext uri="{FF2B5EF4-FFF2-40B4-BE49-F238E27FC236}">
                <a16:creationId xmlns:a16="http://schemas.microsoft.com/office/drawing/2014/main" id="{E274D9DD-6432-4578-A539-BB83A3A631C4}"/>
              </a:ext>
            </a:extLst>
          </p:cNvPr>
          <p:cNvPicPr>
            <a:picLocks noChangeAspect="1"/>
          </p:cNvPicPr>
          <p:nvPr/>
        </p:nvPicPr>
        <p:blipFill>
          <a:blip r:embed="rId6"/>
          <a:stretch>
            <a:fillRect/>
          </a:stretch>
        </p:blipFill>
        <p:spPr>
          <a:xfrm>
            <a:off x="8662404" y="5254880"/>
            <a:ext cx="3054635" cy="800189"/>
          </a:xfrm>
          <a:prstGeom prst="rect">
            <a:avLst/>
          </a:prstGeom>
        </p:spPr>
      </p:pic>
    </p:spTree>
    <p:extLst>
      <p:ext uri="{BB962C8B-B14F-4D97-AF65-F5344CB8AC3E}">
        <p14:creationId xmlns:p14="http://schemas.microsoft.com/office/powerpoint/2010/main" val="2490006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95394-7F67-834B-E972-F9FF20C48D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6725C1-89DB-A190-87CD-6C3FDCE09D69}"/>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0A59FDC3-8757-58F4-4B49-3353DAFC21BA}"/>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4023A47F-F649-C462-173D-2B88CACA9253}"/>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What do we need?</a:t>
            </a:r>
          </a:p>
        </p:txBody>
      </p:sp>
    </p:spTree>
    <p:extLst>
      <p:ext uri="{BB962C8B-B14F-4D97-AF65-F5344CB8AC3E}">
        <p14:creationId xmlns:p14="http://schemas.microsoft.com/office/powerpoint/2010/main" val="3356622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022" y="143324"/>
            <a:ext cx="9814560" cy="728861"/>
          </a:xfrm>
        </p:spPr>
        <p:txBody>
          <a:bodyPr>
            <a:normAutofit fontScale="90000"/>
          </a:bodyPr>
          <a:lstStyle/>
          <a:p>
            <a:r>
              <a:rPr lang="fi-FI" dirty="0" err="1"/>
              <a:t>Our</a:t>
            </a:r>
            <a:r>
              <a:rPr lang="fi-FI" dirty="0"/>
              <a:t> </a:t>
            </a:r>
            <a:r>
              <a:rPr lang="fi-FI" dirty="0" err="1"/>
              <a:t>Current</a:t>
            </a:r>
            <a:r>
              <a:rPr lang="fi-FI" dirty="0"/>
              <a:t> Open </a:t>
            </a:r>
            <a:r>
              <a:rPr lang="fi-FI" dirty="0" err="1"/>
              <a:t>Requirement</a:t>
            </a:r>
            <a:endParaRPr lang="fi-FI" dirty="0"/>
          </a:p>
        </p:txBody>
      </p:sp>
      <p:sp>
        <p:nvSpPr>
          <p:cNvPr id="3" name="Content Placeholder 4">
            <a:extLst>
              <a:ext uri="{FF2B5EF4-FFF2-40B4-BE49-F238E27FC236}">
                <a16:creationId xmlns:a16="http://schemas.microsoft.com/office/drawing/2014/main" id="{89F42D1E-5F88-9416-DEF6-334666C97553}"/>
              </a:ext>
            </a:extLst>
          </p:cNvPr>
          <p:cNvSpPr>
            <a:spLocks noGrp="1"/>
          </p:cNvSpPr>
          <p:nvPr>
            <p:ph idx="1"/>
          </p:nvPr>
        </p:nvSpPr>
        <p:spPr>
          <a:xfrm>
            <a:off x="397022" y="1028907"/>
            <a:ext cx="11569200" cy="4478276"/>
          </a:xfrm>
        </p:spPr>
        <p:txBody>
          <a:bodyPr>
            <a:normAutofit/>
          </a:bodyPr>
          <a:lstStyle/>
          <a:p>
            <a:pPr marL="0" indent="0">
              <a:buClr>
                <a:schemeClr val="tx1"/>
              </a:buClr>
              <a:buNone/>
            </a:pPr>
            <a:r>
              <a:rPr lang="en-US" sz="2400" b="1" dirty="0"/>
              <a:t>We have sufficient technical/implementation expertise</a:t>
            </a:r>
            <a:endParaRPr lang="en-US" sz="2400" b="1" dirty="0">
              <a:latin typeface="Calibri" panose="020F0502020204030204" pitchFamily="34" charset="0"/>
              <a:cs typeface="Calibri" panose="020F0502020204030204" pitchFamily="34" charset="0"/>
            </a:endParaRP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We have the mathematical, computation and subject matter knowledge</a:t>
            </a:r>
          </a:p>
          <a:p>
            <a:pPr marL="0" indent="0">
              <a:buClr>
                <a:schemeClr val="tx1"/>
              </a:buClr>
              <a:buNone/>
            </a:pPr>
            <a:r>
              <a:rPr lang="en-US" sz="2400" b="1" dirty="0">
                <a:latin typeface="Calibri" panose="020F0502020204030204" pitchFamily="34" charset="0"/>
                <a:cs typeface="Calibri" panose="020F0502020204030204" pitchFamily="34" charset="0"/>
              </a:rPr>
              <a:t>We need Managerial expertise </a:t>
            </a:r>
            <a:r>
              <a:rPr lang="en-US" sz="2400" b="1" dirty="0">
                <a:latin typeface="Calibri" panose="020F0502020204030204" pitchFamily="34" charset="0"/>
                <a:cs typeface="Calibri" panose="020F0502020204030204" pitchFamily="34" charset="0"/>
                <a:sym typeface="Wingdings" panose="05000000000000000000" pitchFamily="2" charset="2"/>
              </a:rPr>
              <a:t> Market </a:t>
            </a:r>
            <a:r>
              <a:rPr lang="en-US" sz="2400" b="1" dirty="0">
                <a:latin typeface="Calibri" panose="020F0502020204030204" pitchFamily="34" charset="0"/>
                <a:cs typeface="Calibri" panose="020F0502020204030204" pitchFamily="34" charset="0"/>
              </a:rPr>
              <a:t>strategy expert</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Build a plan and direction on what to do “commercialize”</a:t>
            </a:r>
          </a:p>
          <a:p>
            <a:pPr>
              <a:buClr>
                <a:schemeClr val="tx1"/>
              </a:buClr>
              <a:buFont typeface="Wingdings" panose="05000000000000000000" pitchFamily="2" charset="2"/>
              <a:buChar char="§"/>
            </a:pPr>
            <a:r>
              <a:rPr lang="en-US" sz="2400" dirty="0"/>
              <a:t>   Decide the marketing plan, the sales strategy, the price point, etc.</a:t>
            </a:r>
          </a:p>
          <a:p>
            <a:pPr>
              <a:buClr>
                <a:schemeClr val="tx1"/>
              </a:buClr>
              <a:buFont typeface="Wingdings" panose="05000000000000000000" pitchFamily="2" charset="2"/>
              <a:buChar char="§"/>
            </a:pPr>
            <a:r>
              <a:rPr lang="en-US" sz="2400" dirty="0"/>
              <a:t>   Build the Go-to-market strategy. Prove the commercial viability. Decide the price points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This person wil</a:t>
            </a:r>
            <a:r>
              <a:rPr lang="en-US" sz="2400" dirty="0"/>
              <a:t>l help make the commercialization plan to decide marketing plans, product placement, commercial viability assessment and go-to-market strategy.</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733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199F-F96D-D885-3BC2-BE0050CE8060}"/>
              </a:ext>
            </a:extLst>
          </p:cNvPr>
          <p:cNvSpPr>
            <a:spLocks noGrp="1"/>
          </p:cNvSpPr>
          <p:nvPr>
            <p:ph type="title"/>
          </p:nvPr>
        </p:nvSpPr>
        <p:spPr>
          <a:xfrm>
            <a:off x="390291" y="152677"/>
            <a:ext cx="11411418" cy="753104"/>
          </a:xfrm>
        </p:spPr>
        <p:txBody>
          <a:bodyPr/>
          <a:lstStyle/>
          <a:p>
            <a:r>
              <a:rPr lang="en-US" dirty="0"/>
              <a:t>What will this person do?</a:t>
            </a:r>
          </a:p>
        </p:txBody>
      </p:sp>
      <p:sp>
        <p:nvSpPr>
          <p:cNvPr id="3" name="Content Placeholder 2">
            <a:extLst>
              <a:ext uri="{FF2B5EF4-FFF2-40B4-BE49-F238E27FC236}">
                <a16:creationId xmlns:a16="http://schemas.microsoft.com/office/drawing/2014/main" id="{17E62124-13D3-78CD-7CE1-A153B23AD898}"/>
              </a:ext>
            </a:extLst>
          </p:cNvPr>
          <p:cNvSpPr>
            <a:spLocks noGrp="1"/>
          </p:cNvSpPr>
          <p:nvPr>
            <p:ph idx="1"/>
          </p:nvPr>
        </p:nvSpPr>
        <p:spPr>
          <a:xfrm>
            <a:off x="390291" y="905781"/>
            <a:ext cx="11621600" cy="5334542"/>
          </a:xfrm>
        </p:spPr>
        <p:txBody>
          <a:bodyPr/>
          <a:lstStyle/>
          <a:p>
            <a:r>
              <a:rPr lang="en-US" dirty="0"/>
              <a:t>This person will be the commercialization expert. S/he will help us finalize:</a:t>
            </a:r>
          </a:p>
          <a:p>
            <a:pPr lvl="1"/>
            <a:r>
              <a:rPr lang="en-US" dirty="0"/>
              <a:t>What are our commercialization and monetization options? For example:</a:t>
            </a:r>
          </a:p>
          <a:p>
            <a:pPr lvl="2"/>
            <a:r>
              <a:rPr lang="en-US" dirty="0"/>
              <a:t>Are we offering our product in SaaS model? What subscription, licensing and payment mechanism do we prefer? Do we “sell” our product as a one off, do we sell as a service, do we offer an Adobe-like annual model, etc.? </a:t>
            </a:r>
          </a:p>
          <a:p>
            <a:pPr lvl="2"/>
            <a:r>
              <a:rPr lang="en-US" dirty="0"/>
              <a:t>At what price point are we making good profit ourself and also competitive/attractive to our customers? How will pricing happen BEFORE we have proven our digital twin to a particular customer? What will happen if our twin fails in a scenario?</a:t>
            </a:r>
          </a:p>
          <a:p>
            <a:pPr lvl="1"/>
            <a:r>
              <a:rPr lang="en-US" dirty="0"/>
              <a:t>How will we make market entry decisions? For example:</a:t>
            </a:r>
          </a:p>
          <a:p>
            <a:pPr lvl="2"/>
            <a:r>
              <a:rPr lang="en-US" dirty="0"/>
              <a:t>Today we are an academic non-profit initiative. At what point are we matured enough to launch as a company? How do we decide shareholding patterns between founders? What tag-along/drag-along commitments do we take? How much starting money do we need and what do we reserve for founder salary, etc. When can we break-even at best and at worst? How do we plan for sweat equity?</a:t>
            </a:r>
          </a:p>
          <a:p>
            <a:pPr lvl="2"/>
            <a:r>
              <a:rPr lang="en-US" dirty="0"/>
              <a:t>Today, we have a generic product that can work in many different domains. How do we decide which customer segments to target, when and how? If we get a senior customer stakeholder or CXO for an interaction, what question(s) do we ask them and how? </a:t>
            </a:r>
          </a:p>
          <a:p>
            <a:pPr lvl="2"/>
            <a:r>
              <a:rPr lang="en-US" dirty="0"/>
              <a:t>After our company stabilizes in one country/domain and we wish to enter a new country/domain, how are these decisions best made. For example: How do we decide the allocation of marketing, sales, promotions, etc.?</a:t>
            </a:r>
          </a:p>
          <a:p>
            <a:pPr lvl="1"/>
            <a:r>
              <a:rPr lang="en-US" dirty="0"/>
              <a:t>As an academic initiative, our work should currently have academic outcomes. Can you help fulfill our academic commitments?</a:t>
            </a:r>
          </a:p>
          <a:p>
            <a:pPr lvl="2"/>
            <a:r>
              <a:rPr lang="en-US" dirty="0"/>
              <a:t>We need to compile case study compendiums, teaching frameworks for BBA/MBA students and other such outcomes useful for emerging students. </a:t>
            </a:r>
          </a:p>
          <a:p>
            <a:pPr lvl="2"/>
            <a:r>
              <a:rPr lang="en-US" dirty="0"/>
              <a:t>We need to publish technical papers, reports and such publications to showcase our work. </a:t>
            </a:r>
          </a:p>
        </p:txBody>
      </p:sp>
    </p:spTree>
    <p:extLst>
      <p:ext uri="{BB962C8B-B14F-4D97-AF65-F5344CB8AC3E}">
        <p14:creationId xmlns:p14="http://schemas.microsoft.com/office/powerpoint/2010/main" val="3454917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9864-6CD1-A87A-C6E6-BF88A4FA3EDE}"/>
              </a:ext>
            </a:extLst>
          </p:cNvPr>
          <p:cNvSpPr>
            <a:spLocks noGrp="1"/>
          </p:cNvSpPr>
          <p:nvPr>
            <p:ph type="title"/>
          </p:nvPr>
        </p:nvSpPr>
        <p:spPr/>
        <p:txBody>
          <a:bodyPr/>
          <a:lstStyle/>
          <a:p>
            <a:r>
              <a:rPr lang="en-US" dirty="0"/>
              <a:t>What will you get from this effort</a:t>
            </a:r>
          </a:p>
        </p:txBody>
      </p:sp>
      <p:sp>
        <p:nvSpPr>
          <p:cNvPr id="3" name="Content Placeholder 2">
            <a:extLst>
              <a:ext uri="{FF2B5EF4-FFF2-40B4-BE49-F238E27FC236}">
                <a16:creationId xmlns:a16="http://schemas.microsoft.com/office/drawing/2014/main" id="{7A5744F9-BA09-CA99-A9BF-16956475D9F5}"/>
              </a:ext>
            </a:extLst>
          </p:cNvPr>
          <p:cNvSpPr>
            <a:spLocks noGrp="1"/>
          </p:cNvSpPr>
          <p:nvPr>
            <p:ph idx="1"/>
          </p:nvPr>
        </p:nvSpPr>
        <p:spPr>
          <a:xfrm>
            <a:off x="362174" y="1180558"/>
            <a:ext cx="11829826" cy="5043597"/>
          </a:xfrm>
        </p:spPr>
        <p:txBody>
          <a:bodyPr>
            <a:normAutofit/>
          </a:bodyPr>
          <a:lstStyle/>
          <a:p>
            <a:r>
              <a:rPr lang="en-US" dirty="0"/>
              <a:t>This is an initiative to “test the waters” for viable research</a:t>
            </a:r>
          </a:p>
          <a:p>
            <a:pPr lvl="1"/>
            <a:r>
              <a:rPr lang="en-US" dirty="0"/>
              <a:t>An initiative to check whether our ideas are techno-commercially viable. If yes, we will consider research / commercialization</a:t>
            </a:r>
          </a:p>
          <a:p>
            <a:r>
              <a:rPr lang="en-US" dirty="0"/>
              <a:t>This initiative helps build industrial connect</a:t>
            </a:r>
          </a:p>
          <a:p>
            <a:pPr lvl="1"/>
            <a:r>
              <a:rPr lang="en-US" dirty="0"/>
              <a:t>Major Finnish industries are involved or have shown active interest. </a:t>
            </a:r>
          </a:p>
          <a:p>
            <a:r>
              <a:rPr lang="en-US" dirty="0"/>
              <a:t>This is not an IP ownership scenario</a:t>
            </a:r>
          </a:p>
          <a:p>
            <a:pPr lvl="1"/>
            <a:r>
              <a:rPr lang="en-US" dirty="0"/>
              <a:t>We are not a commercial company. We don’t know if/when we can be.</a:t>
            </a:r>
          </a:p>
          <a:p>
            <a:pPr lvl="1"/>
            <a:r>
              <a:rPr lang="en-US" dirty="0"/>
              <a:t> There are no commitments for IP rights because we cannot create an IP burden in any direction currently. </a:t>
            </a:r>
          </a:p>
          <a:p>
            <a:r>
              <a:rPr lang="en-US" dirty="0"/>
              <a:t>We have research grant funds available</a:t>
            </a:r>
          </a:p>
          <a:p>
            <a:pPr lvl="1"/>
            <a:r>
              <a:rPr lang="en-US" dirty="0"/>
              <a:t>We have research grant funds from multiple sources. We will pay the commercialization expert from that. </a:t>
            </a:r>
          </a:p>
          <a:p>
            <a:pPr lvl="1"/>
            <a:r>
              <a:rPr lang="en-US" dirty="0"/>
              <a:t>None of our industry partners currently pay us. There are no commercial payments agreed from them. </a:t>
            </a:r>
          </a:p>
          <a:p>
            <a:pPr lvl="1"/>
            <a:endParaRPr lang="en-US" dirty="0"/>
          </a:p>
          <a:p>
            <a:pPr marL="201168" lvl="1" indent="0">
              <a:buNone/>
            </a:pPr>
            <a:r>
              <a:rPr lang="en-US" b="1" dirty="0"/>
              <a:t>This person will be working without any promises of ownership stakes or IP rights. </a:t>
            </a:r>
          </a:p>
        </p:txBody>
      </p:sp>
    </p:spTree>
    <p:extLst>
      <p:ext uri="{BB962C8B-B14F-4D97-AF65-F5344CB8AC3E}">
        <p14:creationId xmlns:p14="http://schemas.microsoft.com/office/powerpoint/2010/main" val="3390412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177E-1777-BC84-9C32-5B4269E1FD6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66C8C72-4FFC-9A95-ECF5-92D79395A8C1}"/>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7C9B3B63-A060-21BF-BC9B-67B951B9C7A9}"/>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D1FB277B-DD03-FB16-20A4-F2C61A6CDD97}"/>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Other information</a:t>
            </a:r>
          </a:p>
        </p:txBody>
      </p:sp>
    </p:spTree>
    <p:extLst>
      <p:ext uri="{BB962C8B-B14F-4D97-AF65-F5344CB8AC3E}">
        <p14:creationId xmlns:p14="http://schemas.microsoft.com/office/powerpoint/2010/main" val="3719771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779C-BC10-488D-B820-48F82FF10836}"/>
              </a:ext>
            </a:extLst>
          </p:cNvPr>
          <p:cNvSpPr>
            <a:spLocks noGrp="1"/>
          </p:cNvSpPr>
          <p:nvPr>
            <p:ph type="title"/>
          </p:nvPr>
        </p:nvSpPr>
        <p:spPr>
          <a:xfrm>
            <a:off x="180320" y="-26895"/>
            <a:ext cx="10891091" cy="825436"/>
          </a:xfrm>
        </p:spPr>
        <p:txBody>
          <a:bodyPr>
            <a:normAutofit/>
          </a:bodyPr>
          <a:lstStyle/>
          <a:p>
            <a:r>
              <a:rPr lang="en-US" dirty="0"/>
              <a:t>FAQs</a:t>
            </a:r>
          </a:p>
        </p:txBody>
      </p:sp>
      <p:sp>
        <p:nvSpPr>
          <p:cNvPr id="4" name="Date Placeholder 3">
            <a:extLst>
              <a:ext uri="{FF2B5EF4-FFF2-40B4-BE49-F238E27FC236}">
                <a16:creationId xmlns:a16="http://schemas.microsoft.com/office/drawing/2014/main" id="{4A7538E9-8750-475F-8FF8-0217592DB52B}"/>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5" name="Footer Placeholder 4">
            <a:extLst>
              <a:ext uri="{FF2B5EF4-FFF2-40B4-BE49-F238E27FC236}">
                <a16:creationId xmlns:a16="http://schemas.microsoft.com/office/drawing/2014/main" id="{2DA120FE-1761-411B-94B6-A903D3B3257B}"/>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0DC185B3-1DE0-4A86-B7EF-3961F435A7E5}"/>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25</a:t>
            </a:fld>
            <a:endParaRPr lang="fi-FI"/>
          </a:p>
        </p:txBody>
      </p:sp>
      <p:sp>
        <p:nvSpPr>
          <p:cNvPr id="7" name="Content Placeholder 4">
            <a:extLst>
              <a:ext uri="{FF2B5EF4-FFF2-40B4-BE49-F238E27FC236}">
                <a16:creationId xmlns:a16="http://schemas.microsoft.com/office/drawing/2014/main" id="{9F274A4E-D2B7-43AD-B34C-AEDE8360D2FE}"/>
              </a:ext>
            </a:extLst>
          </p:cNvPr>
          <p:cNvSpPr>
            <a:spLocks noGrp="1"/>
          </p:cNvSpPr>
          <p:nvPr>
            <p:ph idx="1"/>
          </p:nvPr>
        </p:nvSpPr>
        <p:spPr>
          <a:xfrm>
            <a:off x="339063" y="862858"/>
            <a:ext cx="11944179" cy="5442696"/>
          </a:xfrm>
        </p:spPr>
        <p:txBody>
          <a:bodyPr>
            <a:normAutofit fontScale="85000" lnSpcReduction="20000"/>
          </a:bodyPr>
          <a:lstStyle/>
          <a:p>
            <a:pPr marL="0" indent="0">
              <a:buClr>
                <a:schemeClr val="tx1"/>
              </a:buClr>
              <a:buNone/>
            </a:pPr>
            <a:r>
              <a:rPr lang="en-US" sz="2400" b="1" dirty="0">
                <a:latin typeface="Calibri" panose="020F0502020204030204" pitchFamily="34" charset="0"/>
                <a:cs typeface="Calibri" panose="020F0502020204030204" pitchFamily="34" charset="0"/>
              </a:rPr>
              <a:t>Project Aims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What do we want to accomplish with the project?</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does the project aim to create a business case? </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significant effect will it cause financially in the society and in exports?</a:t>
            </a:r>
          </a:p>
          <a:p>
            <a:pPr marL="0" indent="0">
              <a:buClr>
                <a:schemeClr val="tx1"/>
              </a:buClr>
              <a:buNone/>
            </a:pPr>
            <a:r>
              <a:rPr lang="en-US" sz="2400" b="1" dirty="0">
                <a:latin typeface="Calibri" panose="020F0502020204030204" pitchFamily="34" charset="0"/>
                <a:cs typeface="Calibri" panose="020F0502020204030204" pitchFamily="34" charset="0"/>
              </a:rPr>
              <a:t>Project Teams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State the expertise of members and the dedication of the partner companies to taking this case into fruition.</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Which partners have committed to the project and what concrete plans they have to take the research into business?</a:t>
            </a:r>
          </a:p>
          <a:p>
            <a:pPr marL="0" indent="0">
              <a:buClr>
                <a:schemeClr val="tx1"/>
              </a:buClr>
              <a:buNone/>
            </a:pPr>
            <a:r>
              <a:rPr lang="en-US" sz="2400" b="1" dirty="0">
                <a:latin typeface="Calibri" panose="020F0502020204030204" pitchFamily="34" charset="0"/>
                <a:cs typeface="Calibri" panose="020F0502020204030204" pitchFamily="34" charset="0"/>
              </a:rPr>
              <a:t>Generic Questions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is the research innovative in the field of Digital Twins </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Can you clearly state all the strengths and prove that the application has everything to succeed not just with the project but going forward?</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What will be done, by whom, with Whom, and what will be accomplished in the end.</a:t>
            </a:r>
          </a:p>
        </p:txBody>
      </p:sp>
    </p:spTree>
    <p:extLst>
      <p:ext uri="{BB962C8B-B14F-4D97-AF65-F5344CB8AC3E}">
        <p14:creationId xmlns:p14="http://schemas.microsoft.com/office/powerpoint/2010/main" val="89670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3BAA-9F40-4B0E-9225-F1F88AAC94B0}"/>
              </a:ext>
            </a:extLst>
          </p:cNvPr>
          <p:cNvSpPr>
            <a:spLocks noGrp="1"/>
          </p:cNvSpPr>
          <p:nvPr>
            <p:ph type="title"/>
          </p:nvPr>
        </p:nvSpPr>
        <p:spPr>
          <a:xfrm>
            <a:off x="348173" y="84385"/>
            <a:ext cx="11071794" cy="731403"/>
          </a:xfrm>
        </p:spPr>
        <p:txBody>
          <a:bodyPr>
            <a:normAutofit fontScale="90000"/>
          </a:bodyPr>
          <a:lstStyle/>
          <a:p>
            <a:r>
              <a:rPr lang="en-US" dirty="0"/>
              <a:t>For a new customer, what do we “technically” do?</a:t>
            </a:r>
          </a:p>
        </p:txBody>
      </p:sp>
      <p:graphicFrame>
        <p:nvGraphicFramePr>
          <p:cNvPr id="7" name="Content Placeholder 6">
            <a:extLst>
              <a:ext uri="{FF2B5EF4-FFF2-40B4-BE49-F238E27FC236}">
                <a16:creationId xmlns:a16="http://schemas.microsoft.com/office/drawing/2014/main" id="{7FF508C4-0E19-488B-B371-74C6DE9C6EE9}"/>
              </a:ext>
            </a:extLst>
          </p:cNvPr>
          <p:cNvGraphicFramePr>
            <a:graphicFrameLocks noGrp="1"/>
          </p:cNvGraphicFramePr>
          <p:nvPr>
            <p:ph idx="1"/>
          </p:nvPr>
        </p:nvGraphicFramePr>
        <p:xfrm>
          <a:off x="410396" y="1039906"/>
          <a:ext cx="11371207" cy="5083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AAAD23FF-349C-48B9-80E0-3750EC2A317D}"/>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5" name="Footer Placeholder 4">
            <a:extLst>
              <a:ext uri="{FF2B5EF4-FFF2-40B4-BE49-F238E27FC236}">
                <a16:creationId xmlns:a16="http://schemas.microsoft.com/office/drawing/2014/main" id="{E65DFB75-7823-4028-B305-60A52F603490}"/>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321A05AA-CC6F-47C4-ABAF-04C6FF8B2DAA}"/>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26</a:t>
            </a:fld>
            <a:endParaRPr lang="fi-FI"/>
          </a:p>
        </p:txBody>
      </p:sp>
    </p:spTree>
    <p:extLst>
      <p:ext uri="{BB962C8B-B14F-4D97-AF65-F5344CB8AC3E}">
        <p14:creationId xmlns:p14="http://schemas.microsoft.com/office/powerpoint/2010/main" val="939055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46C0-3078-41D4-89FF-76451651FDD5}"/>
              </a:ext>
            </a:extLst>
          </p:cNvPr>
          <p:cNvSpPr>
            <a:spLocks noGrp="1"/>
          </p:cNvSpPr>
          <p:nvPr>
            <p:ph type="title"/>
          </p:nvPr>
        </p:nvSpPr>
        <p:spPr>
          <a:xfrm>
            <a:off x="3907432" y="3655147"/>
            <a:ext cx="4649549" cy="1019912"/>
          </a:xfrm>
        </p:spPr>
        <p:txBody>
          <a:bodyPr>
            <a:noAutofit/>
          </a:bodyPr>
          <a:lstStyle/>
          <a:p>
            <a:r>
              <a:rPr lang="en-US" sz="6600" dirty="0"/>
              <a:t>Thank you</a:t>
            </a:r>
          </a:p>
        </p:txBody>
      </p:sp>
      <p:sp>
        <p:nvSpPr>
          <p:cNvPr id="4" name="Date Placeholder 3">
            <a:extLst>
              <a:ext uri="{FF2B5EF4-FFF2-40B4-BE49-F238E27FC236}">
                <a16:creationId xmlns:a16="http://schemas.microsoft.com/office/drawing/2014/main" id="{26CE78F8-3308-4422-8482-B5A36748E1C8}"/>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15.6.2026</a:t>
            </a:fld>
            <a:endParaRPr lang="fi-FI"/>
          </a:p>
        </p:txBody>
      </p:sp>
      <p:sp>
        <p:nvSpPr>
          <p:cNvPr id="5" name="Footer Placeholder 4">
            <a:extLst>
              <a:ext uri="{FF2B5EF4-FFF2-40B4-BE49-F238E27FC236}">
                <a16:creationId xmlns:a16="http://schemas.microsoft.com/office/drawing/2014/main" id="{3093C2A0-17DA-4756-8C72-F83E7A29F7D7}"/>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A564602F-F750-44C6-BF73-C713E1170623}"/>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27</a:t>
            </a:fld>
            <a:endParaRPr lang="fi-FI"/>
          </a:p>
        </p:txBody>
      </p:sp>
      <p:graphicFrame>
        <p:nvGraphicFramePr>
          <p:cNvPr id="3" name="Diagram 2">
            <a:extLst>
              <a:ext uri="{FF2B5EF4-FFF2-40B4-BE49-F238E27FC236}">
                <a16:creationId xmlns:a16="http://schemas.microsoft.com/office/drawing/2014/main" id="{0CDA02B5-CE3B-4076-B1D2-7A7D8214E7AD}"/>
              </a:ext>
            </a:extLst>
          </p:cNvPr>
          <p:cNvGraphicFramePr/>
          <p:nvPr/>
        </p:nvGraphicFramePr>
        <p:xfrm>
          <a:off x="-105988" y="570864"/>
          <a:ext cx="11736763" cy="2528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6651213"/>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2144</Words>
  <Application>Microsoft Office PowerPoint</Application>
  <PresentationFormat>Widescreen</PresentationFormat>
  <Paragraphs>348</Paragraphs>
  <Slides>27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Franklin Gothic Book</vt:lpstr>
      <vt:lpstr>Wingdings</vt:lpstr>
      <vt:lpstr>RetrospectVTI</vt:lpstr>
      <vt:lpstr>PowerPoint Presentation</vt:lpstr>
      <vt:lpstr>Executive Summary</vt:lpstr>
      <vt:lpstr>PowerPoint Presentation</vt:lpstr>
      <vt:lpstr>What do we mean by “Digital Twins”?</vt:lpstr>
      <vt:lpstr>How did we come up with this?</vt:lpstr>
      <vt:lpstr>Why don’t organizations make more digital twins?</vt:lpstr>
      <vt:lpstr>So, where is the opportunity?</vt:lpstr>
      <vt:lpstr>Is this really possible?</vt:lpstr>
      <vt:lpstr>PowerPoint Presentation</vt:lpstr>
      <vt:lpstr>Problem Definition</vt:lpstr>
      <vt:lpstr>Our Technical Solution</vt:lpstr>
      <vt:lpstr>Commercial Viability</vt:lpstr>
      <vt:lpstr>Overall Market Opportunities</vt:lpstr>
      <vt:lpstr>Competitors</vt:lpstr>
      <vt:lpstr>Planned Milestones</vt:lpstr>
      <vt:lpstr>Commercialization Plans</vt:lpstr>
      <vt:lpstr>PowerPoint Presentation</vt:lpstr>
      <vt:lpstr>Team and skillsets</vt:lpstr>
      <vt:lpstr>Committed Steering group</vt:lpstr>
      <vt:lpstr>PowerPoint Presentation</vt:lpstr>
      <vt:lpstr>Our Current Open Requirement</vt:lpstr>
      <vt:lpstr>What will this person do?</vt:lpstr>
      <vt:lpstr>What will you get from this effort</vt:lpstr>
      <vt:lpstr>PowerPoint Presentation</vt:lpstr>
      <vt:lpstr>FAQs</vt:lpstr>
      <vt:lpstr>For a new customer, what do we “technically” do?</vt:lpstr>
      <vt:lpstr>Thank you</vt:lpstr>
    </vt:vector>
  </TitlesOfParts>
  <Company>Aalto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Niraj Digital Twins Proposal</dc:title>
  <dc:creator>Dayama Niraj</dc:creator>
  <cp:lastModifiedBy>Niraj Dayama</cp:lastModifiedBy>
  <cp:revision>60</cp:revision>
  <dcterms:created xsi:type="dcterms:W3CDTF">2022-12-14T09:48:17Z</dcterms:created>
  <dcterms:modified xsi:type="dcterms:W3CDTF">2026-06-15T03:56:15Z</dcterms:modified>
</cp:coreProperties>
</file>